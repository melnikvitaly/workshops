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8229600" cx="14630400"/>
  <p:notesSz cx="8229600" cy="14630400"/>
  <p:embeddedFontLst>
    <p:embeddedFont>
      <p:font typeface="Nunito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Sans-bold.fntdata"/><Relationship Id="rId25" Type="http://schemas.openxmlformats.org/officeDocument/2006/relationships/font" Target="fonts/NunitoSans-regular.fntdata"/><Relationship Id="rId28" Type="http://schemas.openxmlformats.org/officeDocument/2006/relationships/font" Target="fonts/NunitoSans-boldItalic.fntdata"/><Relationship Id="rId27" Type="http://schemas.openxmlformats.org/officeDocument/2006/relationships/font" Target="fonts/Nuni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0" name="Google Shape;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4"/>
          <p:cNvSpPr/>
          <p:nvPr/>
        </p:nvSpPr>
        <p:spPr>
          <a:xfrm>
            <a:off x="6280190" y="2794516"/>
            <a:ext cx="2074783" cy="388382"/>
          </a:xfrm>
          <a:prstGeom prst="roundRect">
            <a:avLst>
              <a:gd fmla="val 17171" name="adj"/>
            </a:avLst>
          </a:prstGeom>
          <a:noFill/>
          <a:ln cap="flat" cmpd="sng" w="9525">
            <a:solidFill>
              <a:srgbClr val="C5D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4"/>
          <p:cNvSpPr/>
          <p:nvPr/>
        </p:nvSpPr>
        <p:spPr>
          <a:xfrm>
            <a:off x="6406875" y="2861675"/>
            <a:ext cx="207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5D6E9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C5D6E9"/>
                </a:solidFill>
                <a:latin typeface="Nunito Sans"/>
                <a:ea typeface="Nunito Sans"/>
                <a:cs typeface="Nunito Sans"/>
                <a:sym typeface="Nunito Sans"/>
              </a:rPr>
              <a:t>ШАБЛОН ПРЕЗЕНТАЦІЇ</a:t>
            </a:r>
            <a:endParaRPr b="0" i="0" sz="1250" u="none" cap="none" strike="noStrike"/>
          </a:p>
        </p:txBody>
      </p:sp>
      <p:sp>
        <p:nvSpPr>
          <p:cNvPr id="82" name="Google Shape;82;p24"/>
          <p:cNvSpPr/>
          <p:nvPr/>
        </p:nvSpPr>
        <p:spPr>
          <a:xfrm>
            <a:off x="6280190" y="3262193"/>
            <a:ext cx="7556421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Захист проєкту з Embedded Development</a:t>
            </a:r>
            <a:endParaRPr b="0" i="0" sz="3900" u="none" cap="none" strike="noStrike"/>
          </a:p>
        </p:txBody>
      </p:sp>
      <p:sp>
        <p:nvSpPr>
          <p:cNvPr id="83" name="Google Shape;83;p24"/>
          <p:cNvSpPr/>
          <p:nvPr/>
        </p:nvSpPr>
        <p:spPr>
          <a:xfrm>
            <a:off x="6280190" y="4800005"/>
            <a:ext cx="75564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Цей шаблон допоможе тобі структурувати захист проєкту. Скопіюй, заповни кожен слайд — і ти готовий.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/>
          <p:nvPr/>
        </p:nvSpPr>
        <p:spPr>
          <a:xfrm>
            <a:off x="793790" y="878324"/>
            <a:ext cx="13042821" cy="775692"/>
          </a:xfrm>
          <a:prstGeom prst="roundRect">
            <a:avLst>
              <a:gd fmla="val 10209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266" y="1154549"/>
            <a:ext cx="235625" cy="1884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5"/>
          <p:cNvSpPr/>
          <p:nvPr/>
        </p:nvSpPr>
        <p:spPr>
          <a:xfrm>
            <a:off x="1406366" y="1104424"/>
            <a:ext cx="12241768" cy="294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Nunito Sans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⚠️ Цей слайд — лише для тебе. Видали його перед захистом після того, як заповниш усі інші слайди.</a:t>
            </a:r>
            <a:endParaRPr b="0" i="0" sz="1450" u="none" cap="none" strike="noStrike"/>
          </a:p>
        </p:txBody>
      </p:sp>
      <p:sp>
        <p:nvSpPr>
          <p:cNvPr id="92" name="Google Shape;92;p25"/>
          <p:cNvSpPr/>
          <p:nvPr/>
        </p:nvSpPr>
        <p:spPr>
          <a:xfrm>
            <a:off x="793790" y="1922621"/>
            <a:ext cx="7602736" cy="589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700"/>
              <a:buFont typeface="Nunito Sans"/>
              <a:buNone/>
            </a:pPr>
            <a:r>
              <a:rPr b="1" i="0" lang="en-US" sz="37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Як користуватись цим шаблоном</a:t>
            </a:r>
            <a:endParaRPr b="0" i="0" sz="3700" u="none" cap="none" strike="noStrike"/>
          </a:p>
        </p:txBody>
      </p:sp>
      <p:sp>
        <p:nvSpPr>
          <p:cNvPr id="93" name="Google Shape;93;p25"/>
          <p:cNvSpPr/>
          <p:nvPr/>
        </p:nvSpPr>
        <p:spPr>
          <a:xfrm>
            <a:off x="793790" y="2780347"/>
            <a:ext cx="6431875" cy="1707356"/>
          </a:xfrm>
          <a:prstGeom prst="roundRect">
            <a:avLst>
              <a:gd fmla="val 6427" name="adj"/>
            </a:avLst>
          </a:prstGeom>
          <a:solidFill>
            <a:srgbClr val="F7F6F5"/>
          </a:solidFill>
          <a:ln cap="flat" cmpd="sng" w="22850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5"/>
          <p:cNvSpPr/>
          <p:nvPr/>
        </p:nvSpPr>
        <p:spPr>
          <a:xfrm>
            <a:off x="770930" y="2780347"/>
            <a:ext cx="91440" cy="1707356"/>
          </a:xfrm>
          <a:prstGeom prst="roundRect">
            <a:avLst>
              <a:gd fmla="val 86605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5"/>
          <p:cNvSpPr/>
          <p:nvPr/>
        </p:nvSpPr>
        <p:spPr>
          <a:xfrm>
            <a:off x="1073706" y="2991683"/>
            <a:ext cx="3849172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Nunito Sans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📋</a:t>
            </a:r>
            <a:r>
              <a:rPr b="1" i="0" lang="en-US" sz="18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Крок 1 — Прочитай коментарі</a:t>
            </a:r>
            <a:endParaRPr b="0" i="0" sz="1850" u="none" cap="none" strike="noStrike"/>
          </a:p>
        </p:txBody>
      </p:sp>
      <p:sp>
        <p:nvSpPr>
          <p:cNvPr id="96" name="Google Shape;96;p25"/>
          <p:cNvSpPr/>
          <p:nvPr/>
        </p:nvSpPr>
        <p:spPr>
          <a:xfrm>
            <a:off x="1073706" y="3393758"/>
            <a:ext cx="5940623" cy="882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Nunito Sans"/>
              <a:buNone/>
            </a:pPr>
            <a:r>
              <a:rPr b="0" i="0" lang="en-US" sz="14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На кожному слайді є підказки у сірому тексті або блоках-примітках. Вони пояснюють, що саме потрібно написати й чого варто уникати.</a:t>
            </a:r>
            <a:endParaRPr b="0" i="0" sz="1450" u="none" cap="none" strike="noStrike"/>
          </a:p>
        </p:txBody>
      </p:sp>
      <p:sp>
        <p:nvSpPr>
          <p:cNvPr id="97" name="Google Shape;97;p25"/>
          <p:cNvSpPr/>
          <p:nvPr/>
        </p:nvSpPr>
        <p:spPr>
          <a:xfrm>
            <a:off x="7404735" y="2780347"/>
            <a:ext cx="6431875" cy="1707356"/>
          </a:xfrm>
          <a:prstGeom prst="roundRect">
            <a:avLst>
              <a:gd fmla="val 6427" name="adj"/>
            </a:avLst>
          </a:prstGeom>
          <a:solidFill>
            <a:srgbClr val="F7F6F5"/>
          </a:solidFill>
          <a:ln cap="flat" cmpd="sng" w="22850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5"/>
          <p:cNvSpPr/>
          <p:nvPr/>
        </p:nvSpPr>
        <p:spPr>
          <a:xfrm>
            <a:off x="7381875" y="2780347"/>
            <a:ext cx="91440" cy="1707356"/>
          </a:xfrm>
          <a:prstGeom prst="roundRect">
            <a:avLst>
              <a:gd fmla="val 86605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5"/>
          <p:cNvSpPr/>
          <p:nvPr/>
        </p:nvSpPr>
        <p:spPr>
          <a:xfrm>
            <a:off x="7684651" y="2991683"/>
            <a:ext cx="3950494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Nunito Sans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✏️</a:t>
            </a:r>
            <a:r>
              <a:rPr b="1" i="0" lang="en-US" sz="18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Крок 2 — Заповни placeholders</a:t>
            </a:r>
            <a:endParaRPr b="0" i="0" sz="1850" u="none" cap="none" strike="noStrike"/>
          </a:p>
        </p:txBody>
      </p:sp>
      <p:sp>
        <p:nvSpPr>
          <p:cNvPr id="100" name="Google Shape;100;p25"/>
          <p:cNvSpPr/>
          <p:nvPr/>
        </p:nvSpPr>
        <p:spPr>
          <a:xfrm>
            <a:off x="7684651" y="3393758"/>
            <a:ext cx="5940623" cy="882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Nunito Sans"/>
              <a:buNone/>
            </a:pPr>
            <a:r>
              <a:rPr b="0" i="0" lang="en-US" sz="14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Замінюй весь текст у квадратних дужках [ось так] своїм контентом. Не залишай жодного порожнього placeholder у фінальній версії.</a:t>
            </a:r>
            <a:endParaRPr b="0" i="0" sz="1450" u="none" cap="none" strike="noStrike"/>
          </a:p>
        </p:txBody>
      </p:sp>
      <p:sp>
        <p:nvSpPr>
          <p:cNvPr id="101" name="Google Shape;101;p25"/>
          <p:cNvSpPr/>
          <p:nvPr/>
        </p:nvSpPr>
        <p:spPr>
          <a:xfrm>
            <a:off x="793790" y="4666774"/>
            <a:ext cx="6431875" cy="1707356"/>
          </a:xfrm>
          <a:prstGeom prst="roundRect">
            <a:avLst>
              <a:gd fmla="val 6427" name="adj"/>
            </a:avLst>
          </a:prstGeom>
          <a:solidFill>
            <a:srgbClr val="F7F6F5"/>
          </a:solidFill>
          <a:ln cap="flat" cmpd="sng" w="22850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5"/>
          <p:cNvSpPr/>
          <p:nvPr/>
        </p:nvSpPr>
        <p:spPr>
          <a:xfrm>
            <a:off x="770930" y="4666774"/>
            <a:ext cx="91440" cy="1707356"/>
          </a:xfrm>
          <a:prstGeom prst="roundRect">
            <a:avLst>
              <a:gd fmla="val 86605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5"/>
          <p:cNvSpPr/>
          <p:nvPr/>
        </p:nvSpPr>
        <p:spPr>
          <a:xfrm>
            <a:off x="1073706" y="4878110"/>
            <a:ext cx="4539496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Nunito Sans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🖼️</a:t>
            </a:r>
            <a:r>
              <a:rPr b="1" i="0" lang="en-US" sz="18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Крок 3 — Додай схеми й результати</a:t>
            </a:r>
            <a:endParaRPr b="0" i="0" sz="1850" u="none" cap="none" strike="noStrike"/>
          </a:p>
        </p:txBody>
      </p:sp>
      <p:sp>
        <p:nvSpPr>
          <p:cNvPr id="104" name="Google Shape;104;p25"/>
          <p:cNvSpPr/>
          <p:nvPr/>
        </p:nvSpPr>
        <p:spPr>
          <a:xfrm>
            <a:off x="1073706" y="5280184"/>
            <a:ext cx="5940623" cy="882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Nunito Sans"/>
              <a:buNone/>
            </a:pPr>
            <a:r>
              <a:rPr b="0" i="0" lang="en-US" sz="14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Там, де вказано "вставити схему" або "вставити графік" — додай реальні зображення зі свого проєкту. Якість зображень впливає на враження.</a:t>
            </a:r>
            <a:endParaRPr b="0" i="0" sz="1450" u="none" cap="none" strike="noStrike"/>
          </a:p>
        </p:txBody>
      </p:sp>
      <p:sp>
        <p:nvSpPr>
          <p:cNvPr id="105" name="Google Shape;105;p25"/>
          <p:cNvSpPr/>
          <p:nvPr/>
        </p:nvSpPr>
        <p:spPr>
          <a:xfrm>
            <a:off x="7404735" y="4666774"/>
            <a:ext cx="6431875" cy="1707356"/>
          </a:xfrm>
          <a:prstGeom prst="roundRect">
            <a:avLst>
              <a:gd fmla="val 6427" name="adj"/>
            </a:avLst>
          </a:prstGeom>
          <a:solidFill>
            <a:srgbClr val="F7F6F5"/>
          </a:solidFill>
          <a:ln cap="flat" cmpd="sng" w="22850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5"/>
          <p:cNvSpPr/>
          <p:nvPr/>
        </p:nvSpPr>
        <p:spPr>
          <a:xfrm>
            <a:off x="7381875" y="4666774"/>
            <a:ext cx="91440" cy="1707356"/>
          </a:xfrm>
          <a:prstGeom prst="roundRect">
            <a:avLst>
              <a:gd fmla="val 86605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5"/>
          <p:cNvSpPr/>
          <p:nvPr/>
        </p:nvSpPr>
        <p:spPr>
          <a:xfrm>
            <a:off x="7684651" y="4878110"/>
            <a:ext cx="3587353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Nunito Sans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🗑️</a:t>
            </a:r>
            <a:r>
              <a:rPr b="1" i="0" lang="en-US" sz="18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Крок 4 — Видали цей слайд</a:t>
            </a:r>
            <a:endParaRPr b="0" i="0" sz="1850" u="none" cap="none" strike="noStrike"/>
          </a:p>
        </p:txBody>
      </p:sp>
      <p:sp>
        <p:nvSpPr>
          <p:cNvPr id="108" name="Google Shape;108;p25"/>
          <p:cNvSpPr/>
          <p:nvPr/>
        </p:nvSpPr>
        <p:spPr>
          <a:xfrm>
            <a:off x="7684651" y="5280184"/>
            <a:ext cx="5940623" cy="5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450"/>
              <a:buFont typeface="Nunito Sans"/>
              <a:buNone/>
            </a:pPr>
            <a:r>
              <a:rPr b="0" i="0" lang="en-US" sz="14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Перед захистом обов'язково видали цей інструктивний слайд. Він не повинен бачитись аудиторії під час презентації.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/>
          <p:nvPr/>
        </p:nvSpPr>
        <p:spPr>
          <a:xfrm>
            <a:off x="793790" y="1669018"/>
            <a:ext cx="4153376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Структура інженерної презентації</a:t>
            </a:r>
            <a:endParaRPr b="0" i="0" sz="1950" u="none" cap="none" strike="noStrike"/>
          </a:p>
        </p:txBody>
      </p:sp>
      <p:sp>
        <p:nvSpPr>
          <p:cNvPr id="115" name="Google Shape;115;p26"/>
          <p:cNvSpPr/>
          <p:nvPr/>
        </p:nvSpPr>
        <p:spPr>
          <a:xfrm>
            <a:off x="793790" y="2058472"/>
            <a:ext cx="6606064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Чому НЕ починати з теорії?</a:t>
            </a:r>
            <a:endParaRPr b="0" i="0" sz="3900" u="none" cap="none" strike="noStrike"/>
          </a:p>
        </p:txBody>
      </p:sp>
      <p:sp>
        <p:nvSpPr>
          <p:cNvPr id="116" name="Google Shape;116;p26"/>
          <p:cNvSpPr/>
          <p:nvPr/>
        </p:nvSpPr>
        <p:spPr>
          <a:xfrm>
            <a:off x="650915" y="2976205"/>
            <a:ext cx="6565106" cy="3584258"/>
          </a:xfrm>
          <a:prstGeom prst="roundRect">
            <a:avLst>
              <a:gd fmla="val 3987" name="adj"/>
            </a:avLst>
          </a:prstGeom>
          <a:solidFill>
            <a:srgbClr val="F7B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6"/>
          <p:cNvSpPr/>
          <p:nvPr/>
        </p:nvSpPr>
        <p:spPr>
          <a:xfrm>
            <a:off x="849273" y="3174563"/>
            <a:ext cx="3548658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❌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Типова помилка студентів</a:t>
            </a:r>
            <a:endParaRPr b="0" i="0" sz="1950" u="none" cap="none" strike="noStrike"/>
          </a:p>
        </p:txBody>
      </p:sp>
      <p:sp>
        <p:nvSpPr>
          <p:cNvPr id="118" name="Google Shape;118;p26"/>
          <p:cNvSpPr/>
          <p:nvPr/>
        </p:nvSpPr>
        <p:spPr>
          <a:xfrm>
            <a:off x="849273" y="3683079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Починати з передісторії:</a:t>
            </a:r>
            <a:endParaRPr b="0" i="0" sz="1550" u="none" cap="none" strike="noStrike"/>
          </a:p>
        </p:txBody>
      </p:sp>
      <p:sp>
        <p:nvSpPr>
          <p:cNvPr id="119" name="Google Shape;119;p26"/>
          <p:cNvSpPr/>
          <p:nvPr/>
        </p:nvSpPr>
        <p:spPr>
          <a:xfrm>
            <a:off x="849273" y="4179213"/>
            <a:ext cx="6168390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alibri"/>
              <a:buAutoNum type="arabicPeriod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Спочатку розповім теорію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alibri"/>
              <a:buAutoNum type="arabicPeriod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Потім що я робив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alibri"/>
              <a:buAutoNum type="arabicPeriod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І наприкінці — результат</a:t>
            </a:r>
            <a:endParaRPr b="0" i="0" sz="1550" u="none" cap="none" strike="noStrike"/>
          </a:p>
        </p:txBody>
      </p:sp>
      <p:sp>
        <p:nvSpPr>
          <p:cNvPr id="120" name="Google Shape;120;p26"/>
          <p:cNvSpPr/>
          <p:nvPr/>
        </p:nvSpPr>
        <p:spPr>
          <a:xfrm>
            <a:off x="849273" y="5449252"/>
            <a:ext cx="6168390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Аудиторія засинає на першому пункті. Теорія без контексту — нецікава.</a:t>
            </a:r>
            <a:endParaRPr b="0" i="0" sz="1550" u="none" cap="none" strike="noStrike"/>
          </a:p>
        </p:txBody>
      </p:sp>
      <p:sp>
        <p:nvSpPr>
          <p:cNvPr id="121" name="Google Shape;121;p26"/>
          <p:cNvSpPr/>
          <p:nvPr/>
        </p:nvSpPr>
        <p:spPr>
          <a:xfrm>
            <a:off x="7564874" y="3174563"/>
            <a:ext cx="297775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✅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Ефективна структура</a:t>
            </a:r>
            <a:endParaRPr b="0" i="0" sz="1950" u="none" cap="none" strike="noStrike"/>
          </a:p>
        </p:txBody>
      </p:sp>
      <p:sp>
        <p:nvSpPr>
          <p:cNvPr id="122" name="Google Shape;122;p26"/>
          <p:cNvSpPr/>
          <p:nvPr/>
        </p:nvSpPr>
        <p:spPr>
          <a:xfrm>
            <a:off x="7564874" y="3683079"/>
            <a:ext cx="6279356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Починати з часткового опису проблеми — щоб аудиторія відчула контекст — а потім розкривати рішення поетапно, вплітаючи теорію лише там, де вона потрібна для розуміння наступного кроку.</a:t>
            </a:r>
            <a:endParaRPr b="0" i="0" sz="1550" u="none" cap="none" strike="noStrike"/>
          </a:p>
        </p:txBody>
      </p:sp>
      <p:sp>
        <p:nvSpPr>
          <p:cNvPr id="123" name="Google Shape;123;p26"/>
          <p:cNvSpPr/>
          <p:nvPr/>
        </p:nvSpPr>
        <p:spPr>
          <a:xfrm>
            <a:off x="7564874" y="5176480"/>
            <a:ext cx="6279356" cy="1160740"/>
          </a:xfrm>
          <a:prstGeom prst="roundRect">
            <a:avLst>
              <a:gd fmla="val 718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232" y="5471755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/>
          <p:nvPr/>
        </p:nvSpPr>
        <p:spPr>
          <a:xfrm>
            <a:off x="8209598" y="5424368"/>
            <a:ext cx="543627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Аудиторія хоче дізнатись відповідь — дай їй спочатку питання.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/>
          <p:nvPr/>
        </p:nvSpPr>
        <p:spPr>
          <a:xfrm>
            <a:off x="793790" y="123063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Огляд структури</a:t>
            </a:r>
            <a:endParaRPr b="0" i="0" sz="1950" u="none" cap="none" strike="noStrike"/>
          </a:p>
        </p:txBody>
      </p:sp>
      <p:sp>
        <p:nvSpPr>
          <p:cNvPr id="132" name="Google Shape;132;p27"/>
          <p:cNvSpPr/>
          <p:nvPr/>
        </p:nvSpPr>
        <p:spPr>
          <a:xfrm>
            <a:off x="793790" y="1620083"/>
            <a:ext cx="6289000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Слайди вашої презентації</a:t>
            </a:r>
            <a:endParaRPr b="0" i="0" sz="3900" u="none" cap="none" strike="noStrike"/>
          </a:p>
        </p:txBody>
      </p:sp>
      <p:sp>
        <p:nvSpPr>
          <p:cNvPr id="133" name="Google Shape;133;p27"/>
          <p:cNvSpPr/>
          <p:nvPr/>
        </p:nvSpPr>
        <p:spPr>
          <a:xfrm>
            <a:off x="793790" y="2537817"/>
            <a:ext cx="396835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01</a:t>
            </a:r>
            <a:endParaRPr b="0" i="0" sz="1550" u="none" cap="none" strike="noStrike"/>
          </a:p>
        </p:txBody>
      </p:sp>
      <p:sp>
        <p:nvSpPr>
          <p:cNvPr id="134" name="Google Shape;134;p27"/>
          <p:cNvSpPr/>
          <p:nvPr/>
        </p:nvSpPr>
        <p:spPr>
          <a:xfrm>
            <a:off x="793790" y="2852142"/>
            <a:ext cx="6422231" cy="22860"/>
          </a:xfrm>
          <a:prstGeom prst="rect">
            <a:avLst/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7"/>
          <p:cNvSpPr/>
          <p:nvPr/>
        </p:nvSpPr>
        <p:spPr>
          <a:xfrm>
            <a:off x="793790" y="299704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Опис проєкту</a:t>
            </a:r>
            <a:endParaRPr b="0" i="0" sz="1950" u="none" cap="none" strike="noStrike"/>
          </a:p>
        </p:txBody>
      </p:sp>
      <p:sp>
        <p:nvSpPr>
          <p:cNvPr id="136" name="Google Shape;136;p27"/>
          <p:cNvSpPr/>
          <p:nvPr/>
        </p:nvSpPr>
        <p:spPr>
          <a:xfrm>
            <a:off x="793790" y="3426262"/>
            <a:ext cx="642223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Одне-два речення: частина проблеми без розв'язку</a:t>
            </a:r>
            <a:endParaRPr b="0" i="0" sz="1550" u="none" cap="none" strike="noStrike"/>
          </a:p>
        </p:txBody>
      </p:sp>
      <p:sp>
        <p:nvSpPr>
          <p:cNvPr id="137" name="Google Shape;137;p27"/>
          <p:cNvSpPr/>
          <p:nvPr/>
        </p:nvSpPr>
        <p:spPr>
          <a:xfrm>
            <a:off x="7414379" y="2537817"/>
            <a:ext cx="396835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02</a:t>
            </a:r>
            <a:endParaRPr b="0" i="0" sz="1550" u="none" cap="none" strike="noStrike"/>
          </a:p>
        </p:txBody>
      </p:sp>
      <p:sp>
        <p:nvSpPr>
          <p:cNvPr id="138" name="Google Shape;138;p27"/>
          <p:cNvSpPr/>
          <p:nvPr/>
        </p:nvSpPr>
        <p:spPr>
          <a:xfrm>
            <a:off x="7414379" y="2852142"/>
            <a:ext cx="6422231" cy="22860"/>
          </a:xfrm>
          <a:prstGeom prst="rect">
            <a:avLst/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/>
          <p:nvPr/>
        </p:nvSpPr>
        <p:spPr>
          <a:xfrm>
            <a:off x="7414379" y="299704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Проблема</a:t>
            </a:r>
            <a:endParaRPr b="0" i="0" sz="1950" u="none" cap="none" strike="noStrike"/>
          </a:p>
        </p:txBody>
      </p:sp>
      <p:sp>
        <p:nvSpPr>
          <p:cNvPr id="140" name="Google Shape;140;p27"/>
          <p:cNvSpPr/>
          <p:nvPr/>
        </p:nvSpPr>
        <p:spPr>
          <a:xfrm>
            <a:off x="7414379" y="3426262"/>
            <a:ext cx="642223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Повний контекст і масштаб задачі</a:t>
            </a:r>
            <a:endParaRPr b="0" i="0" sz="1550" u="none" cap="none" strike="noStrike"/>
          </a:p>
        </p:txBody>
      </p:sp>
      <p:sp>
        <p:nvSpPr>
          <p:cNvPr id="141" name="Google Shape;141;p27"/>
          <p:cNvSpPr/>
          <p:nvPr/>
        </p:nvSpPr>
        <p:spPr>
          <a:xfrm>
            <a:off x="793790" y="4090988"/>
            <a:ext cx="396835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03</a:t>
            </a:r>
            <a:endParaRPr b="0" i="0" sz="1550" u="none" cap="none" strike="noStrike"/>
          </a:p>
        </p:txBody>
      </p:sp>
      <p:sp>
        <p:nvSpPr>
          <p:cNvPr id="142" name="Google Shape;142;p27"/>
          <p:cNvSpPr/>
          <p:nvPr/>
        </p:nvSpPr>
        <p:spPr>
          <a:xfrm>
            <a:off x="793790" y="4405313"/>
            <a:ext cx="6422231" cy="22860"/>
          </a:xfrm>
          <a:prstGeom prst="rect">
            <a:avLst/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7"/>
          <p:cNvSpPr/>
          <p:nvPr/>
        </p:nvSpPr>
        <p:spPr>
          <a:xfrm>
            <a:off x="793790" y="4550212"/>
            <a:ext cx="2701290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Рішення / Архітектура</a:t>
            </a:r>
            <a:endParaRPr b="0" i="0" sz="1950" u="none" cap="none" strike="noStrike"/>
          </a:p>
        </p:txBody>
      </p:sp>
      <p:sp>
        <p:nvSpPr>
          <p:cNvPr id="144" name="Google Shape;144;p27"/>
          <p:cNvSpPr/>
          <p:nvPr/>
        </p:nvSpPr>
        <p:spPr>
          <a:xfrm>
            <a:off x="793790" y="4979432"/>
            <a:ext cx="642223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Схеми, блок-діаграми, ключові рішення</a:t>
            </a:r>
            <a:endParaRPr b="0" i="0" sz="1550" u="none" cap="none" strike="noStrike"/>
          </a:p>
        </p:txBody>
      </p:sp>
      <p:sp>
        <p:nvSpPr>
          <p:cNvPr id="145" name="Google Shape;145;p27"/>
          <p:cNvSpPr/>
          <p:nvPr/>
        </p:nvSpPr>
        <p:spPr>
          <a:xfrm>
            <a:off x="7414379" y="4090988"/>
            <a:ext cx="396835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04</a:t>
            </a:r>
            <a:endParaRPr b="0" i="0" sz="1550" u="none" cap="none" strike="noStrike"/>
          </a:p>
        </p:txBody>
      </p:sp>
      <p:sp>
        <p:nvSpPr>
          <p:cNvPr id="146" name="Google Shape;146;p27"/>
          <p:cNvSpPr/>
          <p:nvPr/>
        </p:nvSpPr>
        <p:spPr>
          <a:xfrm>
            <a:off x="7414379" y="4405313"/>
            <a:ext cx="6422231" cy="22860"/>
          </a:xfrm>
          <a:prstGeom prst="rect">
            <a:avLst/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>
            <a:off x="7414379" y="455021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Реалізація</a:t>
            </a:r>
            <a:endParaRPr b="0" i="0" sz="1950" u="none" cap="none" strike="noStrike"/>
          </a:p>
        </p:txBody>
      </p:sp>
      <p:sp>
        <p:nvSpPr>
          <p:cNvPr id="148" name="Google Shape;148;p27"/>
          <p:cNvSpPr/>
          <p:nvPr/>
        </p:nvSpPr>
        <p:spPr>
          <a:xfrm>
            <a:off x="7414379" y="4979432"/>
            <a:ext cx="642223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Принципові технічні рішення і код</a:t>
            </a:r>
            <a:endParaRPr b="0" i="0" sz="1550" u="none" cap="none" strike="noStrike"/>
          </a:p>
        </p:txBody>
      </p:sp>
      <p:sp>
        <p:nvSpPr>
          <p:cNvPr id="149" name="Google Shape;149;p27"/>
          <p:cNvSpPr/>
          <p:nvPr/>
        </p:nvSpPr>
        <p:spPr>
          <a:xfrm>
            <a:off x="793790" y="5644158"/>
            <a:ext cx="396835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05</a:t>
            </a:r>
            <a:endParaRPr b="0" i="0" sz="1550" u="none" cap="none" strike="noStrike"/>
          </a:p>
        </p:txBody>
      </p:sp>
      <p:sp>
        <p:nvSpPr>
          <p:cNvPr id="150" name="Google Shape;150;p27"/>
          <p:cNvSpPr/>
          <p:nvPr/>
        </p:nvSpPr>
        <p:spPr>
          <a:xfrm>
            <a:off x="793790" y="5958483"/>
            <a:ext cx="6422231" cy="22860"/>
          </a:xfrm>
          <a:prstGeom prst="rect">
            <a:avLst/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/>
          <p:nvPr/>
        </p:nvSpPr>
        <p:spPr>
          <a:xfrm>
            <a:off x="793790" y="6103382"/>
            <a:ext cx="3257074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Демонстрація / Результати</a:t>
            </a:r>
            <a:endParaRPr b="0" i="0" sz="1950" u="none" cap="none" strike="noStrike"/>
          </a:p>
        </p:txBody>
      </p:sp>
      <p:sp>
        <p:nvSpPr>
          <p:cNvPr id="152" name="Google Shape;152;p27"/>
          <p:cNvSpPr/>
          <p:nvPr/>
        </p:nvSpPr>
        <p:spPr>
          <a:xfrm>
            <a:off x="793790" y="6532602"/>
            <a:ext cx="642223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Відео, графіки, конкретні цифри</a:t>
            </a:r>
            <a:endParaRPr b="0" i="0" sz="1550" u="none" cap="none" strike="noStrike"/>
          </a:p>
        </p:txBody>
      </p:sp>
      <p:sp>
        <p:nvSpPr>
          <p:cNvPr id="153" name="Google Shape;153;p27"/>
          <p:cNvSpPr/>
          <p:nvPr/>
        </p:nvSpPr>
        <p:spPr>
          <a:xfrm>
            <a:off x="7414379" y="5644158"/>
            <a:ext cx="396835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06</a:t>
            </a:r>
            <a:endParaRPr b="0" i="0" sz="1550" u="none" cap="none" strike="noStrike"/>
          </a:p>
        </p:txBody>
      </p:sp>
      <p:sp>
        <p:nvSpPr>
          <p:cNvPr id="154" name="Google Shape;154;p27"/>
          <p:cNvSpPr/>
          <p:nvPr/>
        </p:nvSpPr>
        <p:spPr>
          <a:xfrm>
            <a:off x="7414379" y="5958483"/>
            <a:ext cx="6422231" cy="22860"/>
          </a:xfrm>
          <a:prstGeom prst="rect">
            <a:avLst/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7414379" y="610338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Що далі</a:t>
            </a:r>
            <a:endParaRPr b="0" i="0" sz="1950" u="none" cap="none" strike="noStrike"/>
          </a:p>
        </p:txBody>
      </p:sp>
      <p:sp>
        <p:nvSpPr>
          <p:cNvPr id="156" name="Google Shape;156;p27"/>
          <p:cNvSpPr/>
          <p:nvPr/>
        </p:nvSpPr>
        <p:spPr>
          <a:xfrm>
            <a:off x="7414379" y="6532602"/>
            <a:ext cx="642223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Можливі покращення та відкриті питання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793790" y="857845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Титульний слайд</a:t>
            </a:r>
            <a:endParaRPr b="0" i="0" sz="3900" u="none" cap="none" strike="noStrike"/>
          </a:p>
        </p:txBody>
      </p:sp>
      <p:sp>
        <p:nvSpPr>
          <p:cNvPr id="163" name="Google Shape;163;p28"/>
          <p:cNvSpPr/>
          <p:nvPr/>
        </p:nvSpPr>
        <p:spPr>
          <a:xfrm>
            <a:off x="650915" y="1775579"/>
            <a:ext cx="8053030" cy="5596057"/>
          </a:xfrm>
          <a:prstGeom prst="roundRect">
            <a:avLst>
              <a:gd fmla="val 2554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/>
          <p:nvPr/>
        </p:nvSpPr>
        <p:spPr>
          <a:xfrm>
            <a:off x="849273" y="1973937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Назва проєкту</a:t>
            </a:r>
            <a:endParaRPr b="0" i="0" sz="1950" u="none" cap="none" strike="noStrike"/>
          </a:p>
        </p:txBody>
      </p:sp>
      <p:sp>
        <p:nvSpPr>
          <p:cNvPr id="165" name="Google Shape;165;p28"/>
          <p:cNvSpPr/>
          <p:nvPr/>
        </p:nvSpPr>
        <p:spPr>
          <a:xfrm>
            <a:off x="849273" y="2482453"/>
            <a:ext cx="7399973" cy="85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33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5350"/>
              <a:buFont typeface="Nunito Sans"/>
              <a:buNone/>
            </a:pPr>
            <a:r>
              <a:rPr b="1" i="0" lang="en-US" sz="53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[Назва твого проєкту]</a:t>
            </a:r>
            <a:endParaRPr b="0" i="0" sz="5350" u="none" cap="none" strike="noStrike"/>
          </a:p>
        </p:txBody>
      </p:sp>
      <p:sp>
        <p:nvSpPr>
          <p:cNvPr id="166" name="Google Shape;166;p28"/>
          <p:cNvSpPr/>
          <p:nvPr/>
        </p:nvSpPr>
        <p:spPr>
          <a:xfrm>
            <a:off x="849273" y="3611047"/>
            <a:ext cx="7656314" cy="14883"/>
          </a:xfrm>
          <a:prstGeom prst="rect">
            <a:avLst/>
          </a:prstGeom>
          <a:solidFill>
            <a:srgbClr val="23232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849273" y="3898702"/>
            <a:ext cx="765631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Студент: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[Прізвище Ім'я По-батькові]</a:t>
            </a:r>
            <a:endParaRPr b="0" i="0" sz="1550" u="none" cap="none" strike="noStrike"/>
          </a:p>
        </p:txBody>
      </p:sp>
      <p:sp>
        <p:nvSpPr>
          <p:cNvPr id="168" name="Google Shape;168;p28"/>
          <p:cNvSpPr/>
          <p:nvPr/>
        </p:nvSpPr>
        <p:spPr>
          <a:xfrm>
            <a:off x="849273" y="4394835"/>
            <a:ext cx="765631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Група: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[Номер групи]</a:t>
            </a:r>
            <a:endParaRPr b="0" i="0" sz="1550" u="none" cap="none" strike="noStrike"/>
          </a:p>
        </p:txBody>
      </p:sp>
      <p:sp>
        <p:nvSpPr>
          <p:cNvPr id="169" name="Google Shape;169;p28"/>
          <p:cNvSpPr/>
          <p:nvPr/>
        </p:nvSpPr>
        <p:spPr>
          <a:xfrm>
            <a:off x="849273" y="4890968"/>
            <a:ext cx="765631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Курс: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Embedded Development</a:t>
            </a:r>
            <a:endParaRPr b="0" i="0" sz="1550" u="none" cap="none" strike="noStrike"/>
          </a:p>
        </p:txBody>
      </p:sp>
      <p:sp>
        <p:nvSpPr>
          <p:cNvPr id="170" name="Google Shape;170;p28"/>
          <p:cNvSpPr/>
          <p:nvPr/>
        </p:nvSpPr>
        <p:spPr>
          <a:xfrm>
            <a:off x="849273" y="5387102"/>
            <a:ext cx="765631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Дата захисту: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[ДД.ММ.РРРР]</a:t>
            </a:r>
            <a:endParaRPr b="0" i="0" sz="1550" u="none" cap="none" strike="noStrike"/>
          </a:p>
        </p:txBody>
      </p:sp>
      <p:sp>
        <p:nvSpPr>
          <p:cNvPr id="171" name="Google Shape;171;p28"/>
          <p:cNvSpPr/>
          <p:nvPr/>
        </p:nvSpPr>
        <p:spPr>
          <a:xfrm>
            <a:off x="849273" y="5883235"/>
            <a:ext cx="765631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Покликання на GitHub проєкту: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b="0" i="0" sz="1550" u="none" cap="none" strike="noStrike"/>
          </a:p>
        </p:txBody>
      </p:sp>
      <p:sp>
        <p:nvSpPr>
          <p:cNvPr id="172" name="Google Shape;172;p28"/>
          <p:cNvSpPr/>
          <p:nvPr/>
        </p:nvSpPr>
        <p:spPr>
          <a:xfrm>
            <a:off x="849273" y="6379369"/>
            <a:ext cx="765631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Покликання на GitHub проєкту: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endParaRPr b="0" i="0" sz="1550" u="none" cap="none" strike="noStrike"/>
          </a:p>
        </p:txBody>
      </p:sp>
      <p:sp>
        <p:nvSpPr>
          <p:cNvPr id="173" name="Google Shape;173;p28"/>
          <p:cNvSpPr/>
          <p:nvPr/>
        </p:nvSpPr>
        <p:spPr>
          <a:xfrm>
            <a:off x="849273" y="6875502"/>
            <a:ext cx="7656314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  <p:sp>
        <p:nvSpPr>
          <p:cNvPr id="174" name="Google Shape;174;p28"/>
          <p:cNvSpPr/>
          <p:nvPr/>
        </p:nvSpPr>
        <p:spPr>
          <a:xfrm>
            <a:off x="9052798" y="1998821"/>
            <a:ext cx="4791313" cy="2430899"/>
          </a:xfrm>
          <a:prstGeom prst="roundRect">
            <a:avLst>
              <a:gd fmla="val 3429" name="adj"/>
            </a:avLst>
          </a:prstGeom>
          <a:solidFill>
            <a:srgbClr val="C8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1156" y="2294096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/>
          <p:nvPr/>
        </p:nvSpPr>
        <p:spPr>
          <a:xfrm>
            <a:off x="9697522" y="2246709"/>
            <a:ext cx="3948232" cy="1905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💡 Підказка: Назва проєкту має бути конкретною і технічною. Замість "Розумний пристрій" — "Моніторинг температури на STM32 з передачею даних через MQTT". Одна фраза має розказати, що ти зробив і на якому стеці.</a:t>
            </a:r>
            <a:endParaRPr b="0" i="0" sz="1550" u="none" cap="none" strike="noStrike"/>
          </a:p>
        </p:txBody>
      </p:sp>
      <p:sp>
        <p:nvSpPr>
          <p:cNvPr id="177" name="Google Shape;177;p28"/>
          <p:cNvSpPr/>
          <p:nvPr/>
        </p:nvSpPr>
        <p:spPr>
          <a:xfrm>
            <a:off x="9052798" y="4652963"/>
            <a:ext cx="4791313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Приклади хороших назв:</a:t>
            </a:r>
            <a:endParaRPr b="0" i="0" sz="1550" u="none" cap="none" strike="noStrike"/>
          </a:p>
        </p:txBody>
      </p:sp>
      <p:sp>
        <p:nvSpPr>
          <p:cNvPr id="178" name="Google Shape;178;p28"/>
          <p:cNvSpPr/>
          <p:nvPr/>
        </p:nvSpPr>
        <p:spPr>
          <a:xfrm>
            <a:off x="9052798" y="5149096"/>
            <a:ext cx="4791313" cy="2044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Детектор аномалій вібрації на ESP32 з ML-класифікацією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CAN-bus логер для автомобільних ECU на базі STM32F4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Безпровідна система управління освітленням (Zigbee + RTOS)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>
            <a:off x="793790" y="1367076"/>
            <a:ext cx="1673066" cy="373142"/>
          </a:xfrm>
          <a:prstGeom prst="roundRect">
            <a:avLst>
              <a:gd fmla="val 17872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/>
          <p:nvPr/>
        </p:nvSpPr>
        <p:spPr>
          <a:xfrm>
            <a:off x="912849" y="1426600"/>
            <a:ext cx="1896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СЛАЙД 1 — ЗАЧІП</a:t>
            </a:r>
            <a:endParaRPr b="0" i="0" sz="1250" u="none" cap="none" strike="noStrike"/>
          </a:p>
        </p:txBody>
      </p:sp>
      <p:sp>
        <p:nvSpPr>
          <p:cNvPr id="186" name="Google Shape;186;p29"/>
          <p:cNvSpPr/>
          <p:nvPr/>
        </p:nvSpPr>
        <p:spPr>
          <a:xfrm>
            <a:off x="793790" y="1819513"/>
            <a:ext cx="718554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Опис проєкту: зачіп аудиторії</a:t>
            </a:r>
            <a:endParaRPr b="0" i="0" sz="3900" u="none" cap="none" strike="noStrike"/>
          </a:p>
        </p:txBody>
      </p:sp>
      <p:sp>
        <p:nvSpPr>
          <p:cNvPr id="187" name="Google Shape;187;p29"/>
          <p:cNvSpPr/>
          <p:nvPr/>
        </p:nvSpPr>
        <p:spPr>
          <a:xfrm>
            <a:off x="1091446" y="2960489"/>
            <a:ext cx="12745164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[Одне-два речення, що описують частину проблеми — без розв'язку. Наприклад: "Пристрій переставав відповідати кожні кілька годин, і ми не розуміли чому. Журналів не було, відлагоджувача теж — лише мертва тиша на UART."]</a:t>
            </a:r>
            <a:endParaRPr b="0" i="0" sz="1550" u="none" cap="none" strike="noStrike"/>
          </a:p>
        </p:txBody>
      </p:sp>
      <p:sp>
        <p:nvSpPr>
          <p:cNvPr id="188" name="Google Shape;188;p29"/>
          <p:cNvSpPr/>
          <p:nvPr/>
        </p:nvSpPr>
        <p:spPr>
          <a:xfrm>
            <a:off x="793790" y="2737247"/>
            <a:ext cx="22860" cy="1081564"/>
          </a:xfrm>
          <a:prstGeom prst="rect">
            <a:avLst/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>
            <a:off x="793790" y="424041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✅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Як треба</a:t>
            </a:r>
            <a:endParaRPr b="0" i="0" sz="1950" u="none" cap="none" strike="noStrike"/>
          </a:p>
        </p:txBody>
      </p:sp>
      <p:sp>
        <p:nvSpPr>
          <p:cNvPr id="190" name="Google Shape;190;p29"/>
          <p:cNvSpPr/>
          <p:nvPr/>
        </p:nvSpPr>
        <p:spPr>
          <a:xfrm>
            <a:off x="793790" y="4748927"/>
            <a:ext cx="6279356" cy="2044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"Датчик слав дані, але половина пакетів губилась — і ми не могли зрозуміти де"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"Система зависала рівно через 4 години після старту — стабільно, але без видимої причини"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"Мотор дрижав на певних оборотах — але тільки під навантаженням"</a:t>
            </a:r>
            <a:endParaRPr b="0" i="0" sz="1550" u="none" cap="none" strike="noStrike"/>
          </a:p>
        </p:txBody>
      </p:sp>
      <p:sp>
        <p:nvSpPr>
          <p:cNvPr id="191" name="Google Shape;191;p29"/>
          <p:cNvSpPr/>
          <p:nvPr/>
        </p:nvSpPr>
        <p:spPr>
          <a:xfrm>
            <a:off x="7421999" y="4042053"/>
            <a:ext cx="6565106" cy="2820353"/>
          </a:xfrm>
          <a:prstGeom prst="roundRect">
            <a:avLst>
              <a:gd fmla="val 5067" name="adj"/>
            </a:avLst>
          </a:prstGeom>
          <a:solidFill>
            <a:srgbClr val="F7B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>
            <a:off x="7620357" y="424041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❌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Як не треба</a:t>
            </a:r>
            <a:endParaRPr b="0" i="0" sz="1950" u="none" cap="none" strike="noStrike"/>
          </a:p>
        </p:txBody>
      </p:sp>
      <p:sp>
        <p:nvSpPr>
          <p:cNvPr id="193" name="Google Shape;193;p29"/>
          <p:cNvSpPr/>
          <p:nvPr/>
        </p:nvSpPr>
        <p:spPr>
          <a:xfrm>
            <a:off x="7620357" y="4748927"/>
            <a:ext cx="6168390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"Я зробив систему моніторингу температури"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"Метою проєкту було розробити..."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"У цій роботі я розгляну..."</a:t>
            </a:r>
            <a:endParaRPr b="0" i="0" sz="1550" u="none" cap="none" strike="noStrike"/>
          </a:p>
        </p:txBody>
      </p:sp>
      <p:sp>
        <p:nvSpPr>
          <p:cNvPr id="194" name="Google Shape;194;p29"/>
          <p:cNvSpPr/>
          <p:nvPr/>
        </p:nvSpPr>
        <p:spPr>
          <a:xfrm>
            <a:off x="7620357" y="6018967"/>
            <a:ext cx="6168390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Такий початок не чіпляє. Аудиторія ще не знає, чому їй має бути цікаво.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0"/>
          <p:cNvSpPr/>
          <p:nvPr/>
        </p:nvSpPr>
        <p:spPr>
          <a:xfrm>
            <a:off x="793790" y="3578543"/>
            <a:ext cx="2102406" cy="373142"/>
          </a:xfrm>
          <a:prstGeom prst="roundRect">
            <a:avLst>
              <a:gd fmla="val 17872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912850" y="3638075"/>
            <a:ext cx="2207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СЛАЙД 2 — ПРОБЛЕМА</a:t>
            </a:r>
            <a:endParaRPr b="0" i="0" sz="1250" u="none" cap="none" strike="noStrike"/>
          </a:p>
        </p:txBody>
      </p:sp>
      <p:sp>
        <p:nvSpPr>
          <p:cNvPr id="203" name="Google Shape;203;p30"/>
          <p:cNvSpPr/>
          <p:nvPr/>
        </p:nvSpPr>
        <p:spPr>
          <a:xfrm>
            <a:off x="793790" y="4030980"/>
            <a:ext cx="7324963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Проблема: контекст і масштаб</a:t>
            </a:r>
            <a:endParaRPr b="0" i="0" sz="39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/>
          <p:nvPr/>
        </p:nvSpPr>
        <p:spPr>
          <a:xfrm>
            <a:off x="793790" y="1675090"/>
            <a:ext cx="6113383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Проблема: що заповнити</a:t>
            </a:r>
            <a:endParaRPr b="0" i="0" sz="3900" u="none" cap="none" strike="noStrike"/>
          </a:p>
        </p:txBody>
      </p:sp>
      <p:sp>
        <p:nvSpPr>
          <p:cNvPr id="210" name="Google Shape;210;p31"/>
          <p:cNvSpPr/>
          <p:nvPr/>
        </p:nvSpPr>
        <p:spPr>
          <a:xfrm>
            <a:off x="793790" y="2791182"/>
            <a:ext cx="3926562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🎯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Що має бути на цьому слайді</a:t>
            </a:r>
            <a:endParaRPr b="0" i="0" sz="1950" u="none" cap="none" strike="noStrike"/>
          </a:p>
        </p:txBody>
      </p:sp>
      <p:sp>
        <p:nvSpPr>
          <p:cNvPr id="211" name="Google Shape;211;p31"/>
          <p:cNvSpPr/>
          <p:nvPr/>
        </p:nvSpPr>
        <p:spPr>
          <a:xfrm>
            <a:off x="793790" y="3299698"/>
            <a:ext cx="6279356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Розкрий контекст повністю: чому ця задача важлива, де вона виникає, які наслідки, якщо її не вирішити. Мінімум теорії — рівно стільки, щоб зрозуміти масштаб проблеми.</a:t>
            </a:r>
            <a:endParaRPr b="0" i="0" sz="1550" u="none" cap="none" strike="noStrike"/>
          </a:p>
        </p:txBody>
      </p:sp>
      <p:sp>
        <p:nvSpPr>
          <p:cNvPr id="212" name="Google Shape;212;p31"/>
          <p:cNvSpPr/>
          <p:nvPr/>
        </p:nvSpPr>
        <p:spPr>
          <a:xfrm>
            <a:off x="793790" y="4475559"/>
            <a:ext cx="6279356" cy="1478280"/>
          </a:xfrm>
          <a:prstGeom prst="roundRect">
            <a:avLst>
              <a:gd fmla="val 563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4770834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/>
          <p:nvPr/>
        </p:nvSpPr>
        <p:spPr>
          <a:xfrm>
            <a:off x="1438513" y="4723448"/>
            <a:ext cx="543627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Правило: якщо прибрати цей слайд — чи буде аудиторія розуміти, навіщо ти взагалі щось робив? Якщо так — слайд слабкий. Якщо ні — ти на правильному шляху.</a:t>
            </a:r>
            <a:endParaRPr b="0" i="0" sz="1550" u="none" cap="none" strike="noStrike"/>
          </a:p>
        </p:txBody>
      </p:sp>
      <p:sp>
        <p:nvSpPr>
          <p:cNvPr id="215" name="Google Shape;215;p31"/>
          <p:cNvSpPr/>
          <p:nvPr/>
        </p:nvSpPr>
        <p:spPr>
          <a:xfrm>
            <a:off x="7564874" y="2791182"/>
            <a:ext cx="337827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📝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Шаблон для заповнення</a:t>
            </a:r>
            <a:endParaRPr b="0" i="0" sz="1950" u="none" cap="none" strike="noStrike"/>
          </a:p>
        </p:txBody>
      </p:sp>
      <p:sp>
        <p:nvSpPr>
          <p:cNvPr id="216" name="Google Shape;216;p31"/>
          <p:cNvSpPr/>
          <p:nvPr/>
        </p:nvSpPr>
        <p:spPr>
          <a:xfrm>
            <a:off x="7564874" y="3299698"/>
            <a:ext cx="627935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Контекст: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[Де і коли виникає проблема? Який пристрій, яка система?]</a:t>
            </a:r>
            <a:endParaRPr b="0" i="0" sz="1550" u="none" cap="none" strike="noStrike"/>
          </a:p>
        </p:txBody>
      </p:sp>
      <p:sp>
        <p:nvSpPr>
          <p:cNvPr id="217" name="Google Shape;217;p31"/>
          <p:cNvSpPr/>
          <p:nvPr/>
        </p:nvSpPr>
        <p:spPr>
          <a:xfrm>
            <a:off x="7564874" y="4113371"/>
            <a:ext cx="627935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Реальна задача: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[Що конкретно потрібно вирішити? Яка технічна вимога?]</a:t>
            </a:r>
            <a:endParaRPr b="0" i="0" sz="1550" u="none" cap="none" strike="noStrike"/>
          </a:p>
        </p:txBody>
      </p:sp>
      <p:sp>
        <p:nvSpPr>
          <p:cNvPr id="218" name="Google Shape;218;p31"/>
          <p:cNvSpPr/>
          <p:nvPr/>
        </p:nvSpPr>
        <p:spPr>
          <a:xfrm>
            <a:off x="7564875" y="4927048"/>
            <a:ext cx="627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Масштаб: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[Чому це важливо? Які наслідки невирішеної проблеми?]</a:t>
            </a:r>
            <a:endParaRPr b="0" i="0" sz="1550" u="none" cap="none" strike="noStrike"/>
          </a:p>
        </p:txBody>
      </p:sp>
      <p:sp>
        <p:nvSpPr>
          <p:cNvPr id="219" name="Google Shape;219;p31"/>
          <p:cNvSpPr/>
          <p:nvPr/>
        </p:nvSpPr>
        <p:spPr>
          <a:xfrm>
            <a:off x="7564874" y="5550543"/>
            <a:ext cx="6279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Обмеження: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[Які обмеження накладає середовище — час, пам'ять, енергія, залізо?]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/>
          <p:nvPr/>
        </p:nvSpPr>
        <p:spPr>
          <a:xfrm>
            <a:off x="793790" y="1233249"/>
            <a:ext cx="3117533" cy="373142"/>
          </a:xfrm>
          <a:prstGeom prst="roundRect">
            <a:avLst>
              <a:gd fmla="val 17872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2"/>
          <p:cNvSpPr/>
          <p:nvPr/>
        </p:nvSpPr>
        <p:spPr>
          <a:xfrm>
            <a:off x="912850" y="1292775"/>
            <a:ext cx="3264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СЛАЙД 3 — РІШЕННЯ / АРХІТЕКТУРА</a:t>
            </a:r>
            <a:endParaRPr b="0" i="0" sz="1250" u="none" cap="none" strike="noStrike"/>
          </a:p>
        </p:txBody>
      </p:sp>
      <p:sp>
        <p:nvSpPr>
          <p:cNvPr id="227" name="Google Shape;227;p32"/>
          <p:cNvSpPr/>
          <p:nvPr/>
        </p:nvSpPr>
        <p:spPr>
          <a:xfrm>
            <a:off x="793790" y="1685687"/>
            <a:ext cx="7734300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Рішення та архітектура системи</a:t>
            </a:r>
            <a:endParaRPr b="0" i="0" sz="3900" u="none" cap="none" strike="noStrike"/>
          </a:p>
        </p:txBody>
      </p:sp>
      <p:sp>
        <p:nvSpPr>
          <p:cNvPr id="228" name="Google Shape;228;p32"/>
          <p:cNvSpPr/>
          <p:nvPr/>
        </p:nvSpPr>
        <p:spPr>
          <a:xfrm>
            <a:off x="793790" y="2603421"/>
            <a:ext cx="13042821" cy="1160740"/>
          </a:xfrm>
          <a:prstGeom prst="roundRect">
            <a:avLst>
              <a:gd fmla="val 7182" name="adj"/>
            </a:avLst>
          </a:prstGeom>
          <a:solidFill>
            <a:srgbClr val="C8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2898696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/>
          <p:nvPr/>
        </p:nvSpPr>
        <p:spPr>
          <a:xfrm>
            <a:off x="1438513" y="2851309"/>
            <a:ext cx="12199739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📌 Вставте сюди блок-діаграму або схему архітектури вашої системи. Використовуй реальні назви компонентів: мікроконтролер, протоколи, периферія, інтерфейси.</a:t>
            </a:r>
            <a:endParaRPr b="0" i="0" sz="1550" u="none" cap="none" strike="noStrike"/>
          </a:p>
        </p:txBody>
      </p:sp>
      <p:sp>
        <p:nvSpPr>
          <p:cNvPr id="231" name="Google Shape;231;p32"/>
          <p:cNvSpPr/>
          <p:nvPr/>
        </p:nvSpPr>
        <p:spPr>
          <a:xfrm>
            <a:off x="650915" y="3987403"/>
            <a:ext cx="6565106" cy="3008948"/>
          </a:xfrm>
          <a:prstGeom prst="roundRect">
            <a:avLst>
              <a:gd fmla="val 4749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849273" y="4185761"/>
            <a:ext cx="2654260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Що показати на схемі</a:t>
            </a:r>
            <a:endParaRPr b="0" i="0" sz="1950" u="none" cap="none" strike="noStrike"/>
          </a:p>
        </p:txBody>
      </p:sp>
      <p:sp>
        <p:nvSpPr>
          <p:cNvPr id="233" name="Google Shape;233;p32"/>
          <p:cNvSpPr/>
          <p:nvPr/>
        </p:nvSpPr>
        <p:spPr>
          <a:xfrm>
            <a:off x="849273" y="4694277"/>
            <a:ext cx="6168390" cy="14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Основні компоненти системи (MCU, сенсори, актуатори)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Протоколи зв'язку між ними (I²C, SPI, UART, CAN…)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Потоки даних — звідки і куди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Зовнішні інтерфейси (WiFi, BLE, USB, Ethernet)</a:t>
            </a:r>
            <a:endParaRPr b="0" i="0" sz="1550" u="none" cap="none" strike="noStrike"/>
          </a:p>
        </p:txBody>
      </p:sp>
      <p:sp>
        <p:nvSpPr>
          <p:cNvPr id="234" name="Google Shape;234;p32"/>
          <p:cNvSpPr/>
          <p:nvPr/>
        </p:nvSpPr>
        <p:spPr>
          <a:xfrm>
            <a:off x="7564874" y="4185761"/>
            <a:ext cx="3308271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Короткий опис архітектури</a:t>
            </a:r>
            <a:endParaRPr b="0" i="0" sz="1950" u="none" cap="none" strike="noStrike"/>
          </a:p>
        </p:txBody>
      </p:sp>
      <p:sp>
        <p:nvSpPr>
          <p:cNvPr id="235" name="Google Shape;235;p32"/>
          <p:cNvSpPr/>
          <p:nvPr/>
        </p:nvSpPr>
        <p:spPr>
          <a:xfrm>
            <a:off x="7564874" y="4694277"/>
            <a:ext cx="627935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[Опиши в 2–4 реченнях ключове архітектурне рішення. Чому саме така структура? Які альтернативи розглядались і чому відкинуті?]</a:t>
            </a:r>
            <a:endParaRPr b="0" i="0" sz="1550" u="none" cap="none" strike="noStrike"/>
          </a:p>
        </p:txBody>
      </p:sp>
      <p:sp>
        <p:nvSpPr>
          <p:cNvPr id="236" name="Google Shape;236;p32"/>
          <p:cNvSpPr/>
          <p:nvPr/>
        </p:nvSpPr>
        <p:spPr>
          <a:xfrm>
            <a:off x="7564874" y="5507950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Ключовий MCU / платформа: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[STM32F4 / ESP32 / RP2040 / …]</a:t>
            </a:r>
            <a:endParaRPr b="0" i="0" sz="1550" u="none" cap="none" strike="noStrike"/>
          </a:p>
        </p:txBody>
      </p:sp>
      <p:sp>
        <p:nvSpPr>
          <p:cNvPr id="237" name="Google Shape;237;p32"/>
          <p:cNvSpPr/>
          <p:nvPr/>
        </p:nvSpPr>
        <p:spPr>
          <a:xfrm>
            <a:off x="7564874" y="6004084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ОС / фреймворк: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[FreeRTOS / bare-metal / Zephyr / …]</a:t>
            </a:r>
            <a:endParaRPr b="0" i="0" sz="1550" u="none" cap="none" strike="noStrike"/>
          </a:p>
        </p:txBody>
      </p:sp>
      <p:sp>
        <p:nvSpPr>
          <p:cNvPr id="238" name="Google Shape;238;p32"/>
          <p:cNvSpPr/>
          <p:nvPr/>
        </p:nvSpPr>
        <p:spPr>
          <a:xfrm>
            <a:off x="7564874" y="6500217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Протоколи: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[I²C, SPI, MQTT, CAN, …]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/>
          <p:nvPr/>
        </p:nvSpPr>
        <p:spPr>
          <a:xfrm>
            <a:off x="793790" y="2246709"/>
            <a:ext cx="447436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Порада щодо архітектурного слайду</a:t>
            </a:r>
            <a:endParaRPr b="0" i="0" sz="1950" u="none" cap="none" strike="noStrike"/>
          </a:p>
        </p:txBody>
      </p:sp>
      <p:sp>
        <p:nvSpPr>
          <p:cNvPr id="245" name="Google Shape;245;p33"/>
          <p:cNvSpPr/>
          <p:nvPr/>
        </p:nvSpPr>
        <p:spPr>
          <a:xfrm>
            <a:off x="793790" y="2636163"/>
            <a:ext cx="8990052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Теорія — лише там, де вона потрібна</a:t>
            </a:r>
            <a:endParaRPr b="0" i="0" sz="3900" u="none" cap="none" strike="noStrike"/>
          </a:p>
        </p:txBody>
      </p:sp>
      <p:sp>
        <p:nvSpPr>
          <p:cNvPr id="246" name="Google Shape;246;p33"/>
          <p:cNvSpPr/>
          <p:nvPr/>
        </p:nvSpPr>
        <p:spPr>
          <a:xfrm>
            <a:off x="793790" y="3553897"/>
            <a:ext cx="4215289" cy="2428875"/>
          </a:xfrm>
          <a:prstGeom prst="roundRect">
            <a:avLst>
              <a:gd fmla="val 3432" name="adj"/>
            </a:avLst>
          </a:prstGeom>
          <a:solidFill>
            <a:srgbClr val="ECE7E2"/>
          </a:solidFill>
          <a:ln cap="flat" cmpd="sng" w="9525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/>
          <p:nvPr/>
        </p:nvSpPr>
        <p:spPr>
          <a:xfrm>
            <a:off x="999768" y="3759875"/>
            <a:ext cx="3547110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🔗</a:t>
            </a: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Вплітай теорію в контекст</a:t>
            </a:r>
            <a:endParaRPr b="0" i="0" sz="1950" u="none" cap="none" strike="noStrike"/>
          </a:p>
        </p:txBody>
      </p:sp>
      <p:sp>
        <p:nvSpPr>
          <p:cNvPr id="248" name="Google Shape;248;p33"/>
          <p:cNvSpPr/>
          <p:nvPr/>
        </p:nvSpPr>
        <p:spPr>
          <a:xfrm>
            <a:off x="999768" y="4189095"/>
            <a:ext cx="3803333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Якщо для розуміння архітектури потрібна теорія — поясни її тут, у момент, коли вона потрібна. Не винось її на окремий слайд "Теоретична частина" на початку.</a:t>
            </a:r>
            <a:endParaRPr b="0" i="0" sz="1550" u="none" cap="none" strike="noStrike"/>
          </a:p>
        </p:txBody>
      </p:sp>
      <p:sp>
        <p:nvSpPr>
          <p:cNvPr id="249" name="Google Shape;249;p33"/>
          <p:cNvSpPr/>
          <p:nvPr/>
        </p:nvSpPr>
        <p:spPr>
          <a:xfrm>
            <a:off x="5207437" y="3553897"/>
            <a:ext cx="4215408" cy="2428875"/>
          </a:xfrm>
          <a:prstGeom prst="roundRect">
            <a:avLst>
              <a:gd fmla="val 3432" name="adj"/>
            </a:avLst>
          </a:prstGeom>
          <a:solidFill>
            <a:srgbClr val="ECE7E2"/>
          </a:solidFill>
          <a:ln cap="flat" cmpd="sng" w="9525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3"/>
          <p:cNvSpPr/>
          <p:nvPr/>
        </p:nvSpPr>
        <p:spPr>
          <a:xfrm>
            <a:off x="5413415" y="3759875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📊</a:t>
            </a: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Схеми &gt; текст</a:t>
            </a:r>
            <a:endParaRPr b="0" i="0" sz="1950" u="none" cap="none" strike="noStrike"/>
          </a:p>
        </p:txBody>
      </p:sp>
      <p:sp>
        <p:nvSpPr>
          <p:cNvPr id="251" name="Google Shape;251;p33"/>
          <p:cNvSpPr/>
          <p:nvPr/>
        </p:nvSpPr>
        <p:spPr>
          <a:xfrm>
            <a:off x="5413415" y="4189095"/>
            <a:ext cx="3803452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Одна добра блок-діаграма замінює три абзаци тексту. Якщо можна намалювати — малюй. Інструменти: draw.io, Mermaid, KiCad, навіть фото від руки краще за суцільний текст.</a:t>
            </a:r>
            <a:endParaRPr b="0" i="0" sz="1550" u="none" cap="none" strike="noStrike"/>
          </a:p>
        </p:txBody>
      </p:sp>
      <p:sp>
        <p:nvSpPr>
          <p:cNvPr id="252" name="Google Shape;252;p33"/>
          <p:cNvSpPr/>
          <p:nvPr/>
        </p:nvSpPr>
        <p:spPr>
          <a:xfrm>
            <a:off x="9621203" y="3553897"/>
            <a:ext cx="4215289" cy="2428875"/>
          </a:xfrm>
          <a:prstGeom prst="roundRect">
            <a:avLst>
              <a:gd fmla="val 3432" name="adj"/>
            </a:avLst>
          </a:prstGeom>
          <a:solidFill>
            <a:srgbClr val="ECE7E2"/>
          </a:solidFill>
          <a:ln cap="flat" cmpd="sng" w="9525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9827181" y="3759875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⚖️</a:t>
            </a: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Обґрунтуй вибір</a:t>
            </a:r>
            <a:endParaRPr b="0" i="0" sz="1950" u="none" cap="none" strike="noStrike"/>
          </a:p>
        </p:txBody>
      </p:sp>
      <p:sp>
        <p:nvSpPr>
          <p:cNvPr id="254" name="Google Shape;254;p33"/>
          <p:cNvSpPr/>
          <p:nvPr/>
        </p:nvSpPr>
        <p:spPr>
          <a:xfrm>
            <a:off x="9827181" y="4189095"/>
            <a:ext cx="3803333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Аудиторія оцінить, якщо ти скажеш: "Ми розглядали I²C і SPI — обрали SPI через швидкість 10 МГц, яка потрібна для АЦП." Це показує інженерне мислення.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/>
          <p:nvPr/>
        </p:nvSpPr>
        <p:spPr>
          <a:xfrm>
            <a:off x="793790" y="1384459"/>
            <a:ext cx="2148364" cy="373142"/>
          </a:xfrm>
          <a:prstGeom prst="roundRect">
            <a:avLst>
              <a:gd fmla="val 17872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4"/>
          <p:cNvSpPr/>
          <p:nvPr/>
        </p:nvSpPr>
        <p:spPr>
          <a:xfrm>
            <a:off x="912849" y="1444000"/>
            <a:ext cx="2361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СЛАЙД 4 — РЕАЛІЗАЦІЯ</a:t>
            </a:r>
            <a:endParaRPr b="0" i="0" sz="1250" u="none" cap="none" strike="noStrike"/>
          </a:p>
        </p:txBody>
      </p:sp>
      <p:sp>
        <p:nvSpPr>
          <p:cNvPr id="262" name="Google Shape;262;p34"/>
          <p:cNvSpPr/>
          <p:nvPr/>
        </p:nvSpPr>
        <p:spPr>
          <a:xfrm>
            <a:off x="793790" y="1836896"/>
            <a:ext cx="8995529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Реалізація: ключові технічні рішення</a:t>
            </a:r>
            <a:endParaRPr b="0" i="0" sz="3900" u="none" cap="none" strike="noStrike"/>
          </a:p>
        </p:txBody>
      </p:sp>
      <p:sp>
        <p:nvSpPr>
          <p:cNvPr id="263" name="Google Shape;263;p34"/>
          <p:cNvSpPr/>
          <p:nvPr/>
        </p:nvSpPr>
        <p:spPr>
          <a:xfrm>
            <a:off x="793790" y="2952988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📌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Що показати</a:t>
            </a:r>
            <a:endParaRPr b="0" i="0" sz="1950" u="none" cap="none" strike="noStrike"/>
          </a:p>
        </p:txBody>
      </p:sp>
      <p:sp>
        <p:nvSpPr>
          <p:cNvPr id="264" name="Google Shape;264;p34"/>
          <p:cNvSpPr/>
          <p:nvPr/>
        </p:nvSpPr>
        <p:spPr>
          <a:xfrm>
            <a:off x="793790" y="3461504"/>
            <a:ext cx="6279356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Не весь код — лише принципові моменти. Той фрагмент, де є нетривіальне рішення, де була помилка, яку ти подолав, або де теорія стає кодом.</a:t>
            </a:r>
            <a:endParaRPr b="0" i="0" sz="1550" u="none" cap="none" strike="noStrike"/>
          </a:p>
        </p:txBody>
      </p:sp>
      <p:sp>
        <p:nvSpPr>
          <p:cNvPr id="265" name="Google Shape;265;p34"/>
          <p:cNvSpPr/>
          <p:nvPr/>
        </p:nvSpPr>
        <p:spPr>
          <a:xfrm>
            <a:off x="793790" y="4637365"/>
            <a:ext cx="6279356" cy="1478280"/>
          </a:xfrm>
          <a:prstGeom prst="roundRect">
            <a:avLst>
              <a:gd fmla="val 563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4932640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4"/>
          <p:cNvSpPr/>
          <p:nvPr/>
        </p:nvSpPr>
        <p:spPr>
          <a:xfrm>
            <a:off x="1438513" y="4885253"/>
            <a:ext cx="543627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Правило: якщо студент поруч міг написати цей код за 5 хвилин — це не варто показувати. Показуй те, де ти думав понад 30 хвилин.</a:t>
            </a:r>
            <a:endParaRPr b="0" i="0" sz="1550" u="none" cap="none" strike="noStrike"/>
          </a:p>
        </p:txBody>
      </p:sp>
      <p:sp>
        <p:nvSpPr>
          <p:cNvPr id="268" name="Google Shape;268;p34"/>
          <p:cNvSpPr/>
          <p:nvPr/>
        </p:nvSpPr>
        <p:spPr>
          <a:xfrm>
            <a:off x="7421999" y="2754630"/>
            <a:ext cx="6565106" cy="4090392"/>
          </a:xfrm>
          <a:prstGeom prst="roundRect">
            <a:avLst>
              <a:gd fmla="val 3494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"/>
          <p:cNvSpPr/>
          <p:nvPr/>
        </p:nvSpPr>
        <p:spPr>
          <a:xfrm>
            <a:off x="7620357" y="2952988"/>
            <a:ext cx="2515910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📝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Шаблон для коду</a:t>
            </a:r>
            <a:endParaRPr b="0" i="0" sz="1950" u="none" cap="none" strike="noStrike"/>
          </a:p>
        </p:txBody>
      </p:sp>
      <p:sp>
        <p:nvSpPr>
          <p:cNvPr id="270" name="Google Shape;270;p34"/>
          <p:cNvSpPr/>
          <p:nvPr/>
        </p:nvSpPr>
        <p:spPr>
          <a:xfrm>
            <a:off x="7620357" y="3461504"/>
            <a:ext cx="6168390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Вставте сюди найважливіший фрагмент коду (10–20 рядків максимум):</a:t>
            </a:r>
            <a:endParaRPr b="0" i="0" sz="1550" u="none" cap="none" strike="noStrike"/>
          </a:p>
        </p:txBody>
      </p:sp>
      <p:sp>
        <p:nvSpPr>
          <p:cNvPr id="271" name="Google Shape;271;p34"/>
          <p:cNvSpPr/>
          <p:nvPr/>
        </p:nvSpPr>
        <p:spPr>
          <a:xfrm>
            <a:off x="7620357" y="4319826"/>
            <a:ext cx="6168390" cy="2301954"/>
          </a:xfrm>
          <a:prstGeom prst="roundRect">
            <a:avLst>
              <a:gd fmla="val 3621" name="adj"/>
            </a:avLst>
          </a:prstGeom>
          <a:solidFill>
            <a:srgbClr val="B8C9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4"/>
          <p:cNvSpPr/>
          <p:nvPr/>
        </p:nvSpPr>
        <p:spPr>
          <a:xfrm>
            <a:off x="7610475" y="4319826"/>
            <a:ext cx="6188154" cy="2301954"/>
          </a:xfrm>
          <a:prstGeom prst="roundRect">
            <a:avLst>
              <a:gd fmla="val 1293" name="adj"/>
            </a:avLst>
          </a:prstGeom>
          <a:solidFill>
            <a:srgbClr val="B8C9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4"/>
          <p:cNvSpPr/>
          <p:nvPr/>
        </p:nvSpPr>
        <p:spPr>
          <a:xfrm>
            <a:off x="7858475" y="4518177"/>
            <a:ext cx="56922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onsola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Consolas"/>
                <a:ea typeface="Consolas"/>
                <a:cs typeface="Consolas"/>
                <a:sym typeface="Consolas"/>
              </a:rPr>
              <a:t>// [Назва функції або модуля]</a:t>
            </a:r>
            <a:endParaRPr b="0" i="0" sz="1550" u="none" cap="none" strike="noStrike"/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onsola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Consolas"/>
                <a:ea typeface="Consolas"/>
                <a:cs typeface="Consolas"/>
                <a:sym typeface="Consolas"/>
              </a:rPr>
              <a:t>// [Коментар: чому це рішення нетривіальне]</a:t>
            </a:r>
            <a:endParaRPr b="0" i="0" sz="1550" u="none" cap="none" strike="noStrike">
              <a:solidFill>
                <a:srgbClr val="23232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onsolas"/>
              <a:buNone/>
            </a:pPr>
            <a:r>
              <a:t/>
            </a:r>
            <a:endParaRPr sz="1550">
              <a:solidFill>
                <a:srgbClr val="23232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onsola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Consolas"/>
                <a:ea typeface="Consolas"/>
                <a:cs typeface="Consolas"/>
                <a:sym typeface="Consolas"/>
              </a:rPr>
              <a:t>[Вставте свій код тут]</a:t>
            </a:r>
            <a:endParaRPr b="0" i="0" sz="1550" u="none" cap="none" strike="noStrike"/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Consola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Consolas"/>
                <a:ea typeface="Consolas"/>
                <a:cs typeface="Consolas"/>
                <a:sym typeface="Consolas"/>
              </a:rPr>
              <a:t>// [Коментар до ключового рядка]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/>
        </p:nvSpPr>
        <p:spPr>
          <a:xfrm>
            <a:off x="793790" y="1545788"/>
            <a:ext cx="8945404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Реалізація: додаткові технічні деталі</a:t>
            </a:r>
            <a:endParaRPr b="0" i="0" sz="3900" u="none" cap="none" strike="noStrike"/>
          </a:p>
        </p:txBody>
      </p:sp>
      <p:sp>
        <p:nvSpPr>
          <p:cNvPr id="280" name="Google Shape;280;p35"/>
          <p:cNvSpPr/>
          <p:nvPr/>
        </p:nvSpPr>
        <p:spPr>
          <a:xfrm>
            <a:off x="793790" y="2562701"/>
            <a:ext cx="4215289" cy="3054668"/>
          </a:xfrm>
          <a:prstGeom prst="roundRect">
            <a:avLst>
              <a:gd fmla="val 2729" name="adj"/>
            </a:avLst>
          </a:prstGeom>
          <a:solidFill>
            <a:srgbClr val="F7F6F5"/>
          </a:solidFill>
          <a:ln cap="flat" cmpd="sng" w="22850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5"/>
          <p:cNvSpPr/>
          <p:nvPr/>
        </p:nvSpPr>
        <p:spPr>
          <a:xfrm>
            <a:off x="816650" y="2585561"/>
            <a:ext cx="4169569" cy="595313"/>
          </a:xfrm>
          <a:prstGeom prst="roundRect">
            <a:avLst>
              <a:gd fmla="val 9395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5"/>
          <p:cNvSpPr/>
          <p:nvPr/>
        </p:nvSpPr>
        <p:spPr>
          <a:xfrm>
            <a:off x="2752606" y="2693313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300"/>
              <a:buFont typeface="Nunito Sans"/>
              <a:buNone/>
            </a:pPr>
            <a:r>
              <a:rPr b="1" i="0" lang="en-US" sz="23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 b="0" i="0" sz="2300" u="none" cap="none" strike="noStrike"/>
          </a:p>
        </p:txBody>
      </p:sp>
      <p:sp>
        <p:nvSpPr>
          <p:cNvPr id="283" name="Google Shape;283;p35"/>
          <p:cNvSpPr/>
          <p:nvPr/>
        </p:nvSpPr>
        <p:spPr>
          <a:xfrm>
            <a:off x="1015008" y="3379232"/>
            <a:ext cx="264556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Ключове рішення №1</a:t>
            </a:r>
            <a:endParaRPr b="0" i="0" sz="1950" u="none" cap="none" strike="noStrike"/>
          </a:p>
        </p:txBody>
      </p:sp>
      <p:sp>
        <p:nvSpPr>
          <p:cNvPr id="284" name="Google Shape;284;p35"/>
          <p:cNvSpPr/>
          <p:nvPr/>
        </p:nvSpPr>
        <p:spPr>
          <a:xfrm>
            <a:off x="1015008" y="3808452"/>
            <a:ext cx="3772853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[Опишіть першу нетривіальну технічну деталь. Наприклад: як ви організували DMA-передачу, як уникли race condition в RTOS, як налаштували переривання.]</a:t>
            </a:r>
            <a:endParaRPr b="0" i="0" sz="1550" u="none" cap="none" strike="noStrike"/>
          </a:p>
        </p:txBody>
      </p:sp>
      <p:sp>
        <p:nvSpPr>
          <p:cNvPr id="285" name="Google Shape;285;p35"/>
          <p:cNvSpPr/>
          <p:nvPr/>
        </p:nvSpPr>
        <p:spPr>
          <a:xfrm>
            <a:off x="5207437" y="2562701"/>
            <a:ext cx="4215408" cy="3054668"/>
          </a:xfrm>
          <a:prstGeom prst="roundRect">
            <a:avLst>
              <a:gd fmla="val 2729" name="adj"/>
            </a:avLst>
          </a:prstGeom>
          <a:solidFill>
            <a:srgbClr val="F7F6F5"/>
          </a:solidFill>
          <a:ln cap="flat" cmpd="sng" w="22850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5"/>
          <p:cNvSpPr/>
          <p:nvPr/>
        </p:nvSpPr>
        <p:spPr>
          <a:xfrm>
            <a:off x="5230297" y="2585561"/>
            <a:ext cx="4169688" cy="595313"/>
          </a:xfrm>
          <a:prstGeom prst="roundRect">
            <a:avLst>
              <a:gd fmla="val 9395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5"/>
          <p:cNvSpPr/>
          <p:nvPr/>
        </p:nvSpPr>
        <p:spPr>
          <a:xfrm>
            <a:off x="7166253" y="2693313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300"/>
              <a:buFont typeface="Nunito Sans"/>
              <a:buNone/>
            </a:pPr>
            <a:r>
              <a:rPr b="1" i="0" lang="en-US" sz="23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b="0" i="0" sz="2300" u="none" cap="none" strike="noStrike"/>
          </a:p>
        </p:txBody>
      </p:sp>
      <p:sp>
        <p:nvSpPr>
          <p:cNvPr id="288" name="Google Shape;288;p35"/>
          <p:cNvSpPr/>
          <p:nvPr/>
        </p:nvSpPr>
        <p:spPr>
          <a:xfrm>
            <a:off x="5428655" y="3379232"/>
            <a:ext cx="264556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Ключове рішення №2</a:t>
            </a:r>
            <a:endParaRPr b="0" i="0" sz="1950" u="none" cap="none" strike="noStrike"/>
          </a:p>
        </p:txBody>
      </p:sp>
      <p:sp>
        <p:nvSpPr>
          <p:cNvPr id="289" name="Google Shape;289;p35"/>
          <p:cNvSpPr/>
          <p:nvPr/>
        </p:nvSpPr>
        <p:spPr>
          <a:xfrm>
            <a:off x="5428655" y="3808452"/>
            <a:ext cx="3772972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[Опишіть другу важливу деталь. Наприклад: як організовано state machine, як реалізовано watchdog, як налаштовано протокол зв'язку.]</a:t>
            </a:r>
            <a:endParaRPr b="0" i="0" sz="1550" u="none" cap="none" strike="noStrike"/>
          </a:p>
        </p:txBody>
      </p:sp>
      <p:sp>
        <p:nvSpPr>
          <p:cNvPr id="290" name="Google Shape;290;p35"/>
          <p:cNvSpPr/>
          <p:nvPr/>
        </p:nvSpPr>
        <p:spPr>
          <a:xfrm>
            <a:off x="9621203" y="2562701"/>
            <a:ext cx="4215289" cy="3054668"/>
          </a:xfrm>
          <a:prstGeom prst="roundRect">
            <a:avLst>
              <a:gd fmla="val 2729" name="adj"/>
            </a:avLst>
          </a:prstGeom>
          <a:solidFill>
            <a:srgbClr val="F7F6F5"/>
          </a:solidFill>
          <a:ln cap="flat" cmpd="sng" w="22850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"/>
          <p:cNvSpPr/>
          <p:nvPr/>
        </p:nvSpPr>
        <p:spPr>
          <a:xfrm>
            <a:off x="9644063" y="2585561"/>
            <a:ext cx="4169569" cy="595313"/>
          </a:xfrm>
          <a:prstGeom prst="roundRect">
            <a:avLst>
              <a:gd fmla="val 9395" name="adj"/>
            </a:avLst>
          </a:prstGeom>
          <a:solidFill>
            <a:srgbClr val="ECE7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5"/>
          <p:cNvSpPr/>
          <p:nvPr/>
        </p:nvSpPr>
        <p:spPr>
          <a:xfrm>
            <a:off x="11580019" y="2693313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300"/>
              <a:buFont typeface="Nunito Sans"/>
              <a:buNone/>
            </a:pPr>
            <a:r>
              <a:rPr b="1" i="0" lang="en-US" sz="230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 b="0" i="0" sz="2300" u="none" cap="none" strike="noStrike"/>
          </a:p>
        </p:txBody>
      </p:sp>
      <p:sp>
        <p:nvSpPr>
          <p:cNvPr id="293" name="Google Shape;293;p35"/>
          <p:cNvSpPr/>
          <p:nvPr/>
        </p:nvSpPr>
        <p:spPr>
          <a:xfrm>
            <a:off x="9842421" y="3379232"/>
            <a:ext cx="3238738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Складнощі та як подолали</a:t>
            </a:r>
            <a:endParaRPr b="0" i="0" sz="1950" u="none" cap="none" strike="noStrike"/>
          </a:p>
        </p:txBody>
      </p:sp>
      <p:sp>
        <p:nvSpPr>
          <p:cNvPr id="294" name="Google Shape;294;p35"/>
          <p:cNvSpPr/>
          <p:nvPr/>
        </p:nvSpPr>
        <p:spPr>
          <a:xfrm>
            <a:off x="9842421" y="3808452"/>
            <a:ext cx="3772853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[Що не працювало спочатку? Яка помилка з'їла найбільше часу? Як знайшли і виправили? Це найцінніша частина — демонструє реальний досвід.]</a:t>
            </a:r>
            <a:endParaRPr b="0" i="0" sz="1550" u="none" cap="none" strike="noStrike"/>
          </a:p>
        </p:txBody>
      </p:sp>
      <p:sp>
        <p:nvSpPr>
          <p:cNvPr id="295" name="Google Shape;295;p35"/>
          <p:cNvSpPr/>
          <p:nvPr/>
        </p:nvSpPr>
        <p:spPr>
          <a:xfrm>
            <a:off x="793790" y="5840611"/>
            <a:ext cx="13042821" cy="843201"/>
          </a:xfrm>
          <a:prstGeom prst="roundRect">
            <a:avLst>
              <a:gd fmla="val 9886" name="adj"/>
            </a:avLst>
          </a:prstGeom>
          <a:solidFill>
            <a:srgbClr val="C8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6135886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5"/>
          <p:cNvSpPr/>
          <p:nvPr/>
        </p:nvSpPr>
        <p:spPr>
          <a:xfrm>
            <a:off x="1438513" y="6088499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💡 Теорія з'являється по кроках — лише там, де вона потрібна для розуміння наступного кроку реалізації.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3" name="Google Shape;3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6"/>
          <p:cNvSpPr/>
          <p:nvPr/>
        </p:nvSpPr>
        <p:spPr>
          <a:xfrm>
            <a:off x="4724793" y="3578543"/>
            <a:ext cx="3590700" cy="373200"/>
          </a:xfrm>
          <a:prstGeom prst="roundRect">
            <a:avLst>
              <a:gd fmla="val 17872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6"/>
          <p:cNvSpPr/>
          <p:nvPr/>
        </p:nvSpPr>
        <p:spPr>
          <a:xfrm>
            <a:off x="4295600" y="3638075"/>
            <a:ext cx="393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СЛАЙД 5 — ДЕМОНСТРАЦІЯ / РЕЗУЛЬТАТИ</a:t>
            </a:r>
            <a:endParaRPr b="0" i="0" sz="1250" u="none" cap="none" strike="noStrike"/>
          </a:p>
        </p:txBody>
      </p:sp>
      <p:sp>
        <p:nvSpPr>
          <p:cNvPr id="306" name="Google Shape;306;p36"/>
          <p:cNvSpPr/>
          <p:nvPr/>
        </p:nvSpPr>
        <p:spPr>
          <a:xfrm>
            <a:off x="1486614" y="4030980"/>
            <a:ext cx="6863596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Демонстрація та результати</a:t>
            </a:r>
            <a:endParaRPr b="0" i="0" sz="39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/>
          <p:nvPr/>
        </p:nvSpPr>
        <p:spPr>
          <a:xfrm>
            <a:off x="793790" y="1526381"/>
            <a:ext cx="10398085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Результати: як правильно показати цифри</a:t>
            </a:r>
            <a:endParaRPr b="0" i="0" sz="3900" u="none" cap="none" strike="noStrike"/>
          </a:p>
        </p:txBody>
      </p:sp>
      <p:sp>
        <p:nvSpPr>
          <p:cNvPr id="313" name="Google Shape;313;p37"/>
          <p:cNvSpPr/>
          <p:nvPr/>
        </p:nvSpPr>
        <p:spPr>
          <a:xfrm>
            <a:off x="650915" y="2444115"/>
            <a:ext cx="6565106" cy="4258985"/>
          </a:xfrm>
          <a:prstGeom prst="roundRect">
            <a:avLst>
              <a:gd fmla="val 3355" name="adj"/>
            </a:avLst>
          </a:prstGeom>
          <a:solidFill>
            <a:srgbClr val="98B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7"/>
          <p:cNvSpPr/>
          <p:nvPr/>
        </p:nvSpPr>
        <p:spPr>
          <a:xfrm>
            <a:off x="849273" y="2642473"/>
            <a:ext cx="366736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✅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Конкретні числа — завжди</a:t>
            </a:r>
            <a:endParaRPr b="0" i="0" sz="1950" u="none" cap="none" strike="noStrike"/>
          </a:p>
        </p:txBody>
      </p:sp>
      <p:sp>
        <p:nvSpPr>
          <p:cNvPr id="315" name="Google Shape;315;p37"/>
          <p:cNvSpPr/>
          <p:nvPr/>
        </p:nvSpPr>
        <p:spPr>
          <a:xfrm>
            <a:off x="849273" y="3150989"/>
            <a:ext cx="6168390" cy="1478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Затримка зменшилась </a:t>
            </a: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 120 мс до 18 мс</a:t>
            </a:r>
            <a:endParaRPr b="0" i="0" sz="1550" u="none" cap="none" strike="noStrike"/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Споживання струму: </a:t>
            </a: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 85 мА до 12 мА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в режимі сну</a:t>
            </a:r>
            <a:endParaRPr b="0" i="0" sz="1550" u="none" cap="none" strike="noStrike"/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Пропускна здатність: </a:t>
            </a: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1200 пакетів/сек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без втрат</a:t>
            </a:r>
            <a:endParaRPr b="0" i="0" sz="1550" u="none" cap="none" strike="noStrike"/>
          </a:p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Час відгуку переривання: </a:t>
            </a: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стабільно &lt; 2 мкс</a:t>
            </a:r>
            <a:endParaRPr b="0" i="0" sz="1550" u="none" cap="none" strike="noStrike"/>
          </a:p>
        </p:txBody>
      </p:sp>
      <p:sp>
        <p:nvSpPr>
          <p:cNvPr id="316" name="Google Shape;316;p37"/>
          <p:cNvSpPr/>
          <p:nvPr/>
        </p:nvSpPr>
        <p:spPr>
          <a:xfrm>
            <a:off x="7564874" y="2642473"/>
            <a:ext cx="337827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📝</a:t>
            </a: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 Шаблон для заповнення</a:t>
            </a:r>
            <a:endParaRPr b="0" i="0" sz="1950" u="none" cap="none" strike="noStrike"/>
          </a:p>
        </p:txBody>
      </p:sp>
      <p:sp>
        <p:nvSpPr>
          <p:cNvPr id="317" name="Google Shape;317;p37"/>
          <p:cNvSpPr/>
          <p:nvPr/>
        </p:nvSpPr>
        <p:spPr>
          <a:xfrm>
            <a:off x="7564874" y="3150989"/>
            <a:ext cx="627935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Метрика 1: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[Що вимірювали] змінилось з [значення до] до [значення після]</a:t>
            </a:r>
            <a:endParaRPr b="0" i="0" sz="1550" u="none" cap="none" strike="noStrike"/>
          </a:p>
        </p:txBody>
      </p:sp>
      <p:sp>
        <p:nvSpPr>
          <p:cNvPr id="318" name="Google Shape;318;p37"/>
          <p:cNvSpPr/>
          <p:nvPr/>
        </p:nvSpPr>
        <p:spPr>
          <a:xfrm>
            <a:off x="7564874" y="3964662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Метрика 2: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[Що вимірювали] = [значення] ([одиниці виміру])</a:t>
            </a:r>
            <a:endParaRPr b="0" i="0" sz="1550" u="none" cap="none" strike="noStrike"/>
          </a:p>
        </p:txBody>
      </p:sp>
      <p:sp>
        <p:nvSpPr>
          <p:cNvPr id="319" name="Google Shape;319;p37"/>
          <p:cNvSpPr/>
          <p:nvPr/>
        </p:nvSpPr>
        <p:spPr>
          <a:xfrm>
            <a:off x="7564874" y="4460796"/>
            <a:ext cx="6279356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Умови вимірювання: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[Яке залізо, яке навантаження, яка температура?]</a:t>
            </a:r>
            <a:endParaRPr b="0" i="0" sz="1550" u="none" cap="none" strike="noStrike"/>
          </a:p>
        </p:txBody>
      </p:sp>
      <p:sp>
        <p:nvSpPr>
          <p:cNvPr id="320" name="Google Shape;320;p37"/>
          <p:cNvSpPr/>
          <p:nvPr/>
        </p:nvSpPr>
        <p:spPr>
          <a:xfrm>
            <a:off x="7564874" y="5319117"/>
            <a:ext cx="6279356" cy="1160740"/>
          </a:xfrm>
          <a:prstGeom prst="roundRect">
            <a:avLst>
              <a:gd fmla="val 718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3232" y="5614392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7"/>
          <p:cNvSpPr/>
          <p:nvPr/>
        </p:nvSpPr>
        <p:spPr>
          <a:xfrm>
            <a:off x="8209598" y="5567005"/>
            <a:ext cx="543627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Ніколи не пиши "стало швидше" або "покращилась якість". Завжди — конкретна цифра з одиницями виміру.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/>
          <p:nvPr/>
        </p:nvSpPr>
        <p:spPr>
          <a:xfrm>
            <a:off x="793790" y="1657945"/>
            <a:ext cx="8581668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Результати: графіки та візуалізація</a:t>
            </a:r>
            <a:endParaRPr b="0" i="0" sz="3900" u="none" cap="none" strike="noStrike"/>
          </a:p>
        </p:txBody>
      </p:sp>
      <p:sp>
        <p:nvSpPr>
          <p:cNvPr id="329" name="Google Shape;329;p38"/>
          <p:cNvSpPr/>
          <p:nvPr/>
        </p:nvSpPr>
        <p:spPr>
          <a:xfrm>
            <a:off x="793790" y="2674858"/>
            <a:ext cx="13042821" cy="843201"/>
          </a:xfrm>
          <a:prstGeom prst="roundRect">
            <a:avLst>
              <a:gd fmla="val 9886" name="adj"/>
            </a:avLst>
          </a:prstGeom>
          <a:solidFill>
            <a:srgbClr val="C8D8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2970133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8"/>
          <p:cNvSpPr/>
          <p:nvPr/>
        </p:nvSpPr>
        <p:spPr>
          <a:xfrm>
            <a:off x="1438513" y="2922746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📊 Вставте тут графіки, осцилограми, скріншоти з логера або відеодемонстрацію (QR-код на відео).</a:t>
            </a:r>
            <a:endParaRPr b="0" i="0" sz="1550" u="none" cap="none" strike="noStrike"/>
          </a:p>
        </p:txBody>
      </p:sp>
      <p:sp>
        <p:nvSpPr>
          <p:cNvPr id="332" name="Google Shape;332;p38"/>
          <p:cNvSpPr/>
          <p:nvPr/>
        </p:nvSpPr>
        <p:spPr>
          <a:xfrm>
            <a:off x="793790" y="3939659"/>
            <a:ext cx="4054197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Що вставити замість цього блоку</a:t>
            </a:r>
            <a:endParaRPr b="0" i="0" sz="1950" u="none" cap="none" strike="noStrike"/>
          </a:p>
        </p:txBody>
      </p:sp>
      <p:sp>
        <p:nvSpPr>
          <p:cNvPr id="333" name="Google Shape;333;p38"/>
          <p:cNvSpPr/>
          <p:nvPr/>
        </p:nvSpPr>
        <p:spPr>
          <a:xfrm>
            <a:off x="793790" y="4448175"/>
            <a:ext cx="6279356" cy="186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Графік із логера (час vs. значення сенсора)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Осцилограма сигналу до і після фільтрації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Скріншот Serial Monitor або аналізатора протоколу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Фото готового пристрою в роботі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•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QR-код на відео демонстрації</a:t>
            </a:r>
            <a:endParaRPr b="0" i="0" sz="1550" u="none" cap="none" strike="noStrike"/>
          </a:p>
        </p:txBody>
      </p:sp>
      <p:sp>
        <p:nvSpPr>
          <p:cNvPr id="334" name="Google Shape;334;p38"/>
          <p:cNvSpPr/>
          <p:nvPr/>
        </p:nvSpPr>
        <p:spPr>
          <a:xfrm>
            <a:off x="7421999" y="3741301"/>
            <a:ext cx="6565106" cy="2830354"/>
          </a:xfrm>
          <a:prstGeom prst="roundRect">
            <a:avLst>
              <a:gd fmla="val 5049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8"/>
          <p:cNvSpPr/>
          <p:nvPr/>
        </p:nvSpPr>
        <p:spPr>
          <a:xfrm>
            <a:off x="7620357" y="3939659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Правило "до і після"</a:t>
            </a:r>
            <a:endParaRPr b="0" i="0" sz="1950" u="none" cap="none" strike="noStrike"/>
          </a:p>
        </p:txBody>
      </p:sp>
      <p:sp>
        <p:nvSpPr>
          <p:cNvPr id="336" name="Google Shape;336;p38"/>
          <p:cNvSpPr/>
          <p:nvPr/>
        </p:nvSpPr>
        <p:spPr>
          <a:xfrm>
            <a:off x="7620357" y="4448175"/>
            <a:ext cx="6168390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Найпереконливіший формат результатів — це порівняння стану до і після твого рішення. Два графіки поруч — і аудиторія одразу бачить цінність роботи.</a:t>
            </a:r>
            <a:endParaRPr b="0" i="0" sz="1550" u="none" cap="none" strike="noStrike"/>
          </a:p>
        </p:txBody>
      </p:sp>
      <p:sp>
        <p:nvSpPr>
          <p:cNvPr id="337" name="Google Shape;337;p38"/>
          <p:cNvSpPr/>
          <p:nvPr/>
        </p:nvSpPr>
        <p:spPr>
          <a:xfrm>
            <a:off x="7620357" y="5579388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До: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[Опис стану системи без рішення]</a:t>
            </a:r>
            <a:endParaRPr b="0" i="0" sz="1550" u="none" cap="none" strike="noStrike"/>
          </a:p>
        </p:txBody>
      </p:sp>
      <p:sp>
        <p:nvSpPr>
          <p:cNvPr id="338" name="Google Shape;338;p38"/>
          <p:cNvSpPr/>
          <p:nvPr/>
        </p:nvSpPr>
        <p:spPr>
          <a:xfrm>
            <a:off x="7620357" y="6075521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1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Після:</a:t>
            </a: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 [Опис стану системи з рішенням]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9"/>
          <p:cNvSpPr/>
          <p:nvPr/>
        </p:nvSpPr>
        <p:spPr>
          <a:xfrm>
            <a:off x="793790" y="1451491"/>
            <a:ext cx="1928098" cy="373142"/>
          </a:xfrm>
          <a:prstGeom prst="roundRect">
            <a:avLst>
              <a:gd fmla="val 17872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9"/>
          <p:cNvSpPr/>
          <p:nvPr/>
        </p:nvSpPr>
        <p:spPr>
          <a:xfrm>
            <a:off x="912850" y="1511025"/>
            <a:ext cx="203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СЛАЙД 6 — ЩО ДАЛІ</a:t>
            </a:r>
            <a:endParaRPr b="0" i="0" sz="1250" u="none" cap="none" strike="noStrike"/>
          </a:p>
        </p:txBody>
      </p:sp>
      <p:sp>
        <p:nvSpPr>
          <p:cNvPr id="346" name="Google Shape;346;p39"/>
          <p:cNvSpPr/>
          <p:nvPr/>
        </p:nvSpPr>
        <p:spPr>
          <a:xfrm>
            <a:off x="793790" y="1903928"/>
            <a:ext cx="7477244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Що далі: можливі покращення</a:t>
            </a:r>
            <a:endParaRPr b="0" i="0" sz="3900" u="none" cap="none" strike="noStrike"/>
          </a:p>
        </p:txBody>
      </p:sp>
      <p:pic>
        <p:nvPicPr>
          <p:cNvPr descr="preencoded.png" id="347" name="Google Shape;34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21662"/>
            <a:ext cx="4347567" cy="79379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9"/>
          <p:cNvSpPr/>
          <p:nvPr/>
        </p:nvSpPr>
        <p:spPr>
          <a:xfrm>
            <a:off x="992148" y="381381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Поточний стан</a:t>
            </a:r>
            <a:endParaRPr b="0" i="0" sz="1950" u="none" cap="none" strike="noStrike"/>
          </a:p>
        </p:txBody>
      </p:sp>
      <p:sp>
        <p:nvSpPr>
          <p:cNvPr id="349" name="Google Shape;349;p39"/>
          <p:cNvSpPr/>
          <p:nvPr/>
        </p:nvSpPr>
        <p:spPr>
          <a:xfrm>
            <a:off x="992148" y="4243030"/>
            <a:ext cx="395085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[Що реалізовано зараз. Де є обмеження або компроміси, на які ви пішли свідомо?]</a:t>
            </a:r>
            <a:endParaRPr b="0" i="0" sz="1550" u="none" cap="none" strike="noStrike"/>
          </a:p>
        </p:txBody>
      </p:sp>
      <p:pic>
        <p:nvPicPr>
          <p:cNvPr descr="preencoded.png" id="350" name="Google Shape;35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2821662"/>
            <a:ext cx="4347567" cy="79379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9"/>
          <p:cNvSpPr/>
          <p:nvPr/>
        </p:nvSpPr>
        <p:spPr>
          <a:xfrm>
            <a:off x="5339715" y="381381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Наступний крок</a:t>
            </a:r>
            <a:endParaRPr b="0" i="0" sz="1950" u="none" cap="none" strike="noStrike"/>
          </a:p>
        </p:txBody>
      </p:sp>
      <p:sp>
        <p:nvSpPr>
          <p:cNvPr id="352" name="Google Shape;352;p39"/>
          <p:cNvSpPr/>
          <p:nvPr/>
        </p:nvSpPr>
        <p:spPr>
          <a:xfrm>
            <a:off x="5339715" y="4243030"/>
            <a:ext cx="3950851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[Найважливіше покращення, яке хочеться зробити. Чому саме воно пріоритетне? Що технічно заважало зробити це зараз?]</a:t>
            </a:r>
            <a:endParaRPr b="0" i="0" sz="1550" u="none" cap="none" strike="noStrike"/>
          </a:p>
        </p:txBody>
      </p:sp>
      <p:pic>
        <p:nvPicPr>
          <p:cNvPr descr="preencoded.png" id="353" name="Google Shape;35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2821662"/>
            <a:ext cx="4347567" cy="79379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9"/>
          <p:cNvSpPr/>
          <p:nvPr/>
        </p:nvSpPr>
        <p:spPr>
          <a:xfrm>
            <a:off x="9687282" y="3813810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Довгострокова ціль</a:t>
            </a:r>
            <a:endParaRPr b="0" i="0" sz="1950" u="none" cap="none" strike="noStrike"/>
          </a:p>
        </p:txBody>
      </p:sp>
      <p:sp>
        <p:nvSpPr>
          <p:cNvPr id="355" name="Google Shape;355;p39"/>
          <p:cNvSpPr/>
          <p:nvPr/>
        </p:nvSpPr>
        <p:spPr>
          <a:xfrm>
            <a:off x="9687282" y="4243030"/>
            <a:ext cx="3950851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[Як виглядає повністю завершена версія цього проєкту? Де його можна застосувати в реальному продукті?]</a:t>
            </a:r>
            <a:endParaRPr b="0" i="0" sz="1550" u="none" cap="none" strike="noStrike"/>
          </a:p>
        </p:txBody>
      </p:sp>
      <p:sp>
        <p:nvSpPr>
          <p:cNvPr id="356" name="Google Shape;356;p39"/>
          <p:cNvSpPr/>
          <p:nvPr/>
        </p:nvSpPr>
        <p:spPr>
          <a:xfrm>
            <a:off x="793790" y="5934789"/>
            <a:ext cx="13042821" cy="843201"/>
          </a:xfrm>
          <a:prstGeom prst="roundRect">
            <a:avLst>
              <a:gd fmla="val 9886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148" y="6230064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9"/>
          <p:cNvSpPr/>
          <p:nvPr/>
        </p:nvSpPr>
        <p:spPr>
          <a:xfrm>
            <a:off x="1438513" y="6182677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💡 Не треба розповісти все — достатньо дати чітку нитку </a:t>
            </a:r>
            <a:r>
              <a:rPr lang="en-US" sz="1550">
                <a:latin typeface="Nunito Sans"/>
                <a:ea typeface="Nunito Sans"/>
                <a:cs typeface="Nunito Sans"/>
                <a:sym typeface="Nunito Sans"/>
              </a:rPr>
              <a:t>ідей</a:t>
            </a: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. Залишайся відкритим до уточнень від аудиторії.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/>
          <p:nvPr/>
        </p:nvSpPr>
        <p:spPr>
          <a:xfrm>
            <a:off x="793790" y="704017"/>
            <a:ext cx="10345936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Правила слайдів для інженерної аудиторії</a:t>
            </a:r>
            <a:endParaRPr b="0" i="0" sz="3900" u="none" cap="none" strike="noStrike"/>
          </a:p>
        </p:txBody>
      </p:sp>
      <p:sp>
        <p:nvSpPr>
          <p:cNvPr id="365" name="Google Shape;365;p40"/>
          <p:cNvSpPr/>
          <p:nvPr/>
        </p:nvSpPr>
        <p:spPr>
          <a:xfrm>
            <a:off x="793790" y="1720929"/>
            <a:ext cx="13042821" cy="843201"/>
          </a:xfrm>
          <a:prstGeom prst="roundRect">
            <a:avLst>
              <a:gd fmla="val 988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2016204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0"/>
          <p:cNvSpPr/>
          <p:nvPr/>
        </p:nvSpPr>
        <p:spPr>
          <a:xfrm>
            <a:off x="1438513" y="1968817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⚠️ Цей слайд — теж для тебе. Видали його перед захистом.</a:t>
            </a:r>
            <a:endParaRPr b="0" i="0" sz="1550" u="none" cap="none" strike="noStrike"/>
          </a:p>
        </p:txBody>
      </p:sp>
      <p:sp>
        <p:nvSpPr>
          <p:cNvPr id="368" name="Google Shape;368;p40"/>
          <p:cNvSpPr/>
          <p:nvPr/>
        </p:nvSpPr>
        <p:spPr>
          <a:xfrm>
            <a:off x="793790" y="2787372"/>
            <a:ext cx="6422231" cy="2269927"/>
          </a:xfrm>
          <a:prstGeom prst="roundRect">
            <a:avLst>
              <a:gd fmla="val 3672" name="adj"/>
            </a:avLst>
          </a:prstGeom>
          <a:solidFill>
            <a:srgbClr val="ECE7E2"/>
          </a:solidFill>
          <a:ln cap="flat" cmpd="sng" w="9525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0"/>
          <p:cNvSpPr/>
          <p:nvPr/>
        </p:nvSpPr>
        <p:spPr>
          <a:xfrm>
            <a:off x="999768" y="2993350"/>
            <a:ext cx="595313" cy="595313"/>
          </a:xfrm>
          <a:prstGeom prst="roundRect">
            <a:avLst>
              <a:gd fmla="val 15358451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3479" y="3156942"/>
            <a:ext cx="267891" cy="26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0"/>
          <p:cNvSpPr/>
          <p:nvPr/>
        </p:nvSpPr>
        <p:spPr>
          <a:xfrm>
            <a:off x="999768" y="3787021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Одна ідея на слайд</a:t>
            </a:r>
            <a:endParaRPr b="0" i="0" sz="1950" u="none" cap="none" strike="noStrike"/>
          </a:p>
        </p:txBody>
      </p:sp>
      <p:sp>
        <p:nvSpPr>
          <p:cNvPr id="372" name="Google Shape;372;p40"/>
          <p:cNvSpPr/>
          <p:nvPr/>
        </p:nvSpPr>
        <p:spPr>
          <a:xfrm>
            <a:off x="999768" y="4216241"/>
            <a:ext cx="601027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Аудиторія має зчитати суть за 2–3 секунди. Якщо на слайді дві ідеї — зроби два слайди.</a:t>
            </a:r>
            <a:endParaRPr b="0" i="0" sz="1550" u="none" cap="none" strike="noStrike"/>
          </a:p>
        </p:txBody>
      </p:sp>
      <p:sp>
        <p:nvSpPr>
          <p:cNvPr id="373" name="Google Shape;373;p40"/>
          <p:cNvSpPr/>
          <p:nvPr/>
        </p:nvSpPr>
        <p:spPr>
          <a:xfrm>
            <a:off x="7414379" y="2787372"/>
            <a:ext cx="6422231" cy="2269927"/>
          </a:xfrm>
          <a:prstGeom prst="roundRect">
            <a:avLst>
              <a:gd fmla="val 3672" name="adj"/>
            </a:avLst>
          </a:prstGeom>
          <a:solidFill>
            <a:srgbClr val="ECE7E2"/>
          </a:solidFill>
          <a:ln cap="flat" cmpd="sng" w="9525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0"/>
          <p:cNvSpPr/>
          <p:nvPr/>
        </p:nvSpPr>
        <p:spPr>
          <a:xfrm>
            <a:off x="7620357" y="2993350"/>
            <a:ext cx="595313" cy="595313"/>
          </a:xfrm>
          <a:prstGeom prst="roundRect">
            <a:avLst>
              <a:gd fmla="val 15358451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4068" y="3156942"/>
            <a:ext cx="267891" cy="26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0"/>
          <p:cNvSpPr/>
          <p:nvPr/>
        </p:nvSpPr>
        <p:spPr>
          <a:xfrm>
            <a:off x="7620357" y="3787021"/>
            <a:ext cx="253888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Схеми замість тексту</a:t>
            </a:r>
            <a:endParaRPr b="0" i="0" sz="1950" u="none" cap="none" strike="noStrike"/>
          </a:p>
        </p:txBody>
      </p:sp>
      <p:sp>
        <p:nvSpPr>
          <p:cNvPr id="377" name="Google Shape;377;p40"/>
          <p:cNvSpPr/>
          <p:nvPr/>
        </p:nvSpPr>
        <p:spPr>
          <a:xfrm>
            <a:off x="7620357" y="4216241"/>
            <a:ext cx="601027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Там де можна намалювати — малюй. Блок-діаграма, схема, граф станів — замість трьох абзаців.</a:t>
            </a:r>
            <a:endParaRPr b="0" i="0" sz="1550" u="none" cap="none" strike="noStrike"/>
          </a:p>
        </p:txBody>
      </p:sp>
      <p:sp>
        <p:nvSpPr>
          <p:cNvPr id="378" name="Google Shape;378;p40"/>
          <p:cNvSpPr/>
          <p:nvPr/>
        </p:nvSpPr>
        <p:spPr>
          <a:xfrm>
            <a:off x="793790" y="5255657"/>
            <a:ext cx="6422231" cy="2269927"/>
          </a:xfrm>
          <a:prstGeom prst="roundRect">
            <a:avLst>
              <a:gd fmla="val 3672" name="adj"/>
            </a:avLst>
          </a:prstGeom>
          <a:solidFill>
            <a:srgbClr val="ECE7E2"/>
          </a:solidFill>
          <a:ln cap="flat" cmpd="sng" w="9525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"/>
          <p:cNvSpPr/>
          <p:nvPr/>
        </p:nvSpPr>
        <p:spPr>
          <a:xfrm>
            <a:off x="999768" y="5461635"/>
            <a:ext cx="595313" cy="595313"/>
          </a:xfrm>
          <a:prstGeom prst="roundRect">
            <a:avLst>
              <a:gd fmla="val 15358451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3479" y="5625227"/>
            <a:ext cx="267891" cy="26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0"/>
          <p:cNvSpPr/>
          <p:nvPr/>
        </p:nvSpPr>
        <p:spPr>
          <a:xfrm>
            <a:off x="999768" y="6255306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Конкретні числа</a:t>
            </a:r>
            <a:endParaRPr b="0" i="0" sz="1950" u="none" cap="none" strike="noStrike"/>
          </a:p>
        </p:txBody>
      </p:sp>
      <p:sp>
        <p:nvSpPr>
          <p:cNvPr id="382" name="Google Shape;382;p40"/>
          <p:cNvSpPr/>
          <p:nvPr/>
        </p:nvSpPr>
        <p:spPr>
          <a:xfrm>
            <a:off x="999768" y="6684526"/>
            <a:ext cx="601027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Не "швидкість зросла" — а "затримка зменшилась з 120 мс до 18 мс". Цифри переконують.</a:t>
            </a:r>
            <a:endParaRPr b="0" i="0" sz="1550" u="none" cap="none" strike="noStrike"/>
          </a:p>
        </p:txBody>
      </p:sp>
      <p:sp>
        <p:nvSpPr>
          <p:cNvPr id="383" name="Google Shape;383;p40"/>
          <p:cNvSpPr/>
          <p:nvPr/>
        </p:nvSpPr>
        <p:spPr>
          <a:xfrm>
            <a:off x="7414379" y="5255657"/>
            <a:ext cx="6422231" cy="2269927"/>
          </a:xfrm>
          <a:prstGeom prst="roundRect">
            <a:avLst>
              <a:gd fmla="val 3672" name="adj"/>
            </a:avLst>
          </a:prstGeom>
          <a:solidFill>
            <a:srgbClr val="ECE7E2"/>
          </a:solidFill>
          <a:ln cap="flat" cmpd="sng" w="9525">
            <a:solidFill>
              <a:srgbClr val="D2CD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0"/>
          <p:cNvSpPr/>
          <p:nvPr/>
        </p:nvSpPr>
        <p:spPr>
          <a:xfrm>
            <a:off x="7620357" y="5461635"/>
            <a:ext cx="595313" cy="595313"/>
          </a:xfrm>
          <a:prstGeom prst="roundRect">
            <a:avLst>
              <a:gd fmla="val 15358451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5" name="Google Shape;38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4068" y="5625227"/>
            <a:ext cx="267891" cy="26789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0"/>
          <p:cNvSpPr/>
          <p:nvPr/>
        </p:nvSpPr>
        <p:spPr>
          <a:xfrm>
            <a:off x="7620357" y="6255306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Не читай зі слайду</a:t>
            </a:r>
            <a:endParaRPr b="0" i="0" sz="1950" u="none" cap="none" strike="noStrike"/>
          </a:p>
        </p:txBody>
      </p:sp>
      <p:sp>
        <p:nvSpPr>
          <p:cNvPr id="387" name="Google Shape;387;p40"/>
          <p:cNvSpPr/>
          <p:nvPr/>
        </p:nvSpPr>
        <p:spPr>
          <a:xfrm>
            <a:off x="7620357" y="6684526"/>
            <a:ext cx="601027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Слайд лише підтримує твою думку, а не замінює її. Говори — слайд ілюструє.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3" name="Google Shape;3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1"/>
          <p:cNvSpPr/>
          <p:nvPr/>
        </p:nvSpPr>
        <p:spPr>
          <a:xfrm>
            <a:off x="6280190" y="3578543"/>
            <a:ext cx="2017514" cy="373142"/>
          </a:xfrm>
          <a:prstGeom prst="roundRect">
            <a:avLst>
              <a:gd fmla="val 17872" name="adj"/>
            </a:avLst>
          </a:prstGeom>
          <a:solidFill>
            <a:srgbClr val="DAE5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1"/>
          <p:cNvSpPr/>
          <p:nvPr/>
        </p:nvSpPr>
        <p:spPr>
          <a:xfrm>
            <a:off x="6399250" y="3638075"/>
            <a:ext cx="2017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Nunito Sans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ФІНАЛЬНА ПЕРЕВІРКА</a:t>
            </a:r>
            <a:endParaRPr b="0" i="0" sz="1250" u="none" cap="none" strike="noStrike"/>
          </a:p>
        </p:txBody>
      </p:sp>
      <p:sp>
        <p:nvSpPr>
          <p:cNvPr id="396" name="Google Shape;396;p41"/>
          <p:cNvSpPr/>
          <p:nvPr/>
        </p:nvSpPr>
        <p:spPr>
          <a:xfrm>
            <a:off x="6280201" y="4030975"/>
            <a:ext cx="68547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Чек-листи перед захистом</a:t>
            </a:r>
            <a:endParaRPr b="0" i="0" sz="390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"/>
          <p:cNvSpPr/>
          <p:nvPr/>
        </p:nvSpPr>
        <p:spPr>
          <a:xfrm>
            <a:off x="793790" y="832128"/>
            <a:ext cx="7801808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Фінальний чек-лист презентації</a:t>
            </a:r>
            <a:endParaRPr b="0" i="0" sz="3900" u="none" cap="none" strike="noStrike"/>
          </a:p>
        </p:txBody>
      </p:sp>
      <p:sp>
        <p:nvSpPr>
          <p:cNvPr id="403" name="Google Shape;403;p42"/>
          <p:cNvSpPr/>
          <p:nvPr/>
        </p:nvSpPr>
        <p:spPr>
          <a:xfrm>
            <a:off x="793790" y="1849041"/>
            <a:ext cx="13042821" cy="843201"/>
          </a:xfrm>
          <a:prstGeom prst="roundRect">
            <a:avLst>
              <a:gd fmla="val 988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4" name="Google Shape;40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2144316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2"/>
          <p:cNvSpPr/>
          <p:nvPr/>
        </p:nvSpPr>
        <p:spPr>
          <a:xfrm>
            <a:off x="1438513" y="2096929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⚠️ Цей слайд — теж для тебе. Видали його перед захистом.</a:t>
            </a:r>
            <a:endParaRPr b="0" i="0" sz="1550" u="none" cap="none" strike="noStrike"/>
          </a:p>
        </p:txBody>
      </p:sp>
      <p:sp>
        <p:nvSpPr>
          <p:cNvPr id="406" name="Google Shape;406;p42"/>
          <p:cNvSpPr/>
          <p:nvPr/>
        </p:nvSpPr>
        <p:spPr>
          <a:xfrm>
            <a:off x="793790" y="311384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Зміст презентації</a:t>
            </a:r>
            <a:endParaRPr b="0" i="0" sz="1950" u="none" cap="none" strike="noStrike"/>
          </a:p>
        </p:txBody>
      </p:sp>
      <p:sp>
        <p:nvSpPr>
          <p:cNvPr id="407" name="Google Shape;407;p42"/>
          <p:cNvSpPr/>
          <p:nvPr/>
        </p:nvSpPr>
        <p:spPr>
          <a:xfrm>
            <a:off x="793790" y="3622358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Видалено всі інструктивні слайди (перший і цей)</a:t>
            </a:r>
            <a:endParaRPr b="0" i="0" sz="1550" u="none" cap="none" strike="noStrike"/>
          </a:p>
        </p:txBody>
      </p:sp>
      <p:sp>
        <p:nvSpPr>
          <p:cNvPr id="408" name="Google Shape;408;p42"/>
          <p:cNvSpPr/>
          <p:nvPr/>
        </p:nvSpPr>
        <p:spPr>
          <a:xfrm>
            <a:off x="793790" y="3681770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2"/>
          <p:cNvSpPr/>
          <p:nvPr/>
        </p:nvSpPr>
        <p:spPr>
          <a:xfrm>
            <a:off x="793790" y="4009311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Замінено всі [placeholders] реальним контентом</a:t>
            </a:r>
            <a:endParaRPr b="0" i="0" sz="1550" u="none" cap="none" strike="noStrike"/>
          </a:p>
        </p:txBody>
      </p:sp>
      <p:sp>
        <p:nvSpPr>
          <p:cNvPr id="410" name="Google Shape;410;p42"/>
          <p:cNvSpPr/>
          <p:nvPr/>
        </p:nvSpPr>
        <p:spPr>
          <a:xfrm>
            <a:off x="793790" y="4068723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2"/>
          <p:cNvSpPr/>
          <p:nvPr/>
        </p:nvSpPr>
        <p:spPr>
          <a:xfrm>
            <a:off x="793790" y="4396264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Є конкретні числа в результатах (не "стало краще")</a:t>
            </a:r>
            <a:endParaRPr b="0" i="0" sz="1550" u="none" cap="none" strike="noStrike"/>
          </a:p>
        </p:txBody>
      </p:sp>
      <p:sp>
        <p:nvSpPr>
          <p:cNvPr id="412" name="Google Shape;412;p42"/>
          <p:cNvSpPr/>
          <p:nvPr/>
        </p:nvSpPr>
        <p:spPr>
          <a:xfrm>
            <a:off x="793790" y="4455676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2"/>
          <p:cNvSpPr/>
          <p:nvPr/>
        </p:nvSpPr>
        <p:spPr>
          <a:xfrm>
            <a:off x="793790" y="4783217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Є схема або блок-діаграма архітектури</a:t>
            </a:r>
            <a:endParaRPr b="0" i="0" sz="1550" u="none" cap="none" strike="noStrike"/>
          </a:p>
        </p:txBody>
      </p:sp>
      <p:sp>
        <p:nvSpPr>
          <p:cNvPr id="414" name="Google Shape;414;p42"/>
          <p:cNvSpPr/>
          <p:nvPr/>
        </p:nvSpPr>
        <p:spPr>
          <a:xfrm>
            <a:off x="793790" y="4842629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2"/>
          <p:cNvSpPr/>
          <p:nvPr/>
        </p:nvSpPr>
        <p:spPr>
          <a:xfrm>
            <a:off x="793790" y="5170170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Є фрагмент коду або осцилограма</a:t>
            </a:r>
            <a:endParaRPr b="0" i="0" sz="1550" u="none" cap="none" strike="noStrike"/>
          </a:p>
        </p:txBody>
      </p:sp>
      <p:sp>
        <p:nvSpPr>
          <p:cNvPr id="416" name="Google Shape;416;p42"/>
          <p:cNvSpPr/>
          <p:nvPr/>
        </p:nvSpPr>
        <p:spPr>
          <a:xfrm>
            <a:off x="793790" y="5229582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2"/>
          <p:cNvSpPr/>
          <p:nvPr/>
        </p:nvSpPr>
        <p:spPr>
          <a:xfrm>
            <a:off x="793790" y="5557123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Зачіп — питання без відповіді, а не "я зробив X"</a:t>
            </a:r>
            <a:endParaRPr b="0" i="0" sz="1550" u="none" cap="none" strike="noStrike"/>
          </a:p>
        </p:txBody>
      </p:sp>
      <p:sp>
        <p:nvSpPr>
          <p:cNvPr id="418" name="Google Shape;418;p42"/>
          <p:cNvSpPr/>
          <p:nvPr/>
        </p:nvSpPr>
        <p:spPr>
          <a:xfrm>
            <a:off x="793790" y="5616535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2"/>
          <p:cNvSpPr/>
          <p:nvPr/>
        </p:nvSpPr>
        <p:spPr>
          <a:xfrm>
            <a:off x="793790" y="5944076"/>
            <a:ext cx="6279356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Є чітка нитка "що далі"</a:t>
            </a:r>
            <a:endParaRPr b="0" i="0" sz="1550" u="none" cap="none" strike="noStrike"/>
          </a:p>
        </p:txBody>
      </p:sp>
      <p:sp>
        <p:nvSpPr>
          <p:cNvPr id="420" name="Google Shape;420;p42"/>
          <p:cNvSpPr/>
          <p:nvPr/>
        </p:nvSpPr>
        <p:spPr>
          <a:xfrm>
            <a:off x="793790" y="6003488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2"/>
          <p:cNvSpPr/>
          <p:nvPr/>
        </p:nvSpPr>
        <p:spPr>
          <a:xfrm>
            <a:off x="7421999" y="2915483"/>
            <a:ext cx="6565106" cy="3415546"/>
          </a:xfrm>
          <a:prstGeom prst="roundRect">
            <a:avLst>
              <a:gd fmla="val 4184" name="adj"/>
            </a:avLst>
          </a:prstGeom>
          <a:solidFill>
            <a:srgbClr val="C5D6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2"/>
          <p:cNvSpPr/>
          <p:nvPr/>
        </p:nvSpPr>
        <p:spPr>
          <a:xfrm>
            <a:off x="7620357" y="311384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950"/>
              <a:buFont typeface="Nunito Sans"/>
              <a:buNone/>
            </a:pPr>
            <a:r>
              <a:rPr b="1" i="0" lang="en-US" sz="195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Форма та подача</a:t>
            </a:r>
            <a:endParaRPr b="0" i="0" sz="1950" u="none" cap="none" strike="noStrike"/>
          </a:p>
        </p:txBody>
      </p:sp>
      <p:sp>
        <p:nvSpPr>
          <p:cNvPr id="423" name="Google Shape;423;p42"/>
          <p:cNvSpPr/>
          <p:nvPr/>
        </p:nvSpPr>
        <p:spPr>
          <a:xfrm>
            <a:off x="7620357" y="3622358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Не більше 12 слайдів у фінальній версії</a:t>
            </a:r>
            <a:endParaRPr b="0" i="0" sz="1550" u="none" cap="none" strike="noStrike"/>
          </a:p>
        </p:txBody>
      </p:sp>
      <p:sp>
        <p:nvSpPr>
          <p:cNvPr id="424" name="Google Shape;424;p42"/>
          <p:cNvSpPr/>
          <p:nvPr/>
        </p:nvSpPr>
        <p:spPr>
          <a:xfrm>
            <a:off x="7620357" y="3681770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41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2"/>
          <p:cNvSpPr/>
          <p:nvPr/>
        </p:nvSpPr>
        <p:spPr>
          <a:xfrm>
            <a:off x="7620357" y="4009311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Шрифт не менший за 30pt скрізь</a:t>
            </a:r>
            <a:endParaRPr b="0" i="0" sz="1550" u="none" cap="none" strike="noStrike"/>
          </a:p>
        </p:txBody>
      </p:sp>
      <p:sp>
        <p:nvSpPr>
          <p:cNvPr id="426" name="Google Shape;426;p42"/>
          <p:cNvSpPr/>
          <p:nvPr/>
        </p:nvSpPr>
        <p:spPr>
          <a:xfrm>
            <a:off x="7620357" y="4068723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41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2"/>
          <p:cNvSpPr/>
          <p:nvPr/>
        </p:nvSpPr>
        <p:spPr>
          <a:xfrm>
            <a:off x="7620357" y="4396264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Один слайд — одна ідея</a:t>
            </a:r>
            <a:endParaRPr b="0" i="0" sz="1550" u="none" cap="none" strike="noStrike"/>
          </a:p>
        </p:txBody>
      </p:sp>
      <p:sp>
        <p:nvSpPr>
          <p:cNvPr id="428" name="Google Shape;428;p42"/>
          <p:cNvSpPr/>
          <p:nvPr/>
        </p:nvSpPr>
        <p:spPr>
          <a:xfrm>
            <a:off x="7620357" y="4455676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41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2"/>
          <p:cNvSpPr/>
          <p:nvPr/>
        </p:nvSpPr>
        <p:spPr>
          <a:xfrm>
            <a:off x="7620357" y="4783217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Є репетиція вголос (не тільки про себе)</a:t>
            </a:r>
            <a:endParaRPr b="0" i="0" sz="1550" u="none" cap="none" strike="noStrike"/>
          </a:p>
        </p:txBody>
      </p:sp>
      <p:sp>
        <p:nvSpPr>
          <p:cNvPr id="430" name="Google Shape;430;p42"/>
          <p:cNvSpPr/>
          <p:nvPr/>
        </p:nvSpPr>
        <p:spPr>
          <a:xfrm>
            <a:off x="7620357" y="4842629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41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2"/>
          <p:cNvSpPr/>
          <p:nvPr/>
        </p:nvSpPr>
        <p:spPr>
          <a:xfrm>
            <a:off x="7620357" y="5170170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Тривалість вкладається в 10-15 хвилин</a:t>
            </a:r>
            <a:endParaRPr b="0" i="0" sz="1550" u="none" cap="none" strike="noStrike"/>
          </a:p>
        </p:txBody>
      </p:sp>
      <p:sp>
        <p:nvSpPr>
          <p:cNvPr id="432" name="Google Shape;432;p42"/>
          <p:cNvSpPr/>
          <p:nvPr/>
        </p:nvSpPr>
        <p:spPr>
          <a:xfrm>
            <a:off x="7620357" y="5229582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41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2"/>
          <p:cNvSpPr/>
          <p:nvPr/>
        </p:nvSpPr>
        <p:spPr>
          <a:xfrm>
            <a:off x="7620357" y="5557123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Відповіді на 3–5 можливих питань підготовлені</a:t>
            </a:r>
            <a:endParaRPr b="0" i="0" sz="1550" u="none" cap="none" strike="noStrike"/>
          </a:p>
        </p:txBody>
      </p:sp>
      <p:sp>
        <p:nvSpPr>
          <p:cNvPr id="434" name="Google Shape;434;p42"/>
          <p:cNvSpPr/>
          <p:nvPr/>
        </p:nvSpPr>
        <p:spPr>
          <a:xfrm>
            <a:off x="7620357" y="5616535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41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2"/>
          <p:cNvSpPr/>
          <p:nvPr/>
        </p:nvSpPr>
        <p:spPr>
          <a:xfrm>
            <a:off x="7620357" y="5944076"/>
            <a:ext cx="6168390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Титульний слайд містить коректне ім'я і групу</a:t>
            </a:r>
            <a:endParaRPr b="0" i="0" sz="1550" u="none" cap="none" strike="noStrike"/>
          </a:p>
        </p:txBody>
      </p:sp>
      <p:sp>
        <p:nvSpPr>
          <p:cNvPr id="436" name="Google Shape;436;p42"/>
          <p:cNvSpPr/>
          <p:nvPr/>
        </p:nvSpPr>
        <p:spPr>
          <a:xfrm>
            <a:off x="7620357" y="6003488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414C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2"/>
          <p:cNvSpPr/>
          <p:nvPr/>
        </p:nvSpPr>
        <p:spPr>
          <a:xfrm>
            <a:off x="793790" y="6554272"/>
            <a:ext cx="13042821" cy="843201"/>
          </a:xfrm>
          <a:prstGeom prst="roundRect">
            <a:avLst>
              <a:gd fmla="val 9886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148" y="6849547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2"/>
          <p:cNvSpPr/>
          <p:nvPr/>
        </p:nvSpPr>
        <p:spPr>
          <a:xfrm>
            <a:off x="1438513" y="6802160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✅ Якщо всі пункти відмічені — ти готовий до захисту. Вдачі!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"/>
          <p:cNvSpPr/>
          <p:nvPr/>
        </p:nvSpPr>
        <p:spPr>
          <a:xfrm>
            <a:off x="793790" y="2023824"/>
            <a:ext cx="13042821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3900"/>
              <a:buFont typeface="Nunito Sans"/>
              <a:buNone/>
            </a:pPr>
            <a:r>
              <a:rPr b="1" i="0" lang="en-US" sz="3900" u="none" cap="none" strike="noStrike">
                <a:solidFill>
                  <a:srgbClr val="080808"/>
                </a:solidFill>
                <a:latin typeface="Nunito Sans"/>
                <a:ea typeface="Nunito Sans"/>
                <a:cs typeface="Nunito Sans"/>
                <a:sym typeface="Nunito Sans"/>
              </a:rPr>
              <a:t>Підготовка поза презентацією (видалити перед захистом)</a:t>
            </a:r>
            <a:endParaRPr b="0" i="0" sz="3900" u="none" cap="none" strike="noStrike"/>
          </a:p>
        </p:txBody>
      </p:sp>
      <p:sp>
        <p:nvSpPr>
          <p:cNvPr id="446" name="Google Shape;446;p43"/>
          <p:cNvSpPr/>
          <p:nvPr/>
        </p:nvSpPr>
        <p:spPr>
          <a:xfrm>
            <a:off x="793790" y="3660815"/>
            <a:ext cx="13042821" cy="843201"/>
          </a:xfrm>
          <a:prstGeom prst="roundRect">
            <a:avLst>
              <a:gd fmla="val 988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3956090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3"/>
          <p:cNvSpPr/>
          <p:nvPr/>
        </p:nvSpPr>
        <p:spPr>
          <a:xfrm>
            <a:off x="1438513" y="3908703"/>
            <a:ext cx="1219973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⚠️ Цей слайд — для тебе. Видали його перед захистом.</a:t>
            </a:r>
            <a:endParaRPr b="0" i="0" sz="1550" u="none" cap="none" strike="noStrike"/>
          </a:p>
        </p:txBody>
      </p:sp>
      <p:sp>
        <p:nvSpPr>
          <p:cNvPr id="449" name="Google Shape;449;p43"/>
          <p:cNvSpPr/>
          <p:nvPr/>
        </p:nvSpPr>
        <p:spPr>
          <a:xfrm>
            <a:off x="793790" y="4727257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Оформити README свого проєкту за наведеною структурою</a:t>
            </a:r>
            <a:endParaRPr b="0" i="0" sz="1550" u="none" cap="none" strike="noStrike"/>
          </a:p>
        </p:txBody>
      </p:sp>
      <p:sp>
        <p:nvSpPr>
          <p:cNvPr id="450" name="Google Shape;450;p43"/>
          <p:cNvSpPr/>
          <p:nvPr/>
        </p:nvSpPr>
        <p:spPr>
          <a:xfrm>
            <a:off x="793790" y="4786670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3"/>
          <p:cNvSpPr/>
          <p:nvPr/>
        </p:nvSpPr>
        <p:spPr>
          <a:xfrm>
            <a:off x="793790" y="5114211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Створити Release v1.0.0 у GitHub з описом змін</a:t>
            </a:r>
            <a:endParaRPr b="0" i="0" sz="1550" u="none" cap="none" strike="noStrike"/>
          </a:p>
        </p:txBody>
      </p:sp>
      <p:sp>
        <p:nvSpPr>
          <p:cNvPr id="452" name="Google Shape;452;p43"/>
          <p:cNvSpPr/>
          <p:nvPr/>
        </p:nvSpPr>
        <p:spPr>
          <a:xfrm>
            <a:off x="793790" y="5173623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3"/>
          <p:cNvSpPr/>
          <p:nvPr/>
        </p:nvSpPr>
        <p:spPr>
          <a:xfrm>
            <a:off x="793790" y="5501164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Бути готовим пояснити 2 ключових архітектурних рішення свого проєкту</a:t>
            </a:r>
            <a:endParaRPr b="0" i="0" sz="1550" u="none" cap="none" strike="noStrike"/>
          </a:p>
        </p:txBody>
      </p:sp>
      <p:sp>
        <p:nvSpPr>
          <p:cNvPr id="454" name="Google Shape;454;p43"/>
          <p:cNvSpPr/>
          <p:nvPr/>
        </p:nvSpPr>
        <p:spPr>
          <a:xfrm>
            <a:off x="793790" y="5560576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3"/>
          <p:cNvSpPr/>
          <p:nvPr/>
        </p:nvSpPr>
        <p:spPr>
          <a:xfrm>
            <a:off x="793790" y="5888117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550"/>
              <a:buFont typeface="Nunito Sans"/>
              <a:buChar char="​"/>
            </a:pPr>
            <a:r>
              <a:rPr b="0" i="0" lang="en-US" sz="1550" u="none" cap="none" strike="noStrike">
                <a:solidFill>
                  <a:srgbClr val="232323"/>
                </a:solidFill>
                <a:latin typeface="Nunito Sans"/>
                <a:ea typeface="Nunito Sans"/>
                <a:cs typeface="Nunito Sans"/>
                <a:sym typeface="Nunito Sans"/>
              </a:rPr>
              <a:t>Спробувати згенерувати README через AI і порівняти з власним варіантом</a:t>
            </a:r>
            <a:endParaRPr b="0" i="0" sz="1550" u="none" cap="none" strike="noStrike"/>
          </a:p>
        </p:txBody>
      </p:sp>
      <p:sp>
        <p:nvSpPr>
          <p:cNvPr id="456" name="Google Shape;456;p43"/>
          <p:cNvSpPr/>
          <p:nvPr/>
        </p:nvSpPr>
        <p:spPr>
          <a:xfrm>
            <a:off x="793790" y="5947529"/>
            <a:ext cx="198358" cy="198358"/>
          </a:xfrm>
          <a:prstGeom prst="roundRect">
            <a:avLst>
              <a:gd fmla="val 42025" name="adj"/>
            </a:avLst>
          </a:prstGeom>
          <a:noFill/>
          <a:ln cap="flat" cmpd="sng" w="22850">
            <a:solidFill>
              <a:srgbClr val="8998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3"/>
          <p:cNvSpPr/>
          <p:nvPr/>
        </p:nvSpPr>
        <p:spPr>
          <a:xfrm>
            <a:off x="793790" y="6554272"/>
            <a:ext cx="13042800" cy="843300"/>
          </a:xfrm>
          <a:prstGeom prst="roundRect">
            <a:avLst>
              <a:gd fmla="val 9886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3"/>
          <p:cNvSpPr/>
          <p:nvPr/>
        </p:nvSpPr>
        <p:spPr>
          <a:xfrm>
            <a:off x="1438513" y="6802160"/>
            <a:ext cx="121998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Nunito Sans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Nunito Sans"/>
                <a:ea typeface="Nunito Sans"/>
                <a:cs typeface="Nunito Sans"/>
                <a:sym typeface="Nunito Sans"/>
              </a:rPr>
              <a:t>✅ Якщо всі пункти відмічені — ти готовий до захисту. Вдачі!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