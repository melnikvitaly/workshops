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71" r:id="rId26"/>
    <p:sldId id="270" r:id="rId25"/>
    <p:sldId id="269" r:id="rId19"/>
  </p:sldIdLst>
  <p:sldSz cy="6858000" cx="12192000"/>
  <p:notesSz cx="6858000" cy="12192000"/>
  <p:embeddedFontLst>
    <p:embeddedFont>
      <p:font typeface="Nunito Sans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gvVzOUB7THY6t5WQKYOg91dqgPI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E538C2C-0403-4DD1-BF6D-4BBF76AF478C}">
  <a:tblStyle styleId="{9E538C2C-0403-4DD1-BF6D-4BBF76AF47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4.xml"/><Relationship Id="rId20" Type="http://schemas.openxmlformats.org/officeDocument/2006/relationships/font" Target="fonts/NunitoSans-regular.fntdata"/><Relationship Id="rId21" Type="http://schemas.openxmlformats.org/officeDocument/2006/relationships/font" Target="fonts/NunitoSans-bold.fntdata"/><Relationship Id="rId22" Type="http://schemas.openxmlformats.org/officeDocument/2006/relationships/font" Target="fonts/NunitoSans-italic.fntdata"/><Relationship Id="rId23" Type="http://schemas.openxmlformats.org/officeDocument/2006/relationships/font" Target="fonts/NunitoSans-boldItalic.fntdata"/><Relationship Id="rId24" Type="http://customschemas.google.com/relationships/presentationmetadata" Target="metadata"/><Relationship Id="rId25" Type="http://schemas.openxmlformats.org/officeDocument/2006/relationships/slide" Target="slides/slide13.xml"/><Relationship Id="rId26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титульний слайд. Назвіть проєкт один раз, чітко, і одразу переходьте до гачка. Не зачитуйте вголос поля студента, групи чи дати — аудиторія їх бачить.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" name="Google Shape;4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Пройдіться цією таблицею згори донизу. Рядок затримки — найважливіший, саме тому решта дизайну виглядає так, як виглядає. Закінчіть на обсязі, щоб аудиторія знала, що свідомо залишено поза межами.</a:t>
            </a:r>
            <a:endParaRPr/>
          </a:p>
        </p:txBody>
      </p:sp>
      <p:sp>
        <p:nvSpPr>
          <p:cNvPr id="41" name="Google Shape;4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Камера — джерело істини, а не власний датчик кута сервопривода. Один канал UART на 115200 бод несе вектор похибки до AIM, який виконує два контури PID і керує гімбалом. Покажіть пунктирний контур: сервопривід рухає точку, камера бачить цей рух, і петля замикається.</a:t>
            </a:r>
            <a:endParaRPr/>
          </a:p>
        </p:txBody>
      </p:sp>
      <p:sp>
        <p:nvSpPr>
          <p:cNvPr id="51" name="Google Shape;51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Головна ідея: ми задаємо швидкість, а не кут, і даємо прошивці інтегрувати швидкість у кут кожні 20 мілісекунд. Цей інтегратор означає, що зазвичай достатньо простого пропорційного регулятора — не треба вручну налаштовувати повний PID.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Пастка з назвами: клас PositionalPid насправді видає швидкість (рампа/інтегратор), а клас VelocityEquationPid видає приріст кута напряму — назви класів навпаки тому, що PositionalPid зберігає позиційну форму рівняння (Kp*e + явний інтеграл), просто трактує вихід як швидкість. Обидва канали реалізовані й порівнювані (AUTO_POSITIONAL за замовчуванням, AUTO_VELOCITYEQUATION — для порівняння/точкового наведення), докладніше — docs/servo-control-strategies.md.</a:t>
            </a:r>
            <a:endParaRPr/>
          </a:p>
        </p:txBody>
      </p:sp>
      <p:sp>
        <p:nvSpPr>
          <p:cNvPr id="61" name="Google Shape;6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П'ять задач, розподілені між двома ядрами. E-stop і шлюз лазера виконуються з найвищим пріоритетом у задачі safety. Задача logger навмисно має найнижчий пріоритет — це єдина задача, якій дозволено блокуватися, тож зависання SD-картки ніколи не затримує контур керування.</a:t>
            </a:r>
            <a:endParaRPr/>
          </a:p>
        </p:txBody>
      </p:sp>
      <p:sp>
        <p:nvSpPr>
          <p:cNvPr id="99" name="Google Shape;9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Лазер може стріляти лише у двох станах, і лише коли всі умови в laserPermitted виконані одночасно. Тиша в каналі протягом 300 мс спричиняє LINK_LOST і зупиняє мотори. Шлях E-stop навмисно мінімальний — переривання лише сповіщає задачу safety і більше нічого не робить.</a:t>
            </a:r>
            <a:endParaRPr/>
          </a:p>
        </p:txBody>
      </p:sp>
      <p:sp>
        <p:nvSpPr>
          <p:cNvPr id="111" name="Google Shape;11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Шість невеликих рішень, які вберегли нас від більших проблем згодом. Варто затриматися на другому рядку: власне обмеження PID встановлене нижче жорсткої межі Gimbal, тож логіка anti-windup завжди бачить справжню межу — це перевіряється static_assert на етапі компіляції.</a:t>
            </a:r>
            <a:endParaRPr/>
          </a:p>
        </p:txBody>
      </p:sp>
      <p:sp>
        <p:nvSpPr>
          <p:cNvPr id="125" name="Google Shape;12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Покажіть один реальний фрагмент, десять-двадцять рядків, і поясніть одне неочевидне рішення в ньому — порядок обмежень або static_assert. Не гортайте весь файл.</a:t>
            </a:r>
            <a:endParaRPr/>
          </a:p>
        </p:txBody>
      </p:sp>
      <p:sp>
        <p:nvSpPr>
          <p:cNvPr id="160" name="Google Shape;16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реальні збої, з якими ми зіткнулися на стенді, а не гіпотетичні. Найстрашніший — зліт авто-наведення: пройдіться виправленням через обмеження уважно, це те, про що найімовірніше запитають.</a:t>
            </a:r>
            <a:endParaRPr/>
          </a:p>
        </p:txBody>
      </p:sp>
      <p:sp>
        <p:nvSpPr>
          <p:cNvPr id="170" name="Google Shape;17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прийшло з огляду проєкту, а не зі стенда — це режими відмов, які ми виявили, продумавши монтаж і протокол ще до того, як вони стали інцидентами на стенді.</a:t>
            </a:r>
            <a:endParaRPr/>
          </a:p>
        </p:txBody>
      </p:sp>
      <p:sp>
        <p:nvSpPr>
          <p:cNvPr id="197" name="Google Shape;19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Будьте відверті щодо цього — екзаменатор запитає щонайменше про одне з них. Рядки про бездротовий зв'язок і глибокий сон — це свідоме скорочення обсягу, а не недогляд; так і скажіть.</a:t>
            </a:r>
            <a:endParaRPr/>
          </a:p>
        </p:txBody>
      </p:sp>
      <p:sp>
        <p:nvSpPr>
          <p:cNvPr id="207" name="Google Shape;207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Почніть із двох чисел, які в нас справді є: крок керування 20 мс і таймаут зв'язку 300 мс. Чесно скажіть, що решта досі очікує вимірювання — не округлюйте і не вгадуйте вголос.</a:t>
            </a:r>
            <a:endParaRPr/>
          </a:p>
        </p:txBody>
      </p:sp>
      <p:sp>
        <p:nvSpPr>
          <p:cNvPr id="237" name="Google Shape;237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Не намагайтеся охопити все — дайте одну чітку лінію. Скажіть, що працює сьогодні, назвіть єдиний наступний крок, якому віддаєте пріоритет, і завершіть довгостроковим планом щодо бездротового зв'язку та зберігання, щоб аудиторія пішла з відчуттям напрямку.</a:t>
            </a:r>
            <a:endParaRPr/>
          </a:p>
        </p:txBody>
      </p:sp>
      <p:sp>
        <p:nvSpPr>
          <p:cNvPr id="270" name="Google Shape;270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;p15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" name="Google Shape;3;p15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Ці 5 графіків — крок цілі (одноразове зміщення) на стенді для двох режимів (AUTO_POSITIONAL, AUTO_VELOCITYEQUATION) і кількох PID. Вісь X — час у мс від старту логування (не з нуля), вісь Y — похибка, нормована приблизно в межах ±1. “Час до цілі” тут — час від стрибка похибки до входу в межу ≈5% амплітуди й утримання в ній. “Овершут” — перехід через нуль у протилежний бік більший за цю межу. Дані виміряні по пікселях графіків (error_graph.py), не з сирих логів — це оцінка, а не точний вимір. Головне: канал pan не овершутить ні в одному режимі, канал tilt — овершутить завжди на ~30%; збільшення I з 10 до 100 у VELOCITYEQUATION різко скорочує час до цілі.</a:t>
            </a:r>
            <a:endParaRPr/>
          </a:p>
        </p:txBody>
      </p:sp>
      <p:sp>
        <p:nvSpPr>
          <p:cNvPr id="4" name="Google Shape;4;p15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melnikvitaly/workshops/blob/main/workshop-7-final_project/README.md#final-project--laser-gimbal-with-camera-tracking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melnikvitaly/workshops/blob/main/workshop-7-final_project/README.md#about-the-projec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hyperlink" Target="https://github.com/melnikvitaly/workshops/blob/main/workshop-7-final_project/docs/architecture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s://github.com/melnikvitaly/workshops/blob/main/workshop-7-final_project/docs/servo-control-strategies.md" TargetMode="External"/><Relationship Id="rId5" Type="http://schemas.openxmlformats.org/officeDocument/2006/relationships/hyperlink" Target="https://github.com/melnikvitaly/workshops/blob/main/workshop-7-final_project/docs/pid_controller_equations_positional_vs_velocity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hyperlink" Target="https://github.com/melnikvitaly/workshops/blob/main/workshop-7-final_project/docs/diagrams/freertos-tasks.md" TargetMode="External"/><Relationship Id="rId5" Type="http://schemas.openxmlformats.org/officeDocument/2006/relationships/hyperlink" Target="https://github.com/melnikvitaly/workshops/tree/main/workshop-7-final_project/firmware/aim/src/tasks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hyperlink" Target="https://github.com/melnikvitaly/workshops/blob/main/workshop-7-final_project/docs/diagrams/aim-states.md" TargetMode="External"/><Relationship Id="rId5" Type="http://schemas.openxmlformats.org/officeDocument/2006/relationships/hyperlink" Target="https://github.com/melnikvitaly/workshops/blob/main/workshop-7-final_project/firmware/aim/src/StateMachine.hpp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hub.com/melnikvitaly/workshops/blob/main/workshop-7-final_project/docs/coding.md" TargetMode="External"/><Relationship Id="rId4" Type="http://schemas.openxmlformats.org/officeDocument/2006/relationships/hyperlink" Target="https://github.com/melnikvitaly/workshops/blob/main/workshop-7-final_project/docs/interfaces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://tracker.py" TargetMode="External"/><Relationship Id="rId4" Type="http://schemas.openxmlformats.org/officeDocument/2006/relationships/hyperlink" Target="https://github.com/melnikvitaly/workshops/blob/main/workshop-7-final_project/firmware/aim/src/main.cpp" TargetMode="External"/><Relationship Id="rId5" Type="http://schemas.openxmlformats.org/officeDocument/2006/relationships/hyperlink" Target="https://github.com/melnikvitaly/workshops/blob/main/workshop-7-final_project/firmware/aim/src/StateMachine.hpp" TargetMode="External"/><Relationship Id="rId6" Type="http://schemas.openxmlformats.org/officeDocument/2006/relationships/hyperlink" Target="https://github.com/melnikvitaly/workshops/blob/main/workshop-7-final_project/firmware/aim/src/tasks/Ctrl.hpp" TargetMode="External"/><Relationship Id="rId7" Type="http://schemas.openxmlformats.org/officeDocument/2006/relationships/hyperlink" Target="firmware/aim/src/parts/Gimbal.hpp" TargetMode="External"/><Relationship Id="rId8" Type="http://schemas.openxmlformats.org/officeDocument/2006/relationships/hyperlink" Target="https://github.com/melnikvitaly/workshops/blob/main/workshop-7-final_project/firmware/aim/src/tasks/Safety.hpp" TargetMode="External"/><Relationship Id="rId9" Type="http://schemas.openxmlformats.org/officeDocument/2006/relationships/hyperlink" Target="https://github.com/melnikvitaly/workshops/blob/main/workshop-7-final_project/firmware/aim/src/tasks/LinkUart.hpp" TargetMode="External"/><Relationship Id="rId10" Type="http://schemas.openxmlformats.org/officeDocument/2006/relationships/hyperlink" Target="firmware/aim/src/transport/Protocol.hpp" TargetMode="External"/><Relationship Id="rId11" Type="http://schemas.openxmlformats.org/officeDocument/2006/relationships/hyperlink" Target="https://github.com/melnikvitaly/workshops/blob/main/workshop-7-final_project/firmware/aim/src/tasks/Logger.hpp" TargetMode="External"/><Relationship Id="rId12" Type="http://schemas.openxmlformats.org/officeDocument/2006/relationships/hyperlink" Target="https://github.com/melnikvitaly/workshops/blob/main/workshop-7-final_project/firmware/aim/src/parts/IInputChannel.hpp" TargetMode="External"/><Relationship Id="rId13" Type="http://schemas.openxmlformats.org/officeDocument/2006/relationships/hyperlink" Target="https://github.com/melnikvitaly/workshops/blob/main/workshop-7-final_project/firmware/aim/src/parts/NoneChannel.hpp" TargetMode="External"/><Relationship Id="rId14" Type="http://schemas.openxmlformats.org/officeDocument/2006/relationships/hyperlink" Target="https://github.com/melnikvitaly/workshops/blob/main/workshop-7-final_project/firmware/aim/src/parts/ManualChannel.hpp" TargetMode="External"/><Relationship Id="rId15" Type="http://schemas.openxmlformats.org/officeDocument/2006/relationships/hyperlink" Target="https://github.com/melnikvitaly/workshops/blob/main/workshop-7-final_project/eye/camera/tracker.py" TargetMode="External"/><Relationship Id="rId16" Type="http://schemas.openxmlformats.org/officeDocument/2006/relationships/hyperlink" Target="eye/camera/dots.py" TargetMode="External"/><Relationship Id="rId17" Type="http://schemas.openxmlformats.org/officeDocument/2006/relationships/hyperlink" Target="eye/camera/serial_link.py" TargetMode="External"/><Relationship Id="rId18" Type="http://schemas.openxmlformats.org/officeDocument/2006/relationships/hyperlink" Target="https://github.com/melnikvitaly/workshops/blob/main/workshop-7-final_project/eye/camera/dots.py" TargetMode="External"/><Relationship Id="rId19" Type="http://schemas.openxmlformats.org/officeDocument/2006/relationships/hyperlink" Target="https://github.com/melnikvitaly/workshops/blob/main/workshop-7-final_project/eye/camera/serial_link.py" TargetMode="External"/><Relationship Id="rId20" Type="http://schemas.openxmlformats.org/officeDocument/2006/relationships/hyperlink" Target="https://github.com/melnikvitaly/workshops/blob/main/workshop-7-final_project/eye/camera/recenter.py" TargetMode="External"/><Relationship Id="rId21" Type="http://schemas.openxmlformats.org/officeDocument/2006/relationships/hyperlink" Target="eye/camera/tracker.py" TargetMode="External"/><Relationship Id="rId22" Type="http://schemas.openxmlformats.org/officeDocument/2006/relationships/hyperlink" Target="https://github.com/melnikvitaly/workshops/blob/main/workshop-7-final_project/eye/camera/controls.py" TargetMode="External"/><Relationship Id="rId23" Type="http://schemas.openxmlformats.org/officeDocument/2006/relationships/hyperlink" Target="https://github.com/melnikvitaly/workshops/blob/main/workshop-7-final_project/eye/camera/app_window.py" TargetMode="External"/><Relationship Id="rId24" Type="http://schemas.openxmlformats.org/officeDocument/2006/relationships/hyperlink" Target="https://github.com/melnikvitaly/workshops/blob/main/workshop-7-final_project/firmware/aim/src/parts/AutoPositionalChannel.hpp" TargetMode="External"/><Relationship Id="rId25" Type="http://schemas.openxmlformats.org/officeDocument/2006/relationships/hyperlink" Target="https://github.com/melnikvitaly/workshops/tree/main/workshop-7-final_project/firmware/aim/src/" TargetMode="External"/><Relationship Id="rId26" Type="http://schemas.openxmlformats.org/officeDocument/2006/relationships/hyperlink" Target="https://github.com/melnikvitaly/workshops/tree/main/workshop-7-final_project/eye/camera/" TargetMode="External"/><Relationship Id="rId27" Type="http://schemas.openxmlformats.org/officeDocument/2006/relationships/hyperlink" Target="https://github.com/melnikvitaly/workshops/blob/main/workshop-7-final_project/firmware/aim/src/parts/AutoVelocityEquationChannel.hpp" TargetMode="External"/><Relationship Id="rId28" Type="http://schemas.openxmlformats.org/officeDocument/2006/relationships/hyperlink" Target="https://github.com/melnikvitaly/workshops/blob/main/workshop-7-final_project/firmware/aim/src/utils/PositionalPid.hpp" TargetMode="External"/><Relationship Id="rId29" Type="http://schemas.openxmlformats.org/officeDocument/2006/relationships/hyperlink" Target="https://github.com/melnikvitaly/workshops/blob/main/workshop-7-final_project/firmware/aim/src/utils/VelocityEquationPid.hpp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lnikvitaly/workshops/blob/main/workshop-7-final_project/docs/protocol.md" TargetMode="External"/><Relationship Id="rId4" Type="http://schemas.openxmlformats.org/officeDocument/2006/relationships/hyperlink" Target="https://github.com/melnikvitaly/workshops/blob/main/workshop-7-final_project/firmware/aim/src/tasks/LinkUart.hpp" TargetMode="External"/><Relationship Id="rId5" Type="http://schemas.openxmlformats.org/officeDocument/2006/relationships/hyperlink" Target="https://github.com/melnikvitaly/workshops/blob/main/workshop-7-final_project/eye/camera/serial_link.py" TargetMode="External"/><Relationship Id="rId6" Type="http://schemas.openxmlformats.org/officeDocument/2006/relationships/hyperlink" Target="https://github.com/melnikvitaly/workshops/blob/main/workshop-7-final_project/eye/camera/tracker.py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github.com/melnikvitaly/workshops/blob/main/workshop-7-final_project/firmware/aim/src/parts/Laser.hpp" TargetMode="External"/><Relationship Id="rId4" Type="http://schemas.openxmlformats.org/officeDocument/2006/relationships/hyperlink" Target="https://github.com/melnikvitaly/workshops/blob/main/workshop-7-final_project/firmware/aim/src/tasks/Logger.hpp" TargetMode="External"/><Relationship Id="rId5" Type="http://schemas.openxmlformats.org/officeDocument/2006/relationships/hyperlink" Target="https://github.com/melnikvitaly/workshops/blob/main/workshop-7-final_project/eye/camera/app_window.py" TargetMode="External"/><Relationship Id="rId6" Type="http://schemas.openxmlformats.org/officeDocument/2006/relationships/hyperlink" Target="https://github.com/melnikvitaly/workshops/blob/main/workshop-7-final_project/eye/camera/recenter.py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ithub.com/melnikvitaly/workshops/blob/main/workshop-7-final_project/firmware/aim/src/parts/Laser.hpp" TargetMode="External"/><Relationship Id="rId4" Type="http://schemas.openxmlformats.org/officeDocument/2006/relationships/hyperlink" Target="https://github.com/melnikvitaly/workshops/blob/main/workshop-7-final_project/firmware/aim/src/StateMachine.hpp" TargetMode="External"/><Relationship Id="rId5" Type="http://schemas.openxmlformats.org/officeDocument/2006/relationships/hyperlink" Target="https://github.com/melnikvitaly/workshops/blob/main/workshop-7-final_project/eye/camera/tracker.py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github.com/melnikvitaly/workshops/blob/main/workshop-7-final_project/docs/assestment/verification/README.md" TargetMode="External"/><Relationship Id="rId4" Type="http://schemas.openxmlformats.org/officeDocument/2006/relationships/hyperlink" Target="https://github.com/melnikvitaly/workshops/blob/main/workshop-7-final_project/eye/camera/error_graph.py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hyperlink" Target="https://github.com/melnikvitaly/workshops/tree/main/workshop-7-final_project/images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github.com/melnikvitaly/workshops/blob/main/workshop-7-final_project/README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graph_v_i10.png"/><Relationship Id="rId3" Type="http://schemas.openxmlformats.org/officeDocument/2006/relationships/image" Target="../media/image_graph_v_i50.png"/><Relationship Id="rId4" Type="http://schemas.openxmlformats.org/officeDocument/2006/relationships/image" Target="../media/image_graph_v_i100.png"/><Relationship Id="rId5" Type="http://schemas.openxmlformats.org/officeDocument/2006/relationships/image" Target="../media/image_graph_p_low.png"/><Relationship Id="rId6" Type="http://schemas.openxmlformats.org/officeDocument/2006/relationships/image" Target="../media/image_graph_p_high.png"/><Relationship Id="rId7" Type="http://schemas.openxmlformats.org/officeDocument/2006/relationships/notesSlide" Target="../notesSlides/notesSlide15.xml"/><Relationship Id="rId8" Type="http://schemas.openxmlformats.org/officeDocument/2006/relationships/hyperlink" Target="https://github.com/melnikvitaly/workshops/blob/main/workshop-7-final_project/docs/assestment/verification/README.md" TargetMode="External"/><Relationship Id="rId9" Type="http://schemas.openxmlformats.org/officeDocument/2006/relationships/hyperlink" Target="https://github.com/melnikvitaly/workshops/blob/main/workshop-7-final_project/eye/camera/error_graph.py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"/>
          <p:cNvSpPr/>
          <p:nvPr/>
        </p:nvSpPr>
        <p:spPr>
          <a:xfrm>
            <a:off x="812800" y="812800"/>
            <a:ext cx="3641219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Захист </a:t>
            </a: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проекту</a:t>
            </a: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 з Embedded Development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812800" y="1203920"/>
            <a:ext cx="9156700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3600"/>
              <a:buFont typeface="Nunito Sans"/>
              <a:buNone/>
            </a:pPr>
            <a:r>
              <a:rPr b="1" i="0" lang="en-US" sz="36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ПК-керований лазерний гімбал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812800" y="1876321"/>
            <a:ext cx="10883392" cy="309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600"/>
              <a:buFont typeface="Nunito Sans"/>
              <a:buNone/>
            </a:pPr>
            <a:r>
              <a:rPr b="0" i="0" lang="en-US" sz="16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FreeRTOS, PID, OpenCV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812800" y="2338581"/>
            <a:ext cx="6603900" cy="2712300"/>
          </a:xfrm>
          <a:prstGeom prst="roundRect">
            <a:avLst>
              <a:gd fmla="val 5619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1168400" y="2694181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Студент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2860750" y="2724643"/>
            <a:ext cx="108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0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Vitaly Melnik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1168400" y="3115761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Група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2870200" y="3133521"/>
            <a:ext cx="15774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EMB_7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1168400" y="353734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Курс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2860750" y="3537330"/>
            <a:ext cx="2039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0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Embedded Development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1168400" y="395892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Дата захисту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2870200" y="3993207"/>
            <a:ext cx="15084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СЬОГОДНІ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1168400" y="441354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GitHub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2860750" y="4431278"/>
            <a:ext cx="15963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 u="sng">
                <a:solidFill>
                  <a:schemeClr val="hlink"/>
                </a:solidFill>
                <a:latin typeface="Nunito Sans"/>
                <a:ea typeface="Nunito Sans"/>
                <a:cs typeface="Nunito Sans"/>
                <a:sym typeface="Nunito Sans"/>
                <a:hlinkClick r:id="rId3"/>
              </a:rPr>
              <a:t>README.md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/>
          <p:nvPr/>
        </p:nvSpPr>
        <p:spPr>
          <a:xfrm>
            <a:off x="812800" y="812800"/>
            <a:ext cx="1380000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3"/>
          <p:cNvSpPr/>
          <p:nvPr/>
        </p:nvSpPr>
        <p:spPr>
          <a:xfrm>
            <a:off x="952500" y="876300"/>
            <a:ext cx="115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30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Проблема: контекст і масштаб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7" name="Google Shape;47;p3"/>
          <p:cNvGraphicFramePr/>
          <p:nvPr/>
        </p:nvGraphicFramePr>
        <p:xfrm>
          <a:off x="812800" y="1978620"/>
          <a:ext cx="3000000" cy="3000000"/>
        </p:xfrm>
        <a:graphic>
          <a:graphicData uri="http://schemas.openxmlformats.org/drawingml/2006/table">
            <a:tbl>
              <a:tblPr firstRow="0" bandRow="0">
                <a:noFill/>
                <a:tableStyleId>{5940675A-B579-460E-94D1-54222C63F5DA}</a:tableStyleId>
              </a:tblPr>
              <a:tblGrid>
                <a:gridCol w="2324600"/>
                <a:gridCol w="8241800"/>
              </a:tblGrid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Параметр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Значення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Завдання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Навести лазерну точку на ціль, використовуючи камеру як зворотний зв'язок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Затримка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Камера → розпізнавання → канал зв'язку займають 50–250 мс. Це обмежує підсилення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Сервоприводи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Мертва зона, люфт, провисання під вагою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Безпека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Лазер не повинен вмикатися помилково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Обсяг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Навчальний проєкт: один канал UART, розпізнавання виконує ПК, </a:t>
                      </a:r>
                      <a:r>
                        <a:rPr lang="en-US" sz="1100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лог пишеться на SD-картку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README.md#about-the-project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4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8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Рішення: загальна картина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7" name="Picture 56" descr="data-f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1984985"/>
            <a:ext cx="10566400" cy="392187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7"/>
              </a:rPr>
              <a:t>docs/architecture.md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Чому швидкість, а не позиція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docs/servo-control-strategies.md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docs/pid_controller_equations_positional_vs_velocity.md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12800" y="1780000"/>
            <a:ext cx="10883392" cy="1980000"/>
          </a:xfrm>
          <a:prstGeom prst="roundRect">
            <a:avLst>
              <a:gd name="adj" fmla="val 8000"/>
            </a:avLst>
          </a:prstGeom>
          <a:solidFill>
            <a:srgbClr val="C5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66800" y="1930000"/>
            <a:ext cx="10375392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232323"/>
                </a:solidFill>
                <a:latin typeface="Nunito Sans"/>
              </a:rPr>
              <a:t>PositionalPid — швидкість (за замовчуванням)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66800" y="2400000"/>
            <a:ext cx="1867078" cy="44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000" rIns="45000" tIns="18000" bIns="18000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232323"/>
                </a:solidFill>
                <a:latin typeface="Nunito Sans"/>
              </a:rPr>
              <a:t>похибка</a:t>
            </a:r>
          </a:p>
        </p:txBody>
      </p:sp>
      <p:pic>
        <p:nvPicPr>
          <p:cNvPr id="97" name="Picture 9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878" y="2555000"/>
            <a:ext cx="260000" cy="130000"/>
          </a:xfrm>
          <a:prstGeom prst="rect">
            <a:avLst/>
          </a:prstGeom>
        </p:spPr>
      </p:pic>
      <p:sp>
        <p:nvSpPr>
          <p:cNvPr id="98" name="Rounded Rectangle 97"/>
          <p:cNvSpPr/>
          <p:nvPr/>
        </p:nvSpPr>
        <p:spPr>
          <a:xfrm>
            <a:off x="3193878" y="2400000"/>
            <a:ext cx="1867078" cy="44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000" rIns="45000" tIns="18000" bIns="18000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232323"/>
                </a:solidFill>
                <a:latin typeface="Nunito Sans"/>
              </a:rPr>
              <a:t>PID</a:t>
            </a:r>
          </a:p>
        </p:txBody>
      </p:sp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0956" y="2555000"/>
            <a:ext cx="260000" cy="130000"/>
          </a:xfrm>
          <a:prstGeom prst="rect">
            <a:avLst/>
          </a:prstGeom>
        </p:spPr>
      </p:pic>
      <p:sp>
        <p:nvSpPr>
          <p:cNvPr id="100" name="Rounded Rectangle 99"/>
          <p:cNvSpPr/>
          <p:nvPr/>
        </p:nvSpPr>
        <p:spPr>
          <a:xfrm>
            <a:off x="5320956" y="2400000"/>
            <a:ext cx="1867078" cy="44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000" rIns="45000" tIns="18000" bIns="18000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232323"/>
                </a:solidFill>
                <a:latin typeface="Nunito Sans"/>
              </a:rPr>
              <a:t>швидкість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8034" y="2555000"/>
            <a:ext cx="260000" cy="130000"/>
          </a:xfrm>
          <a:prstGeom prst="rect">
            <a:avLst/>
          </a:prstGeom>
        </p:spPr>
      </p:pic>
      <p:sp>
        <p:nvSpPr>
          <p:cNvPr id="102" name="Rounded Rectangle 101"/>
          <p:cNvSpPr/>
          <p:nvPr/>
        </p:nvSpPr>
        <p:spPr>
          <a:xfrm>
            <a:off x="7448034" y="2400000"/>
            <a:ext cx="1867078" cy="440000"/>
          </a:xfrm>
          <a:prstGeom prst="roundRect">
            <a:avLst>
              <a:gd name="adj" fmla="val 16000"/>
            </a:avLst>
          </a:prstGeom>
          <a:solidFill>
            <a:srgbClr val="9FB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000" rIns="45000" tIns="18000" bIns="18000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232323"/>
                </a:solidFill>
                <a:latin typeface="Nunito Sans"/>
              </a:rPr>
              <a:t>Σ кожні 20мс</a:t>
            </a:r>
          </a:p>
        </p:txBody>
      </p:sp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5112" y="2555000"/>
            <a:ext cx="260000" cy="130000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575112" y="2400000"/>
            <a:ext cx="1867078" cy="44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000" rIns="45000" tIns="18000" bIns="18000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232323"/>
                </a:solidFill>
                <a:latin typeface="Nunito Sans"/>
              </a:rPr>
              <a:t>сервопривід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66800" y="2990000"/>
            <a:ext cx="103753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14C58"/>
                </a:solidFill>
                <a:latin typeface="Nunito Sans"/>
              </a:rPr>
              <a:t>Вихід PID стає швидкістю; ESP32 інтегрує її в кут щотику.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14C58"/>
                </a:solidFill>
                <a:latin typeface="Nunito Sans"/>
              </a:rPr>
              <a:t>Шум усереднюється, рух плавний і обмежений за швидкістю.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12800" y="4020000"/>
            <a:ext cx="10883392" cy="1980000"/>
          </a:xfrm>
          <a:prstGeom prst="roundRect">
            <a:avLst>
              <a:gd name="adj" fmla="val 8000"/>
            </a:avLst>
          </a:prstGeom>
          <a:solidFill>
            <a:srgbClr val="ECE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66800" y="4170000"/>
            <a:ext cx="10375392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232323"/>
                </a:solidFill>
                <a:latin typeface="Nunito Sans"/>
              </a:rPr>
              <a:t>VelocityEquationPid — приріст кута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066800" y="4640000"/>
            <a:ext cx="1867078" cy="44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000" rIns="45000" tIns="18000" bIns="18000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232323"/>
                </a:solidFill>
                <a:latin typeface="Nunito Sans"/>
              </a:rPr>
              <a:t>похибка</a:t>
            </a:r>
          </a:p>
        </p:txBody>
      </p:sp>
      <p:pic>
        <p:nvPicPr>
          <p:cNvPr id="109" name="Picture 10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878" y="4795000"/>
            <a:ext cx="260000" cy="130000"/>
          </a:xfrm>
          <a:prstGeom prst="rect">
            <a:avLst/>
          </a:prstGeom>
        </p:spPr>
      </p:pic>
      <p:sp>
        <p:nvSpPr>
          <p:cNvPr id="110" name="Rounded Rectangle 109"/>
          <p:cNvSpPr/>
          <p:nvPr/>
        </p:nvSpPr>
        <p:spPr>
          <a:xfrm>
            <a:off x="3193878" y="4640000"/>
            <a:ext cx="1867078" cy="44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000" rIns="45000" tIns="18000" bIns="18000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232323"/>
                </a:solidFill>
                <a:latin typeface="Nunito Sans"/>
              </a:rPr>
              <a:t>PID</a:t>
            </a:r>
          </a:p>
        </p:txBody>
      </p:sp>
      <p:pic>
        <p:nvPicPr>
          <p:cNvPr id="111" name="Picture 1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0956" y="4795000"/>
            <a:ext cx="260000" cy="130000"/>
          </a:xfrm>
          <a:prstGeom prst="rect">
            <a:avLst/>
          </a:prstGeom>
        </p:spPr>
      </p:pic>
      <p:sp>
        <p:nvSpPr>
          <p:cNvPr id="112" name="Rounded Rectangle 111"/>
          <p:cNvSpPr/>
          <p:nvPr/>
        </p:nvSpPr>
        <p:spPr>
          <a:xfrm>
            <a:off x="5320956" y="4640000"/>
            <a:ext cx="1867078" cy="44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000" rIns="45000" tIns="18000" bIns="18000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232323"/>
                </a:solidFill>
                <a:latin typeface="Nunito Sans"/>
              </a:rPr>
              <a:t>приріст Δu</a:t>
            </a:r>
          </a:p>
        </p:txBody>
      </p:sp>
      <p:pic>
        <p:nvPicPr>
          <p:cNvPr id="113" name="Picture 1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8034" y="4795000"/>
            <a:ext cx="260000" cy="130000"/>
          </a:xfrm>
          <a:prstGeom prst="rect">
            <a:avLst/>
          </a:prstGeom>
        </p:spPr>
      </p:pic>
      <p:sp>
        <p:nvSpPr>
          <p:cNvPr id="114" name="Rounded Rectangle 113"/>
          <p:cNvSpPr/>
          <p:nvPr/>
        </p:nvSpPr>
        <p:spPr>
          <a:xfrm>
            <a:off x="7448034" y="4640000"/>
            <a:ext cx="1867078" cy="440000"/>
          </a:xfrm>
          <a:prstGeom prst="roundRect">
            <a:avLst>
              <a:gd name="adj" fmla="val 16000"/>
            </a:avLst>
          </a:prstGeom>
          <a:solidFill>
            <a:srgbClr val="D9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000" rIns="45000" tIns="18000" bIns="18000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232323"/>
                </a:solidFill>
                <a:latin typeface="Nunito Sans"/>
              </a:rPr>
              <a:t>кут += Δu</a:t>
            </a:r>
          </a:p>
        </p:txBody>
      </p:sp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5112" y="4795000"/>
            <a:ext cx="260000" cy="130000"/>
          </a:xfrm>
          <a:prstGeom prst="rect">
            <a:avLst/>
          </a:prstGeom>
        </p:spPr>
      </p:pic>
      <p:sp>
        <p:nvSpPr>
          <p:cNvPr id="116" name="Rounded Rectangle 115"/>
          <p:cNvSpPr/>
          <p:nvPr/>
        </p:nvSpPr>
        <p:spPr>
          <a:xfrm>
            <a:off x="9575112" y="4640000"/>
            <a:ext cx="1867078" cy="44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000" rIns="45000" tIns="18000" bIns="18000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232323"/>
                </a:solidFill>
                <a:latin typeface="Nunito Sans"/>
              </a:rPr>
              <a:t>сервопривід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6800" y="5230000"/>
            <a:ext cx="103753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14C58"/>
                </a:solidFill>
                <a:latin typeface="Nunito Sans"/>
              </a:rPr>
              <a:t>Вихід PID — приріст кута Δu; кут += Δu, без інтегратора.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14C58"/>
                </a:solidFill>
                <a:latin typeface="Nunito Sans"/>
              </a:rPr>
              <a:t>Швидко на стрибок цілі, але шум кадра — стрибок позиції.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6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6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Архітектура: задачі FreeRTOS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812800" y="5647829"/>
            <a:ext cx="6000000" cy="364430"/>
          </a:xfrm>
          <a:prstGeom prst="roundRect">
            <a:avLst>
              <a:gd fmla="val 24394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965200" y="5736729"/>
            <a:ext cx="5650000" cy="212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050"/>
              <a:buFont typeface="Nunito Sans"/>
              <a:buNone/>
            </a:pPr>
            <a:r>
              <a:rPr b="0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Запис на SD-картку може зависнути на 100–250 мс. Це не повинно ніколи дійти до </a:t>
            </a:r>
            <a:r>
              <a:rPr b="1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ctrl</a:t>
            </a:r>
            <a:r>
              <a:rPr b="0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00" y="1800000"/>
            <a:ext cx="8196805" cy="3650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docs/diagrams/freertos-tasks.md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firmware/aim/src/tasks/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7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Стани системи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812800" y="535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Лазер дозволений лише в станах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ZONE_TOUR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 і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ARMED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812800" y="556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laserPermitted()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 вимагає виконання всіх умов: ARMED, свіжий зв'язок, watchdog OK, немає E-stop, запит променя.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812800" y="577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Немає даних 300 мс →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LINK_LOST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, мотори зупиняються.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812800" y="598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E-stop: ISR → сповіщення задачі →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safety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 Жодної роботи в ISR.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1" name="Picture 1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840000"/>
            <a:ext cx="10566400" cy="3062878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docs/diagrams/aim-states.md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firmware/aim/src/StateMachine.hpp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8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8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8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Реалізація: ключові рішення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1" name="Table 130"/>
          <p:cNvGraphicFramePr>
            <a:graphicFrameLocks noGrp="1"/>
          </p:cNvGraphicFramePr>
          <p:nvPr/>
        </p:nvGraphicFramePr>
        <p:xfrm>
          <a:off x="812800" y="1691580"/>
          <a:ext cx="10566400" cy="27913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34020"/>
                <a:gridCol w="4650780"/>
                <a:gridCol w="5181600"/>
              </a:tblGrid>
              <a:tr h="398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#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Рішення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Чому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1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Лише один канал введення одночасно: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AUTO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/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MANUAL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/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NONE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Без прихованого змішування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2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Два обмеження швидкості: жорстке — у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Gimbal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, обмеження PID — нижче нього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Anti-windup бачить справжню межу (static_assert)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3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Черга логів відкидає найстаріше, ніколи не блокується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Телеметрія може загубитися. Керування — ні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4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NDJSON + CRC-8, ліміт рядка 256 байт,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NaN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відхиляється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NaN у PID зламав би інтегратор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Обхід зони: лазер малює зону за годинниковою стрілкою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Неправильний напрямок = неправильний прапорець осі, видно за 4 с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6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Розбір JSON: власний парсер замість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cJSON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cJSON виконує malloc на кожен розбір; проєкт забороняє купу після ініціалізації (coding.md)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132" name="TextBox 131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docs/coding.md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docs/interfaces.md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9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Реалізація: код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812800" y="1784061"/>
            <a:ext cx="5340096" cy="2742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u="none">
                <a:solidFill>
                  <a:srgbClr val="232323"/>
                </a:solidFill>
                <a:latin typeface="Nunito Sans"/>
              </a:rPr>
              <a:t>AIM — ESP32-S3 (гімбал-контролер)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349096" y="1784061"/>
            <a:ext cx="5340096" cy="2742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u="none">
                <a:solidFill>
                  <a:srgbClr val="232323"/>
                </a:solidFill>
                <a:latin typeface="Nunito Sans"/>
              </a:rPr>
              <a:t>EYE — PC (оператор і зір)</a:t>
            </a:r>
          </a:p>
        </p:txBody>
      </p:sp>
      <p:graphicFrame>
        <p:nvGraphicFramePr>
          <p:cNvPr id="168" name="Table 167"/>
          <p:cNvGraphicFramePr>
            <a:graphicFrameLocks noGrp="1"/>
          </p:cNvGraphicFramePr>
          <p:nvPr/>
        </p:nvGraphicFramePr>
        <p:xfrm>
          <a:off x="812800" y="2098302"/>
          <a:ext cx="5340096" cy="401864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50000"/>
                <a:gridCol w="3490096"/>
              </a:tblGrid>
              <a:tr h="298641"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Файл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Опис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4"/>
                        </a:rPr>
                        <a:t>main.cpp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Точка входу: створює задачі, встановлює ISR E-stop, логує причину скидання.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5"/>
                        </a:rPr>
                        <a:t>StateMachine.hpp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Стани: BOOT→SELFTEST→DISARMED→ARMED, ZONE_TOUR, LINK_LOST, FAULT.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6"/>
                        </a:rPr>
                        <a:t>tasks/Ctrl.hpp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ctrl (20 мс): дренує cmd_q, крок ПІД.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керує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7"/>
                        </a:rPr>
                        <a:t>Gimbal.hpp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 через один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2"/>
                        </a:rPr>
                        <a:t>IInputChannel.hpp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8"/>
                        </a:rPr>
                        <a:t>tasks/Safety.hpp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safety: laserPermitted() — єдиний шлюз дозволу лазера.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9"/>
                        </a:rPr>
                        <a:t>tasks/LinkUart.hpp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link_uart: UART1 RX/TX, кадрування.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парсинг: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0"/>
                        </a:rPr>
                        <a:t>Protocol.hpp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1"/>
                        </a:rPr>
                        <a:t>tasks/Logger.hpp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logger: запис на SD, єдина з правом довго блокуватись.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3"/>
                        </a:rPr>
                        <a:t>NoneChannel.hpp</a:t>
                      </a:r>
                    </a:p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4"/>
                        </a:rPr>
                        <a:t>ManualChannel.hpp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Порожній канал (гімбал стоїть) і ручне керування швидкістю з ПК, з таймаутом.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4"/>
                        </a:rPr>
                        <a:t>AutoPositional</a:t>
                      </a:r>
                      <a:br>
                        <a:rPr sz="1050" b="1" u="sng">
                          <a:solidFill>
                            <a:srgbClr val="2A5C8F"/>
                          </a:solidFill>
                          <a:latin typeface="Nunito Sans"/>
                        </a:rPr>
                      </a:br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4"/>
                        </a:rPr>
                        <a:t>Channel.hpp</a:t>
                      </a:r>
                    </a:p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7"/>
                        </a:rPr>
                        <a:t>AutoVelocityEquation</a:t>
                      </a:r>
                      <a:br>
                        <a:rPr sz="1050" b="1" u="sng">
                          <a:solidFill>
                            <a:srgbClr val="2A5C8F"/>
                          </a:solidFill>
                          <a:latin typeface="Nunito Sans"/>
                        </a:rPr>
                      </a:br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7"/>
                        </a:rPr>
                        <a:t>Channel.hpp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Два авто-режими наведення за похибкою EYE: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позиційний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28"/>
                        </a:rPr>
                        <a:t>PositionalPid.hpp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 → швидкість.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29"/>
                        </a:rPr>
                        <a:t>VelocityEquationPid.hpp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 → дельта кута, moveTo().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9" name="Table 168"/>
          <p:cNvGraphicFramePr>
            <a:graphicFrameLocks noGrp="1"/>
          </p:cNvGraphicFramePr>
          <p:nvPr/>
        </p:nvGraphicFramePr>
        <p:xfrm>
          <a:off x="6349096" y="2098302"/>
          <a:ext cx="5340096" cy="224864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50000"/>
                <a:gridCol w="3490096"/>
              </a:tblGrid>
              <a:tr h="298641"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Файл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Опис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5"/>
                        </a:rPr>
                        <a:t>tracker.py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Головний цикл: захоплення кадру.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детекція: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6"/>
                        </a:rPr>
                        <a:t>dots.py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надсилання похибки: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7"/>
                        </a:rPr>
                        <a:t>serial_link.py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8"/>
                        </a:rPr>
                        <a:t>dots.py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Детекція червоної/чорної точки (OpenCV), вектор похибки.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9"/>
                        </a:rPr>
                        <a:t>serial_link.py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Кадр E dx dy valid на UART1. Форсує dtr=False, rts=False.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на AIM читає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0"/>
                        </a:rPr>
                        <a:t>Protocol.hpp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0"/>
                        </a:rPr>
                        <a:t>recenter.py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Повертає лазер у центр зони, якщо точку не видно; викликається з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21"/>
                        </a:rPr>
                        <a:t>tracker.py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2"/>
                        </a:rPr>
                        <a:t>controls.py</a:t>
                      </a:r>
                    </a:p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3"/>
                        </a:rPr>
                        <a:t>app_window.py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Панель оператора: підсилення, канал, телеметрія, кнопка вогню.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0" name="TextBox 169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25"/>
              </a:rPr>
              <a:t>firmware/aim/src/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26"/>
              </a:rPr>
              <a:t>eye/camera/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0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0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0"/>
          <p:cNvSpPr/>
          <p:nvPr/>
        </p:nvSpPr>
        <p:spPr>
          <a:xfrm>
            <a:off x="812800" y="1280120"/>
            <a:ext cx="10883400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Проблеми, з якими зіткнулися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6" name="Table 175"/>
          <p:cNvGraphicFramePr>
            <a:graphicFrameLocks noGrp="1"/>
          </p:cNvGraphicFramePr>
          <p:nvPr/>
        </p:nvGraphicFramePr>
        <p:xfrm>
          <a:off x="812800" y="1650000"/>
          <a:ext cx="10566400" cy="34527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00000"/>
                <a:gridCol w="3400000"/>
                <a:gridCol w="2400000"/>
                <a:gridCol w="1566400"/>
              </a:tblGrid>
              <a:tr h="26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Проблема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Причини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Рішення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Статус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Авто-наведення «злітає» → LINK_LOST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Точка губиться на кілька кадрів · вектор похибки тягне гімбал за межі зони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Похибку обмежено до ±1 (dots.py, Protocol.hpp), менша робоча зона 60°/30°.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Неправильні кути MIN/MAX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Константи підібрані на око · переплутаний напрям обертання серво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Виміряно на стенді, прапорці напряму, static_assert тримає зону в межах ходу серво.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2362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Лазер блимає при запуску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Дані не доходять до ESP32 при зміні розміру вікна ПК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ESP32 перезавантажується при від'єднанні UART0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USB-UART міст імпульсує пін EN сигналами DTR/RTS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serial_link.py примусово ставить dtr=False, rts=False.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Повільне наведення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Розпізнавання лазерної точки ненадійне (детектор губить точку на кілька кадрів)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Змінне освітлення збиває пороги OpenCV · точка тимчасово зникає з кадру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Підбір порогів OpenCV (tracker.py); TODO: утримання позиції, фільтр стрибків.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Зв'язок COM/UART не відновлюється після від'єднання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177" name="TextBox 176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docs/protocol.md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firmware/aim/src/tasks/LinkUart.hpp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eye/camera/serial_link.py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6"/>
              </a:rPr>
              <a:t>eye/camera/tracker.py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1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1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1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Інші проблеми з проєктування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3" name="Table 202"/>
          <p:cNvGraphicFramePr>
            <a:graphicFrameLocks noGrp="1"/>
          </p:cNvGraphicFramePr>
          <p:nvPr/>
        </p:nvGraphicFramePr>
        <p:xfrm>
          <a:off x="812800" y="1727081"/>
          <a:ext cx="10566400" cy="42681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00000"/>
                <a:gridCol w="3400000"/>
                <a:gridCol w="2400000"/>
                <a:gridCol w="1566400"/>
              </a:tblGrid>
              <a:tr h="26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Проблема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Причини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Що ми зробили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Статус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Логи й дані ділили UART0; рядок з «F» міг випадково спричинити постріл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Спільний UART0 для логів і команд керування, без ізоляції небезпечної команди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Дані перенесено на UART1; UART0 - лише консоль, команда пострілу захищена.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Реле лазера вмикалося при подачі живлення (пін у стані float)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GPIO реле floats до Relay::init() · вихід вмикається раніше рівня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Рівень встановлено на виводі, додано pull-up.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Запис на SD-картку може зависнути на 100-250 мс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Внутрішнє wear-levelling картки під час запису блоку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Окрема задача logger з низьким пріоритетом; черга відкидає найстаріший запис.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Затримка камери обмежує підсилення PID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Затримка камери й обробки кадру вносить мертвий час, що обмежує підсилення PID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Мертва зона й люфт сервоприводів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Механічний люфт і нечутливість хобі-сервоприводів біля нейтралі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Компенсує зворотний зв'язок з камери.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Зависання каналу зв'язку через однопотоковий UI-застосунок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UI і серійний обмін в одному потоці; ресайз вікна блокував порт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Обмін даними з ESP перенесено у фоновий потік.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Нелінійна залежність між позиціями на стіні та кутами серво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Проєкція стіни на кут гімбала нелінійна (перспектива, геометрія кардана)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Лазер виходить за межі зони видимості камери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Різкий рух цілі або похибка керування виносить точку за межі поля зору камери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recenter.py: гімбал рухається P-кроками до центру, якщо точку не видно &gt;1500 мс.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Автофокус камери знижує стабільність детекції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Автофокус міняє різкість/розмір точки — пороги OpenCV втрачають сигнал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Автофокус вимкнено, фіксована позиція лінзи (--focus=130); live-підбір фокусу в UI оператора.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4" name="TextBox 203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firmware/aim/src/parts/Laser.hpp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firmware/aim/src/tasks/Logger.hpp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eye/camera/app_window.py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6"/>
              </a:rPr>
              <a:t>eye/camera/recenter.py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2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2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2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Відкриті питання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3" name="Table 212"/>
          <p:cNvGraphicFramePr>
            <a:graphicFrameLocks noGrp="1"/>
          </p:cNvGraphicFramePr>
          <p:nvPr/>
        </p:nvGraphicFramePr>
        <p:xfrm>
          <a:off x="812800" y="1742380"/>
          <a:ext cx="10566400" cy="2392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330700"/>
                <a:gridCol w="6235700"/>
              </a:tblGrid>
              <a:tr h="398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Питання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Стан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Дефект реле при увімкненні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Прошивку виправлено. Апаратно: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TODO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Немає годинника реального часу; t_wall_iso порожнє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Час вирівнюється офлайн за записом BOOT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Немає глибокого сну; режим очікування — PARKED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ESP32-S3 не може утримувати сервоприводи через PWM у режимі сну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Лише один канал зв'язку (UART)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Бездротовий зв'язок — наступний етап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Детектор: лише поріг + форма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TODO: що не працює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4" name="TextBox 213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firmware/aim/src/parts/Laser.hpp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firmware/aim/src/StateMachine.hpp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eye/camera/tracker.py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3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3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3"/>
          <p:cNvSpPr/>
          <p:nvPr/>
        </p:nvSpPr>
        <p:spPr>
          <a:xfrm>
            <a:off x="812800" y="1793180"/>
            <a:ext cx="3420566" cy="1016000"/>
          </a:xfrm>
          <a:prstGeom prst="roundRect">
            <a:avLst>
              <a:gd fmla="val 10000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3"/>
          <p:cNvSpPr/>
          <p:nvPr/>
        </p:nvSpPr>
        <p:spPr>
          <a:xfrm>
            <a:off x="990600" y="19709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3"/>
          <p:cNvSpPr/>
          <p:nvPr/>
        </p:nvSpPr>
        <p:spPr>
          <a:xfrm>
            <a:off x="1104900" y="20217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3"/>
          <p:cNvSpPr/>
          <p:nvPr/>
        </p:nvSpPr>
        <p:spPr>
          <a:xfrm>
            <a:off x="990600" y="23316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Похибка відстеження (px), усталена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3"/>
          <p:cNvSpPr/>
          <p:nvPr/>
        </p:nvSpPr>
        <p:spPr>
          <a:xfrm>
            <a:off x="812800" y="2961580"/>
            <a:ext cx="3420467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3"/>
          <p:cNvSpPr/>
          <p:nvPr/>
        </p:nvSpPr>
        <p:spPr>
          <a:xfrm>
            <a:off x="990600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3"/>
          <p:cNvSpPr/>
          <p:nvPr/>
        </p:nvSpPr>
        <p:spPr>
          <a:xfrm>
            <a:off x="1104900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80–1160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3"/>
          <p:cNvSpPr/>
          <p:nvPr/>
        </p:nvSpPr>
        <p:spPr>
          <a:xfrm>
            <a:off x="990600" y="3500041"/>
            <a:ext cx="3156813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Час встановлення (мс)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3"/>
          <p:cNvSpPr/>
          <p:nvPr/>
        </p:nvSpPr>
        <p:spPr>
          <a:xfrm>
            <a:off x="4385667" y="2961580"/>
            <a:ext cx="3420566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3"/>
          <p:cNvSpPr/>
          <p:nvPr/>
        </p:nvSpPr>
        <p:spPr>
          <a:xfrm>
            <a:off x="4563467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3"/>
          <p:cNvSpPr/>
          <p:nvPr/>
        </p:nvSpPr>
        <p:spPr>
          <a:xfrm>
            <a:off x="4677767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27–33%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3"/>
          <p:cNvSpPr/>
          <p:nvPr/>
        </p:nvSpPr>
        <p:spPr>
          <a:xfrm>
            <a:off x="4563467" y="35000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Овершут (tilt)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3"/>
          <p:cNvSpPr/>
          <p:nvPr/>
        </p:nvSpPr>
        <p:spPr>
          <a:xfrm>
            <a:off x="7958634" y="2961580"/>
            <a:ext cx="3420566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3"/>
          <p:cNvSpPr/>
          <p:nvPr/>
        </p:nvSpPr>
        <p:spPr>
          <a:xfrm>
            <a:off x="8136434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3"/>
          <p:cNvSpPr/>
          <p:nvPr/>
        </p:nvSpPr>
        <p:spPr>
          <a:xfrm>
            <a:off x="8250734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~1–4%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3"/>
          <p:cNvSpPr/>
          <p:nvPr/>
        </p:nvSpPr>
        <p:spPr>
          <a:xfrm>
            <a:off x="8136434" y="35000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Овершут (pan)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3"/>
          <p:cNvSpPr/>
          <p:nvPr/>
        </p:nvSpPr>
        <p:spPr>
          <a:xfrm>
            <a:off x="812800" y="4414441"/>
            <a:ext cx="5207000" cy="524470"/>
          </a:xfrm>
          <a:prstGeom prst="roundRect">
            <a:avLst>
              <a:gd fmla="val 19372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3"/>
          <p:cNvSpPr/>
          <p:nvPr/>
        </p:nvSpPr>
        <p:spPr>
          <a:xfrm>
            <a:off x="952500" y="4578846"/>
            <a:ext cx="113307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Відео + QR-код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3"/>
          <p:cNvSpPr/>
          <p:nvPr/>
        </p:nvSpPr>
        <p:spPr>
          <a:xfrm>
            <a:off x="2123678" y="4554141"/>
            <a:ext cx="554335" cy="245070"/>
          </a:xfrm>
          <a:prstGeom prst="roundRect">
            <a:avLst>
              <a:gd fmla="val 36275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3"/>
          <p:cNvSpPr/>
          <p:nvPr/>
        </p:nvSpPr>
        <p:spPr>
          <a:xfrm>
            <a:off x="2225278" y="4592241"/>
            <a:ext cx="401935" cy="194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0"/>
              <a:buFont typeface="Nunito Sans"/>
              <a:buNone/>
            </a:pPr>
            <a:r>
              <a:rPr b="1" i="0" lang="en-US" sz="9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3"/>
          <p:cNvSpPr/>
          <p:nvPr/>
        </p:nvSpPr>
        <p:spPr>
          <a:xfrm>
            <a:off x="6172200" y="4414441"/>
            <a:ext cx="5207000" cy="524470"/>
          </a:xfrm>
          <a:prstGeom prst="roundRect">
            <a:avLst>
              <a:gd fmla="val 19372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3"/>
          <p:cNvSpPr/>
          <p:nvPr/>
        </p:nvSpPr>
        <p:spPr>
          <a:xfrm>
            <a:off x="6311900" y="4578846"/>
            <a:ext cx="2843074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Графіки похибки за режимом і PID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3"/>
          <p:cNvSpPr/>
          <p:nvPr/>
        </p:nvSpPr>
        <p:spPr>
          <a:xfrm>
            <a:off x="9161066" y="4554141"/>
            <a:ext cx="554335" cy="245070"/>
          </a:xfrm>
          <a:prstGeom prst="roundRect">
            <a:avLst>
              <a:gd fmla="val 36275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3"/>
          <p:cNvSpPr/>
          <p:nvPr/>
        </p:nvSpPr>
        <p:spPr>
          <a:xfrm>
            <a:off x="9262666" y="4592241"/>
            <a:ext cx="401935" cy="194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0"/>
              <a:buFont typeface="Nunito Sans"/>
              <a:buNone/>
            </a:pPr>
            <a:r>
              <a:rPr b="1" i="0" lang="en-US" sz="9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5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docs/assestment/verification/README.md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eye/camera/error_graph.py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;p14"/>
          <p:cNvSpPr/>
          <p:nvPr/>
        </p:nvSpPr>
        <p:spPr>
          <a:xfrm>
            <a:off x="812800" y="812800"/>
            <a:ext cx="1710000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" name="Google Shape;3;p14"/>
          <p:cNvSpPr/>
          <p:nvPr/>
        </p:nvSpPr>
        <p:spPr>
          <a:xfrm>
            <a:off x="952500" y="876300"/>
            <a:ext cx="152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ДЕМОНСТРАЦІЯ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4;p14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Демонстрація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Стенд AIM на макетній платі" descr="Гімбал ESP32-S3 на макетній платі з лазером і проводкою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93180"/>
            <a:ext cx="6254490" cy="4306820"/>
          </a:xfrm>
          <a:prstGeom prst="roundRect">
            <a:avLst>
              <a:gd fmla="val 5000" name="adj"/>
            </a:avLst>
          </a:prstGeom>
          <a:ln w="12700">
            <a:solidFill>
              <a:srgbClr val="FFFFFF"/>
            </a:solidFill>
          </a:ln>
          <a:effectLst>
            <a:outerShdw blurRad="90000" dist="30000" dir="5400000" rotWithShape="0">
              <a:srgbClr val="232323">
                <a:alpha val="28000"/>
              </a:srgbClr>
            </a:outerShdw>
          </a:effectLst>
        </p:spPr>
      </p:pic>
      <p:pic>
        <p:nvPicPr>
          <p:cNvPr id="6" name="Знімок eye-app: авто-наведення" descr="Знімок екрана застосунку eye-app з панеллю телеметрії та PID-налаштувань під час авто-наведення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8780" y="1793180"/>
            <a:ext cx="3408931" cy="2023410"/>
          </a:xfrm>
          <a:prstGeom prst="roundRect">
            <a:avLst>
              <a:gd fmla="val 5000" name="adj"/>
            </a:avLst>
          </a:prstGeom>
          <a:ln w="12700">
            <a:solidFill>
              <a:srgbClr val="FFFFFF"/>
            </a:solidFill>
          </a:ln>
          <a:effectLst>
            <a:outerShdw blurRad="90000" dist="30000" dir="5400000" rotWithShape="0">
              <a:srgbClr val="232323">
                <a:alpha val="28000"/>
              </a:srgbClr>
            </a:outerShdw>
          </a:effectLst>
        </p:spPr>
      </p:pic>
      <p:pic>
        <p:nvPicPr>
          <p:cNvPr id="7" name="Знімок eye-app: графік похибки" descr="Знімок екрана застосунку eye-app з debug-панеллю та графіком похибки наведення в часі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638" y="4076590"/>
            <a:ext cx="3417213" cy="2023410"/>
          </a:xfrm>
          <a:prstGeom prst="roundRect">
            <a:avLst>
              <a:gd fmla="val 5000" name="adj"/>
            </a:avLst>
          </a:prstGeom>
          <a:ln w="12700">
            <a:solidFill>
              <a:srgbClr val="FFFFFF"/>
            </a:solidFill>
          </a:ln>
          <a:effectLst>
            <a:outerShdw blurRad="90000" dist="30000" dir="5400000" rotWithShape="0">
              <a:srgbClr val="232323">
                <a:alpha val="28000"/>
              </a:srgbClr>
            </a:outerShdw>
          </a:effectLst>
        </p:spPr>
      </p:pic>
      <p:sp>
        <p:nvSpPr>
          <p:cNvPr id="8" name="TextBox 8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images/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стенд AIM (ESP32-S3) та eye-app під час наведення на ціль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4"/>
          <p:cNvSpPr/>
          <p:nvPr/>
        </p:nvSpPr>
        <p:spPr>
          <a:xfrm>
            <a:off x="812800" y="812800"/>
            <a:ext cx="105435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4"/>
          <p:cNvSpPr/>
          <p:nvPr/>
        </p:nvSpPr>
        <p:spPr>
          <a:xfrm>
            <a:off x="952500" y="876300"/>
            <a:ext cx="833949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ЩО ДАЛІ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4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Що далі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4"/>
          <p:cNvSpPr/>
          <p:nvPr/>
        </p:nvSpPr>
        <p:spPr>
          <a:xfrm>
            <a:off x="812800" y="2024246"/>
            <a:ext cx="5083200" cy="2431800"/>
          </a:xfrm>
          <a:prstGeom prst="roundRect">
            <a:avLst>
              <a:gd fmla="val 7113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4"/>
          <p:cNvSpPr/>
          <p:nvPr/>
        </p:nvSpPr>
        <p:spPr>
          <a:xfrm>
            <a:off x="1041400" y="2252861"/>
            <a:ext cx="406400" cy="406400"/>
          </a:xfrm>
          <a:prstGeom prst="roundRect">
            <a:avLst>
              <a:gd fmla="val 50000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4"/>
          <p:cNvSpPr/>
          <p:nvPr/>
        </p:nvSpPr>
        <p:spPr>
          <a:xfrm>
            <a:off x="1187450" y="2322711"/>
            <a:ext cx="1651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4"/>
          <p:cNvSpPr/>
          <p:nvPr/>
        </p:nvSpPr>
        <p:spPr>
          <a:xfrm>
            <a:off x="1041400" y="2773561"/>
            <a:ext cx="46260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Наступне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4"/>
          <p:cNvSpPr/>
          <p:nvPr/>
        </p:nvSpPr>
        <p:spPr>
          <a:xfrm>
            <a:off x="6296000" y="2024246"/>
            <a:ext cx="5083200" cy="2431800"/>
          </a:xfrm>
          <a:prstGeom prst="roundRect">
            <a:avLst>
              <a:gd fmla="val 7113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4"/>
          <p:cNvSpPr/>
          <p:nvPr/>
        </p:nvSpPr>
        <p:spPr>
          <a:xfrm>
            <a:off x="6524600" y="2252861"/>
            <a:ext cx="406400" cy="406400"/>
          </a:xfrm>
          <a:prstGeom prst="roundRect">
            <a:avLst>
              <a:gd fmla="val 50000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4"/>
          <p:cNvSpPr/>
          <p:nvPr/>
        </p:nvSpPr>
        <p:spPr>
          <a:xfrm>
            <a:off x="6670650" y="2322711"/>
            <a:ext cx="1651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4"/>
          <p:cNvSpPr/>
          <p:nvPr/>
        </p:nvSpPr>
        <p:spPr>
          <a:xfrm>
            <a:off x="6524600" y="2773561"/>
            <a:ext cx="46260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Пізніше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4"/>
          <p:cNvSpPr txBox="1"/>
          <p:nvPr/>
        </p:nvSpPr>
        <p:spPr>
          <a:xfrm>
            <a:off x="6524600" y="3154561"/>
            <a:ext cx="46260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1">
                <a:solidFill>
                  <a:srgbClr val="414C58"/>
                </a:solidFill>
                <a:latin typeface="Nunito Sans"/>
              </a:rPr>
              <a:t>YOLO</a:t>
            </a:r>
            <a:r>
              <a:rPr lang="en-US" sz="1200" b="0">
                <a:solidFill>
                  <a:srgbClr val="414C58"/>
                </a:solidFill>
                <a:latin typeface="Nunito Sans"/>
              </a:rPr>
              <a:t>-детекція просто на камері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1">
                <a:solidFill>
                  <a:srgbClr val="414C58"/>
                </a:solidFill>
                <a:latin typeface="Nunito Sans"/>
              </a:rPr>
              <a:t>NRF24L01+</a:t>
            </a:r>
            <a:r>
              <a:rPr lang="en-US" sz="1200" b="0">
                <a:solidFill>
                  <a:srgbClr val="414C58"/>
                </a:solidFill>
                <a:latin typeface="Nunito Sans"/>
              </a:rPr>
              <a:t> як альтернативний канал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Feed-forward за швидкістю цілі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OLED-меню на пульті PILOT</a:t>
            </a:r>
            <a:endParaRPr/>
          </a:p>
        </p:txBody>
      </p:sp>
      <p:sp>
        <p:nvSpPr>
          <p:cNvPr id="290" name="Google Shape;290;p14"/>
          <p:cNvSpPr txBox="1"/>
          <p:nvPr/>
        </p:nvSpPr>
        <p:spPr>
          <a:xfrm>
            <a:off x="1041400" y="3154561"/>
            <a:ext cx="46260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PILOT (ESP32-C3): джойстик, дистанційний E-stop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MQTT конфіг-план і WiFi-телеметрія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VAULT (STM32): окремий вузол зберігання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Лазер на MOSFET з ШІМ-яскравістю</a:t>
            </a:r>
            <a:endParaRPr/>
          </a:p>
        </p:txBody>
      </p:sp>
      <p:sp>
        <p:nvSpPr>
          <p:cNvPr id="291" name="TextBox 290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README.md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tag;bg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tag;txt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title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Графіки похибки: режим і PID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cell-title-303"/>
          <p:cNvSpPr/>
          <p:nvPr/>
        </p:nvSpPr>
        <p:spPr>
          <a:xfrm>
            <a:off x="1949900" y="1793180"/>
            <a:ext cx="2577400" cy="1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VELOCITYEQUATION · P1/I10/D0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4" name="Google Shape;cell-img-30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900" y="2018180"/>
            <a:ext cx="2577400" cy="1521400"/>
          </a:xfrm>
          <a:prstGeom prst="roundRect">
            <a:avLst>
              <a:gd fmla="val 4000" name="adj"/>
            </a:avLst>
          </a:prstGeom>
          <a:ln w="12700">
            <a:solidFill>
              <a:srgbClr val="FFFFFF"/>
            </a:solidFill>
          </a:ln>
          <a:effectLst>
            <a:outerShdw blurRad="60000" dist="20000" dir="5400000" rotWithShape="0">
              <a:srgbClr val="232323">
                <a:alpha val="22000"/>
              </a:srgbClr>
            </a:outerShdw>
          </a:effectLst>
        </p:spPr>
      </p:pic>
      <p:sp>
        <p:nvSpPr>
          <p:cNvPr id="305" name="Google Shape;cell-metrics-305"/>
          <p:cNvSpPr/>
          <p:nvPr/>
        </p:nvSpPr>
        <p:spPr>
          <a:xfrm>
            <a:off x="1949900" y="3574580"/>
            <a:ext cx="25774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pan: 745 мс, без овершуту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tilt: 1160 мс, овершут ~27%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cell-title-306"/>
          <p:cNvSpPr/>
          <p:nvPr/>
        </p:nvSpPr>
        <p:spPr>
          <a:xfrm>
            <a:off x="4807300" y="1793180"/>
            <a:ext cx="2577400" cy="1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VELOCITYEQUATION · P1/I50/D0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7" name="Google Shape;cell-img-30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7300" y="2018180"/>
            <a:ext cx="2577400" cy="1521400"/>
          </a:xfrm>
          <a:prstGeom prst="roundRect">
            <a:avLst>
              <a:gd fmla="val 4000" name="adj"/>
            </a:avLst>
          </a:prstGeom>
          <a:ln w="12700">
            <a:solidFill>
              <a:srgbClr val="FFFFFF"/>
            </a:solidFill>
          </a:ln>
          <a:effectLst>
            <a:outerShdw blurRad="60000" dist="20000" dir="5400000" rotWithShape="0">
              <a:srgbClr val="232323">
                <a:alpha val="22000"/>
              </a:srgbClr>
            </a:outerShdw>
          </a:effectLst>
        </p:spPr>
      </p:pic>
      <p:sp>
        <p:nvSpPr>
          <p:cNvPr id="308" name="Google Shape;cell-metrics-308"/>
          <p:cNvSpPr/>
          <p:nvPr/>
        </p:nvSpPr>
        <p:spPr>
          <a:xfrm>
            <a:off x="4807300" y="3574580"/>
            <a:ext cx="25774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pan: 169 мс, без овершуту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tilt: 335 мс, овершут ~32%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cell-title-309"/>
          <p:cNvSpPr/>
          <p:nvPr/>
        </p:nvSpPr>
        <p:spPr>
          <a:xfrm>
            <a:off x="7664700" y="1793180"/>
            <a:ext cx="2577400" cy="1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VELOCITYEQUATION · P1/I100/D0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0" name="Google Shape;cell-img-3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700" y="2018180"/>
            <a:ext cx="2577400" cy="1521400"/>
          </a:xfrm>
          <a:prstGeom prst="roundRect">
            <a:avLst>
              <a:gd fmla="val 4000" name="adj"/>
            </a:avLst>
          </a:prstGeom>
          <a:ln w="12700">
            <a:solidFill>
              <a:srgbClr val="FFFFFF"/>
            </a:solidFill>
          </a:ln>
          <a:effectLst>
            <a:outerShdw blurRad="60000" dist="20000" dir="5400000" rotWithShape="0">
              <a:srgbClr val="232323">
                <a:alpha val="22000"/>
              </a:srgbClr>
            </a:outerShdw>
          </a:effectLst>
        </p:spPr>
      </p:pic>
      <p:sp>
        <p:nvSpPr>
          <p:cNvPr id="311" name="Google Shape;cell-metrics-311"/>
          <p:cNvSpPr/>
          <p:nvPr/>
        </p:nvSpPr>
        <p:spPr>
          <a:xfrm>
            <a:off x="7664700" y="3574580"/>
            <a:ext cx="25774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pan: 81 мс, без овершуту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tilt: 146 мс, овершут ~33%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cell-title-312"/>
          <p:cNvSpPr/>
          <p:nvPr/>
        </p:nvSpPr>
        <p:spPr>
          <a:xfrm>
            <a:off x="1949900" y="4094580"/>
            <a:ext cx="2577400" cy="1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POSITIONAL · pan P40/I2 · tilt P35/I2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3" name="Google Shape;cell-img-3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9900" y="4319580"/>
            <a:ext cx="2577400" cy="1521400"/>
          </a:xfrm>
          <a:prstGeom prst="roundRect">
            <a:avLst>
              <a:gd fmla="val 4000" name="adj"/>
            </a:avLst>
          </a:prstGeom>
          <a:ln w="12700">
            <a:solidFill>
              <a:srgbClr val="FFFFFF"/>
            </a:solidFill>
          </a:ln>
          <a:effectLst>
            <a:outerShdw blurRad="60000" dist="20000" dir="5400000" rotWithShape="0">
              <a:srgbClr val="232323">
                <a:alpha val="22000"/>
              </a:srgbClr>
            </a:outerShdw>
          </a:effectLst>
        </p:spPr>
      </p:pic>
      <p:sp>
        <p:nvSpPr>
          <p:cNvPr id="314" name="Google Shape;cell-metrics-314"/>
          <p:cNvSpPr/>
          <p:nvPr/>
        </p:nvSpPr>
        <p:spPr>
          <a:xfrm>
            <a:off x="1949900" y="5875980"/>
            <a:ext cx="25774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pan: 171 мс, без овершуту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tilt: 592 мс, овершут ~27%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cell-title-315"/>
          <p:cNvSpPr/>
          <p:nvPr/>
        </p:nvSpPr>
        <p:spPr>
          <a:xfrm>
            <a:off x="4807300" y="4094580"/>
            <a:ext cx="2577400" cy="1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POSITIONAL · pan P100/I10 · tilt P100/I9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6" name="Google Shape;cell-img-3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7300" y="4319580"/>
            <a:ext cx="2577400" cy="1521400"/>
          </a:xfrm>
          <a:prstGeom prst="roundRect">
            <a:avLst>
              <a:gd fmla="val 4000" name="adj"/>
            </a:avLst>
          </a:prstGeom>
          <a:ln w="12700">
            <a:solidFill>
              <a:srgbClr val="FFFFFF"/>
            </a:solidFill>
          </a:ln>
          <a:effectLst>
            <a:outerShdw blurRad="60000" dist="20000" dir="5400000" rotWithShape="0">
              <a:srgbClr val="232323">
                <a:alpha val="22000"/>
              </a:srgbClr>
            </a:outerShdw>
          </a:effectLst>
        </p:spPr>
      </p:pic>
      <p:sp>
        <p:nvSpPr>
          <p:cNvPr id="317" name="Google Shape;cell-metrics-317"/>
          <p:cNvSpPr/>
          <p:nvPr/>
        </p:nvSpPr>
        <p:spPr>
          <a:xfrm>
            <a:off x="4807300" y="5875980"/>
            <a:ext cx="25774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pan: 80 мс, без овершуту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tilt: 475 мс, овершут ~29%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insight;bg"/>
          <p:cNvSpPr/>
          <p:nvPr/>
        </p:nvSpPr>
        <p:spPr>
          <a:xfrm>
            <a:off x="7664700" y="4094580"/>
            <a:ext cx="2577400" cy="2081400"/>
          </a:xfrm>
          <a:prstGeom prst="roundRect">
            <a:avLst>
              <a:gd fmla="val 6000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insight;txt"/>
          <p:cNvSpPr/>
          <p:nvPr/>
        </p:nvSpPr>
        <p:spPr>
          <a:xfrm>
            <a:off x="7824700" y="4254580"/>
            <a:ext cx="2257400" cy="176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Спостереження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Канал tilt овершутить на всіх режимах і PID (~27–33%); канал pan — практично ні (~1–4%).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Найшвидше усталення: VELOCITYEQUATION P1/I100 — pan 81 мс, tilt 146 мс.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Найповільніше: VELOCITYEQUATION P1/I10 — pan 745 мс, tilt 1160 мс.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TextBox 320"/>
          <p:cNvSpPr txBox="1"/>
          <p:nvPr/>
        </p:nvSpPr>
        <p:spPr>
          <a:xfrm>
            <a:off x="812800" y="654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8"/>
              </a:rPr>
              <a:t>docs/assestment/verification/README.md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9"/>
              </a:rPr>
              <a:t>eye/camera/error_graph.py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логи: docs/assestment/presentation/graphs-to-target-with-different-mode-and-pids/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2026-09-20T09:46:50Z</dcterms:created>
  <dc:creator>PptxGenJS</dc:creator>
</cp:coreProperties>
</file>