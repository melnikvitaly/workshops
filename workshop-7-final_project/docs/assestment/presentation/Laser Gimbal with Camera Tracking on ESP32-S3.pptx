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title slide. Say the project name once, clearly, then move straight to the hook. Do not read the student, group or date fields out loud — the audience can see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hook. Say the two sentences, pause on the number, then ask the question and stop talking. Do not answer it yet — the next slides do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this table top to bottom. The delay row is the one that matters most — it is why the rest of the design looks the way it does. End on scope, so the audience knows what is deliberately out of bounds.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camera is the source of truth, not the servo's own angle sensor. One UART link at 115200 baud carries the error vector to AIM, which runs the two PID loops and drives the gimbal. Point out the dashed loop: the servo moves the dot, the camera sees it move, and the loop closes.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key idea: we command speed, not angle, and let the firmware integrate speed into angle every 20 milliseconds. That integrator means a simple proportional controller is usually enough — no need to tune a full PID by hand.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tasks, split across two cores. The E-stop and the laser gate run at the highest priority in the safety task. Logger is deliberately the lowest priority — it is the only task allowed to block, so an SD card stall never delays the control loop.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laser can only fire in two states, and only when every condition in laserPermitted is true at once. A silent link for 300 milliseconds trips LINK_LOST and stops the motors. The E-stop path is deliberately tiny — the interrupt does nothing but notify the safety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small decisions that saved us from bigger problems later. The one to sit with is row two: the PID's own clamp is set below the Gimbal's hard limit, so anti-windup logic can always see the real limit, checked with a static_assert at compile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one real fragment, ten to twenty lines, and explain the one non-obvious decision in it — the clamp order, or the static_assert. Do not scroll through the whole file.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failures we actually hit on the rig, not hypothetical ones. The auto-aim blow-up is the scariest — walk through the clamp fix carefully, it's the one most likely to come up in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came from design review, not the rig — they are the failure modes we caught by thinking through the wiring and the protocol before they became rig incidents.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about these — an examiner will ask about at least one. The wireless and deep-sleep rows are deliberate scope cuts, not oversights; say so plainly.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Lead with the two numbers we actually have: the 20 millisecond control step and the 300 millisecond link timeout. Be honest that the rest are still pending measurement — do not round or guess them out 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try to cover everything — give one clear thread. Say what runs today, name the single next step you'd prioritize, and end on the longer-term wireless and storage plan so the audience leaves with a sense of direction.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1.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1.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7F6F5"/>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01</a:t>
            </a:r>
            <a:endParaRPr lang="en-US" sz="5600" dirty="0"/>
          </a:p>
        </p:txBody>
      </p:sp>
      <p:sp>
        <p:nvSpPr>
          <p:cNvPr id="3" name="Text 1"/>
          <p:cNvSpPr/>
          <p:nvPr/>
        </p:nvSpPr>
        <p:spPr>
          <a:xfrm>
            <a:off x="812800" y="812800"/>
            <a:ext cx="3641219" cy="238720"/>
          </a:xfrm>
          <a:prstGeom prst="rect">
            <a:avLst/>
          </a:prstGeom>
          <a:noFill/>
          <a:ln/>
        </p:spPr>
        <p:txBody>
          <a:bodyPr wrap="square" lIns="0" tIns="0" rIns="0" bIns="0" rtlCol="0" anchor="t">
            <a:normAutofit/>
          </a:bodyPr>
          <a:lstStyle/>
          <a:p>
            <a:pPr algn="l" indent="0" marL="0">
              <a:lnSpc>
                <a:spcPts val="1680"/>
              </a:lnSpc>
              <a:buNone/>
            </a:pPr>
            <a:r>
              <a:rPr lang="en-US" sz="1200" b="1" spc="150" kern="0" dirty="0">
                <a:solidFill>
                  <a:srgbClr val="414C58"/>
                </a:solidFill>
                <a:latin typeface="Nunito Sans" pitchFamily="34" charset="0"/>
                <a:ea typeface="Nunito Sans" pitchFamily="34" charset="-122"/>
                <a:cs typeface="Nunito Sans" pitchFamily="34" charset="-120"/>
              </a:rPr>
              <a:t>DEFENCE — EMBEDDED DEVELOPMENT</a:t>
            </a:r>
            <a:endParaRPr lang="en-US" sz="1200" dirty="0"/>
          </a:p>
        </p:txBody>
      </p:sp>
      <p:sp>
        <p:nvSpPr>
          <p:cNvPr id="4" name="Text 2"/>
          <p:cNvSpPr/>
          <p:nvPr/>
        </p:nvSpPr>
        <p:spPr>
          <a:xfrm>
            <a:off x="812800" y="1203920"/>
            <a:ext cx="9156700" cy="1031081"/>
          </a:xfrm>
          <a:prstGeom prst="rect">
            <a:avLst/>
          </a:prstGeom>
          <a:noFill/>
          <a:ln/>
        </p:spPr>
        <p:txBody>
          <a:bodyPr wrap="square" lIns="0" tIns="0" rIns="0" bIns="0" rtlCol="0" anchor="t">
            <a:normAutofit/>
          </a:bodyPr>
          <a:lstStyle/>
          <a:p>
            <a:pPr algn="l" indent="0" marL="0">
              <a:lnSpc>
                <a:spcPts val="3960"/>
              </a:lnSpc>
              <a:buNone/>
            </a:pPr>
            <a:r>
              <a:rPr lang="en-US" sz="3600" b="1" dirty="0">
                <a:solidFill>
                  <a:srgbClr val="232323"/>
                </a:solidFill>
                <a:latin typeface="Nunito Sans" pitchFamily="34" charset="0"/>
                <a:ea typeface="Nunito Sans" pitchFamily="34" charset="-122"/>
                <a:cs typeface="Nunito Sans" pitchFamily="34" charset="-120"/>
              </a:rPr>
              <a:t>Laser Gimbal with Camera Tracking on ESP32-S3</a:t>
            </a:r>
            <a:endParaRPr lang="en-US" sz="3600" dirty="0"/>
          </a:p>
        </p:txBody>
      </p:sp>
      <p:sp>
        <p:nvSpPr>
          <p:cNvPr id="5" name="Text 3"/>
          <p:cNvSpPr/>
          <p:nvPr/>
        </p:nvSpPr>
        <p:spPr>
          <a:xfrm>
            <a:off x="812800" y="2387402"/>
            <a:ext cx="10883392" cy="309860"/>
          </a:xfrm>
          <a:prstGeom prst="rect">
            <a:avLst/>
          </a:prstGeom>
          <a:noFill/>
          <a:ln/>
        </p:spPr>
        <p:txBody>
          <a:bodyPr wrap="square" lIns="0" tIns="0" rIns="0" bIns="0" rtlCol="0" anchor="t">
            <a:normAutofit/>
          </a:bodyPr>
          <a:lstStyle/>
          <a:p>
            <a:pPr algn="l" indent="0" marL="0">
              <a:lnSpc>
                <a:spcPts val="2240"/>
              </a:lnSpc>
              <a:buNone/>
            </a:pPr>
            <a:r>
              <a:rPr lang="en-US" sz="1600" dirty="0">
                <a:solidFill>
                  <a:srgbClr val="414C58"/>
                </a:solidFill>
                <a:latin typeface="Nunito Sans" pitchFamily="34" charset="0"/>
                <a:ea typeface="Nunito Sans" pitchFamily="34" charset="-122"/>
                <a:cs typeface="Nunito Sans" pitchFamily="34" charset="-120"/>
              </a:rPr>
              <a:t>FreeRTOS, PID, OpenCV</a:t>
            </a:r>
            <a:endParaRPr lang="en-US" sz="1600" dirty="0"/>
          </a:p>
        </p:txBody>
      </p:sp>
      <p:sp>
        <p:nvSpPr>
          <p:cNvPr id="6" name="Shape 4"/>
          <p:cNvSpPr/>
          <p:nvPr/>
        </p:nvSpPr>
        <p:spPr>
          <a:xfrm>
            <a:off x="812800" y="2849662"/>
            <a:ext cx="6604000" cy="2712442"/>
          </a:xfrm>
          <a:prstGeom prst="roundRect">
            <a:avLst>
              <a:gd name="adj" fmla="val 5619"/>
            </a:avLst>
          </a:prstGeom>
          <a:solidFill>
            <a:srgbClr val="C5D6E9"/>
          </a:solidFill>
          <a:ln/>
        </p:spPr>
      </p:sp>
      <p:sp>
        <p:nvSpPr>
          <p:cNvPr id="7" name="Text 5"/>
          <p:cNvSpPr/>
          <p:nvPr/>
        </p:nvSpPr>
        <p:spPr>
          <a:xfrm>
            <a:off x="1168400" y="3205262"/>
            <a:ext cx="170180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2323"/>
                </a:solidFill>
                <a:latin typeface="Nunito Sans" pitchFamily="34" charset="0"/>
                <a:ea typeface="Nunito Sans" pitchFamily="34" charset="-122"/>
                <a:cs typeface="Nunito Sans" pitchFamily="34" charset="-120"/>
              </a:rPr>
              <a:t>Student</a:t>
            </a:r>
            <a:endParaRPr lang="en-US" sz="1400" dirty="0"/>
          </a:p>
        </p:txBody>
      </p:sp>
      <p:sp>
        <p:nvSpPr>
          <p:cNvPr id="8" name="Text 6"/>
          <p:cNvSpPr/>
          <p:nvPr/>
        </p:nvSpPr>
        <p:spPr>
          <a:xfrm>
            <a:off x="2946400" y="3205262"/>
            <a:ext cx="1089124"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32323"/>
                </a:solidFill>
                <a:latin typeface="Nunito Sans" pitchFamily="34" charset="0"/>
                <a:ea typeface="Nunito Sans" pitchFamily="34" charset="-122"/>
                <a:cs typeface="Nunito Sans" pitchFamily="34" charset="-120"/>
              </a:rPr>
              <a:t>Vitaly Melnik</a:t>
            </a:r>
            <a:endParaRPr lang="en-US" sz="1400" dirty="0"/>
          </a:p>
        </p:txBody>
      </p:sp>
      <p:sp>
        <p:nvSpPr>
          <p:cNvPr id="9" name="Text 7"/>
          <p:cNvSpPr/>
          <p:nvPr/>
        </p:nvSpPr>
        <p:spPr>
          <a:xfrm>
            <a:off x="1168400" y="3626842"/>
            <a:ext cx="170180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2323"/>
                </a:solidFill>
                <a:latin typeface="Nunito Sans" pitchFamily="34" charset="0"/>
                <a:ea typeface="Nunito Sans" pitchFamily="34" charset="-122"/>
                <a:cs typeface="Nunito Sans" pitchFamily="34" charset="-120"/>
              </a:rPr>
              <a:t>Group</a:t>
            </a:r>
            <a:endParaRPr lang="en-US" sz="1400" dirty="0"/>
          </a:p>
        </p:txBody>
      </p:sp>
      <p:sp>
        <p:nvSpPr>
          <p:cNvPr id="10" name="Shape 8"/>
          <p:cNvSpPr/>
          <p:nvPr/>
        </p:nvSpPr>
        <p:spPr>
          <a:xfrm>
            <a:off x="2946400" y="3593802"/>
            <a:ext cx="1780480" cy="314920"/>
          </a:xfrm>
          <a:prstGeom prst="roundRect">
            <a:avLst>
              <a:gd name="adj" fmla="val 36295"/>
            </a:avLst>
          </a:prstGeom>
          <a:solidFill>
            <a:srgbClr val="FCF2B5"/>
          </a:solidFill>
          <a:ln/>
        </p:spPr>
      </p:sp>
      <p:sp>
        <p:nvSpPr>
          <p:cNvPr id="11" name="Text 9"/>
          <p:cNvSpPr/>
          <p:nvPr/>
        </p:nvSpPr>
        <p:spPr>
          <a:xfrm>
            <a:off x="3073400" y="3644602"/>
            <a:ext cx="157728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32323"/>
                </a:solidFill>
                <a:latin typeface="Nunito Sans" pitchFamily="34" charset="0"/>
                <a:ea typeface="Nunito Sans" pitchFamily="34" charset="-122"/>
                <a:cs typeface="Nunito Sans" pitchFamily="34" charset="-120"/>
              </a:rPr>
              <a:t>TODO: group number</a:t>
            </a:r>
            <a:endParaRPr lang="en-US" sz="1200" dirty="0"/>
          </a:p>
        </p:txBody>
      </p:sp>
      <p:sp>
        <p:nvSpPr>
          <p:cNvPr id="12" name="Text 10"/>
          <p:cNvSpPr/>
          <p:nvPr/>
        </p:nvSpPr>
        <p:spPr>
          <a:xfrm>
            <a:off x="1168400" y="4048423"/>
            <a:ext cx="170180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2323"/>
                </a:solidFill>
                <a:latin typeface="Nunito Sans" pitchFamily="34" charset="0"/>
                <a:ea typeface="Nunito Sans" pitchFamily="34" charset="-122"/>
                <a:cs typeface="Nunito Sans" pitchFamily="34" charset="-120"/>
              </a:rPr>
              <a:t>Course</a:t>
            </a:r>
            <a:endParaRPr lang="en-US" sz="1400" dirty="0"/>
          </a:p>
        </p:txBody>
      </p:sp>
      <p:sp>
        <p:nvSpPr>
          <p:cNvPr id="13" name="Text 11"/>
          <p:cNvSpPr/>
          <p:nvPr/>
        </p:nvSpPr>
        <p:spPr>
          <a:xfrm>
            <a:off x="2946400" y="4048423"/>
            <a:ext cx="2039307" cy="274241"/>
          </a:xfrm>
          <a:prstGeom prst="rect">
            <a:avLst/>
          </a:prstGeom>
          <a:noFill/>
          <a:ln/>
        </p:spPr>
        <p:txBody>
          <a:bodyPr wrap="square" lIns="0" tIns="0" rIns="0" bIns="0" rtlCol="0" anchor="t">
            <a:normAutofit/>
          </a:bodyPr>
          <a:lstStyle/>
          <a:p>
            <a:pPr algn="l" indent="0" marL="0">
              <a:lnSpc>
                <a:spcPts val="1960"/>
              </a:lnSpc>
              <a:buNone/>
            </a:pPr>
            <a:r>
              <a:rPr lang="en-US" sz="1400" dirty="0">
                <a:solidFill>
                  <a:srgbClr val="232323"/>
                </a:solidFill>
                <a:latin typeface="Nunito Sans" pitchFamily="34" charset="0"/>
                <a:ea typeface="Nunito Sans" pitchFamily="34" charset="-122"/>
                <a:cs typeface="Nunito Sans" pitchFamily="34" charset="-120"/>
              </a:rPr>
              <a:t>Embedded Development</a:t>
            </a:r>
            <a:endParaRPr lang="en-US" sz="1400" dirty="0"/>
          </a:p>
        </p:txBody>
      </p:sp>
      <p:sp>
        <p:nvSpPr>
          <p:cNvPr id="14" name="Text 12"/>
          <p:cNvSpPr/>
          <p:nvPr/>
        </p:nvSpPr>
        <p:spPr>
          <a:xfrm>
            <a:off x="1168400" y="4470003"/>
            <a:ext cx="170180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2323"/>
                </a:solidFill>
                <a:latin typeface="Nunito Sans" pitchFamily="34" charset="0"/>
                <a:ea typeface="Nunito Sans" pitchFamily="34" charset="-122"/>
                <a:cs typeface="Nunito Sans" pitchFamily="34" charset="-120"/>
              </a:rPr>
              <a:t>Defence date</a:t>
            </a:r>
            <a:endParaRPr lang="en-US" sz="1400" dirty="0"/>
          </a:p>
        </p:txBody>
      </p:sp>
      <p:sp>
        <p:nvSpPr>
          <p:cNvPr id="15" name="Shape 13"/>
          <p:cNvSpPr/>
          <p:nvPr/>
        </p:nvSpPr>
        <p:spPr>
          <a:xfrm>
            <a:off x="2946400" y="4436963"/>
            <a:ext cx="1711722" cy="314920"/>
          </a:xfrm>
          <a:prstGeom prst="roundRect">
            <a:avLst>
              <a:gd name="adj" fmla="val 36295"/>
            </a:avLst>
          </a:prstGeom>
          <a:solidFill>
            <a:srgbClr val="FCF2B5"/>
          </a:solidFill>
          <a:ln/>
        </p:spPr>
      </p:sp>
      <p:sp>
        <p:nvSpPr>
          <p:cNvPr id="16" name="Text 14"/>
          <p:cNvSpPr/>
          <p:nvPr/>
        </p:nvSpPr>
        <p:spPr>
          <a:xfrm>
            <a:off x="3073400" y="4487763"/>
            <a:ext cx="1508522"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32323"/>
                </a:solidFill>
                <a:latin typeface="Nunito Sans" pitchFamily="34" charset="0"/>
                <a:ea typeface="Nunito Sans" pitchFamily="34" charset="-122"/>
                <a:cs typeface="Nunito Sans" pitchFamily="34" charset="-120"/>
              </a:rPr>
              <a:t>TODO: DD.MM.YYYY</a:t>
            </a:r>
            <a:endParaRPr lang="en-US" sz="1200" dirty="0"/>
          </a:p>
        </p:txBody>
      </p:sp>
      <p:sp>
        <p:nvSpPr>
          <p:cNvPr id="17" name="Text 15"/>
          <p:cNvSpPr/>
          <p:nvPr/>
        </p:nvSpPr>
        <p:spPr>
          <a:xfrm>
            <a:off x="1168400" y="4924623"/>
            <a:ext cx="170180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2323"/>
                </a:solidFill>
                <a:latin typeface="Nunito Sans" pitchFamily="34" charset="0"/>
                <a:ea typeface="Nunito Sans" pitchFamily="34" charset="-122"/>
                <a:cs typeface="Nunito Sans" pitchFamily="34" charset="-120"/>
              </a:rPr>
              <a:t>GitHub</a:t>
            </a:r>
            <a:endParaRPr lang="en-US" sz="1400" dirty="0"/>
          </a:p>
        </p:txBody>
      </p:sp>
      <p:sp>
        <p:nvSpPr>
          <p:cNvPr id="18" name="Shape 16"/>
          <p:cNvSpPr/>
          <p:nvPr/>
        </p:nvSpPr>
        <p:spPr>
          <a:xfrm>
            <a:off x="2946400" y="4891584"/>
            <a:ext cx="1799530" cy="314920"/>
          </a:xfrm>
          <a:prstGeom prst="roundRect">
            <a:avLst>
              <a:gd name="adj" fmla="val 36295"/>
            </a:avLst>
          </a:prstGeom>
          <a:solidFill>
            <a:srgbClr val="FCF2B5"/>
          </a:solidFill>
          <a:ln/>
        </p:spPr>
      </p:sp>
      <p:sp>
        <p:nvSpPr>
          <p:cNvPr id="19" name="Text 17"/>
          <p:cNvSpPr/>
          <p:nvPr/>
        </p:nvSpPr>
        <p:spPr>
          <a:xfrm>
            <a:off x="3073400" y="4942384"/>
            <a:ext cx="1596330"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32323"/>
                </a:solidFill>
                <a:latin typeface="Nunito Sans" pitchFamily="34" charset="0"/>
                <a:ea typeface="Nunito Sans" pitchFamily="34" charset="-122"/>
                <a:cs typeface="Nunito Sans" pitchFamily="34" charset="-120"/>
              </a:rPr>
              <a:t>TODO: repository link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C5D6E9"/>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AE5F1"/>
                </a:solidFill>
                <a:latin typeface="Nunito Sans" pitchFamily="34" charset="0"/>
                <a:ea typeface="Nunito Sans" pitchFamily="34" charset="-122"/>
                <a:cs typeface="Nunito Sans" pitchFamily="34" charset="-120"/>
              </a:rPr>
              <a:t>02</a:t>
            </a:r>
            <a:endParaRPr lang="en-US" sz="5600" dirty="0"/>
          </a:p>
        </p:txBody>
      </p:sp>
      <p:sp>
        <p:nvSpPr>
          <p:cNvPr id="3" name="Shape 1"/>
          <p:cNvSpPr/>
          <p:nvPr/>
        </p:nvSpPr>
        <p:spPr>
          <a:xfrm>
            <a:off x="5238750" y="1472009"/>
            <a:ext cx="1714500" cy="340320"/>
          </a:xfrm>
          <a:prstGeom prst="roundRect">
            <a:avLst>
              <a:gd name="adj" fmla="val 37318"/>
            </a:avLst>
          </a:prstGeom>
          <a:solidFill>
            <a:srgbClr val="F7F6F5"/>
          </a:solidFill>
          <a:ln/>
        </p:spPr>
      </p:sp>
      <p:sp>
        <p:nvSpPr>
          <p:cNvPr id="4" name="Text 2"/>
          <p:cNvSpPr/>
          <p:nvPr/>
        </p:nvSpPr>
        <p:spPr>
          <a:xfrm>
            <a:off x="5378450" y="1535509"/>
            <a:ext cx="1485900"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1 — HOOK</a:t>
            </a:r>
            <a:endParaRPr lang="en-US" sz="1200" dirty="0"/>
          </a:p>
        </p:txBody>
      </p:sp>
      <p:sp>
        <p:nvSpPr>
          <p:cNvPr id="5" name="Text 3"/>
          <p:cNvSpPr/>
          <p:nvPr/>
        </p:nvSpPr>
        <p:spPr>
          <a:xfrm>
            <a:off x="2171700" y="2040930"/>
            <a:ext cx="7848600" cy="327620"/>
          </a:xfrm>
          <a:prstGeom prst="rect">
            <a:avLst/>
          </a:prstGeom>
          <a:noFill/>
          <a:ln/>
        </p:spPr>
        <p:txBody>
          <a:bodyPr wrap="square" lIns="0" tIns="0" rIns="0" bIns="0" rtlCol="0" anchor="t">
            <a:normAutofit/>
          </a:bodyPr>
          <a:lstStyle/>
          <a:p>
            <a:pPr algn="ctr" indent="0" marL="0">
              <a:lnSpc>
                <a:spcPts val="2380"/>
              </a:lnSpc>
              <a:buNone/>
            </a:pPr>
            <a:r>
              <a:rPr lang="en-US" sz="1700" dirty="0">
                <a:solidFill>
                  <a:srgbClr val="232323"/>
                </a:solidFill>
                <a:latin typeface="Nunito Sans" pitchFamily="34" charset="0"/>
                <a:ea typeface="Nunito Sans" pitchFamily="34" charset="-122"/>
                <a:cs typeface="Nunito Sans" pitchFamily="34" charset="-120"/>
              </a:rPr>
              <a:t>We move a laser with servos and watch it with a camera.</a:t>
            </a:r>
            <a:endParaRPr lang="en-US" sz="1700" dirty="0"/>
          </a:p>
        </p:txBody>
      </p:sp>
      <p:sp>
        <p:nvSpPr>
          <p:cNvPr id="6" name="Text 4"/>
          <p:cNvSpPr/>
          <p:nvPr/>
        </p:nvSpPr>
        <p:spPr>
          <a:xfrm>
            <a:off x="2492375" y="2571750"/>
            <a:ext cx="7423365" cy="1422400"/>
          </a:xfrm>
          <a:prstGeom prst="rect">
            <a:avLst/>
          </a:prstGeom>
          <a:noFill/>
          <a:ln/>
        </p:spPr>
        <p:txBody>
          <a:bodyPr wrap="square" lIns="0" tIns="0" rIns="0" bIns="0" rtlCol="0" anchor="t">
            <a:normAutofit/>
          </a:bodyPr>
          <a:lstStyle/>
          <a:p>
            <a:pPr algn="l" indent="0" marL="0">
              <a:lnSpc>
                <a:spcPts val="11000"/>
              </a:lnSpc>
              <a:buNone/>
            </a:pPr>
            <a:r>
              <a:rPr lang="en-US" sz="11000" b="1" dirty="0">
                <a:solidFill>
                  <a:srgbClr val="232323"/>
                </a:solidFill>
                <a:latin typeface="Nunito Sans" pitchFamily="34" charset="0"/>
                <a:ea typeface="Nunito Sans" pitchFamily="34" charset="-122"/>
                <a:cs typeface="Nunito Sans" pitchFamily="34" charset="-120"/>
              </a:rPr>
              <a:t>50–250 ms</a:t>
            </a:r>
            <a:endParaRPr lang="en-US" sz="11000" dirty="0"/>
          </a:p>
        </p:txBody>
      </p:sp>
      <p:sp>
        <p:nvSpPr>
          <p:cNvPr id="7" name="Text 5"/>
          <p:cNvSpPr/>
          <p:nvPr/>
        </p:nvSpPr>
        <p:spPr>
          <a:xfrm>
            <a:off x="2498725" y="4197350"/>
            <a:ext cx="7194550" cy="594320"/>
          </a:xfrm>
          <a:prstGeom prst="rect">
            <a:avLst/>
          </a:prstGeom>
          <a:noFill/>
          <a:ln/>
        </p:spPr>
        <p:txBody>
          <a:bodyPr wrap="square" lIns="0" tIns="0" rIns="0" bIns="0" rtlCol="0" anchor="t">
            <a:normAutofit/>
          </a:bodyPr>
          <a:lstStyle/>
          <a:p>
            <a:pPr algn="ctr" indent="0" marL="0">
              <a:lnSpc>
                <a:spcPts val="2240"/>
              </a:lnSpc>
              <a:buNone/>
            </a:pPr>
            <a:r>
              <a:rPr lang="en-US" sz="1600" dirty="0">
                <a:solidFill>
                  <a:srgbClr val="414C58"/>
                </a:solidFill>
                <a:latin typeface="Nunito Sans" pitchFamily="34" charset="0"/>
                <a:ea typeface="Nunito Sans" pitchFamily="34" charset="-122"/>
                <a:cs typeface="Nunito Sans" pitchFamily="34" charset="-120"/>
              </a:rPr>
              <a:t>That's how late the camera image is. With late feedback, the gimbal easily overshoots.</a:t>
            </a:r>
            <a:endParaRPr lang="en-US" sz="1600" dirty="0"/>
          </a:p>
        </p:txBody>
      </p:sp>
      <p:sp>
        <p:nvSpPr>
          <p:cNvPr id="8" name="Text 6"/>
          <p:cNvSpPr/>
          <p:nvPr/>
        </p:nvSpPr>
        <p:spPr>
          <a:xfrm>
            <a:off x="2171700" y="4994870"/>
            <a:ext cx="7848600" cy="416520"/>
          </a:xfrm>
          <a:prstGeom prst="rect">
            <a:avLst/>
          </a:prstGeom>
          <a:noFill/>
          <a:ln/>
        </p:spPr>
        <p:txBody>
          <a:bodyPr wrap="square" lIns="0" tIns="0" rIns="0" bIns="0" rtlCol="0" anchor="t">
            <a:normAutofit/>
          </a:bodyPr>
          <a:lstStyle/>
          <a:p>
            <a:pPr algn="ctr" indent="0" marL="0">
              <a:lnSpc>
                <a:spcPts val="3080"/>
              </a:lnSpc>
              <a:buNone/>
            </a:pPr>
            <a:r>
              <a:rPr lang="en-US" sz="2200" b="1" dirty="0">
                <a:solidFill>
                  <a:srgbClr val="232323"/>
                </a:solidFill>
                <a:latin typeface="Nunito Sans" pitchFamily="34" charset="0"/>
                <a:ea typeface="Nunito Sans" pitchFamily="34" charset="-122"/>
                <a:cs typeface="Nunito Sans" pitchFamily="34" charset="-120"/>
              </a:rPr>
              <a:t>How do we fix that?</a:t>
            </a:r>
            <a:endParaRPr lang="en-US"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6F5"/>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03</a:t>
            </a:r>
            <a:endParaRPr lang="en-US" sz="5600" dirty="0"/>
          </a:p>
        </p:txBody>
      </p:sp>
      <p:sp>
        <p:nvSpPr>
          <p:cNvPr id="3" name="Shape 1"/>
          <p:cNvSpPr/>
          <p:nvPr/>
        </p:nvSpPr>
        <p:spPr>
          <a:xfrm>
            <a:off x="812800" y="812800"/>
            <a:ext cx="2030909" cy="340320"/>
          </a:xfrm>
          <a:prstGeom prst="roundRect">
            <a:avLst>
              <a:gd name="adj" fmla="val 37318"/>
            </a:avLst>
          </a:prstGeom>
          <a:solidFill>
            <a:srgbClr val="DAE5F1"/>
          </a:solidFill>
          <a:ln/>
        </p:spPr>
      </p:sp>
      <p:sp>
        <p:nvSpPr>
          <p:cNvPr id="4" name="Text 2"/>
          <p:cNvSpPr/>
          <p:nvPr/>
        </p:nvSpPr>
        <p:spPr>
          <a:xfrm>
            <a:off x="952500" y="876300"/>
            <a:ext cx="1804054"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2 — PROBLEM</a:t>
            </a:r>
            <a:endParaRPr lang="en-US" sz="1200" dirty="0"/>
          </a:p>
        </p:txBody>
      </p:sp>
      <p:sp>
        <p:nvSpPr>
          <p:cNvPr id="5" name="Text 3"/>
          <p:cNvSpPr/>
          <p:nvPr/>
        </p:nvSpPr>
        <p:spPr>
          <a:xfrm>
            <a:off x="812800" y="1356320"/>
            <a:ext cx="10883392" cy="444500"/>
          </a:xfrm>
          <a:prstGeom prst="rect">
            <a:avLst/>
          </a:prstGeom>
          <a:noFill/>
          <a:ln/>
        </p:spPr>
        <p:txBody>
          <a:bodyPr wrap="square" lIns="0" tIns="0" rIns="0" bIns="0" rtlCol="0" anchor="t">
            <a:normAutofit/>
          </a:bodyPr>
          <a:lstStyle/>
          <a:p>
            <a:pPr algn="l" indent="0" marL="0">
              <a:lnSpc>
                <a:spcPts val="3300"/>
              </a:lnSpc>
              <a:buNone/>
            </a:pPr>
            <a:r>
              <a:rPr lang="en-US" sz="3000" b="1" dirty="0">
                <a:solidFill>
                  <a:srgbClr val="232323"/>
                </a:solidFill>
                <a:latin typeface="Nunito Sans" pitchFamily="34" charset="0"/>
                <a:ea typeface="Nunito Sans" pitchFamily="34" charset="-122"/>
                <a:cs typeface="Nunito Sans" pitchFamily="34" charset="-120"/>
              </a:rPr>
              <a:t>Problem: context and scale</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00" y="1978620"/>
          <a:ext cx="10566400" cy="2315766"/>
        </p:xfrm>
        <a:graphic>
          <a:graphicData uri="http://schemas.openxmlformats.org/drawingml/2006/table">
            <a:tbl>
              <a:tblPr/>
              <a:tblGrid>
                <a:gridCol w="2324608"/>
                <a:gridCol w="8241792"/>
              </a:tblGrid>
              <a:tr h="385961">
                <a:tc>
                  <a:txBody>
                    <a:bodyPr/>
                    <a:lstStyle/>
                    <a:p>
                      <a:pPr indent="0" marL="0">
                        <a:lnSpc>
                          <a:spcPts val="1960"/>
                        </a:lnSpc>
                        <a:buNone/>
                      </a:pPr>
                      <a:r>
                        <a:rPr lang="en-US" sz="1400" b="1" dirty="0">
                          <a:solidFill>
                            <a:srgbClr val="232323"/>
                          </a:solidFill>
                          <a:latin typeface="Nunito Sans" pitchFamily="34" charset="0"/>
                          <a:ea typeface="Nunito Sans" pitchFamily="34" charset="-122"/>
                          <a:cs typeface="Nunito Sans" pitchFamily="34" charset="-120"/>
                        </a:rPr>
                        <a:t>Item</a:t>
                      </a:r>
                      <a:endParaRPr lang="en-US" sz="1400" dirty="0">
                        <a:latin typeface="Nunito Sans" charset="0"/>
                        <a:ea typeface="Nunito Sans" charset="0"/>
                        <a:cs typeface="Nunito Sans" charset="0"/>
                      </a:endParaRPr>
                    </a:p>
                  </a:txBody>
                  <a:tcPr marL="62230" marR="62230" marT="62230" marB="6223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C5D6E9"/>
                    </a:solidFill>
                  </a:tcPr>
                </a:tc>
                <a:tc>
                  <a:txBody>
                    <a:bodyPr/>
                    <a:lstStyle/>
                    <a:p>
                      <a:pPr indent="0" marL="0">
                        <a:lnSpc>
                          <a:spcPts val="1960"/>
                        </a:lnSpc>
                        <a:buNone/>
                      </a:pPr>
                      <a:r>
                        <a:rPr lang="en-US" sz="1400" b="1" dirty="0">
                          <a:solidFill>
                            <a:srgbClr val="232323"/>
                          </a:solidFill>
                          <a:latin typeface="Nunito Sans" pitchFamily="34" charset="0"/>
                          <a:ea typeface="Nunito Sans" pitchFamily="34" charset="-122"/>
                          <a:cs typeface="Nunito Sans" pitchFamily="34" charset="-120"/>
                        </a:rPr>
                        <a:t>Value</a:t>
                      </a:r>
                      <a:endParaRPr lang="en-US" sz="1400" dirty="0">
                        <a:latin typeface="Nunito Sans" charset="0"/>
                        <a:ea typeface="Nunito Sans" charset="0"/>
                        <a:cs typeface="Nunito Sans" charset="0"/>
                      </a:endParaRPr>
                    </a:p>
                  </a:txBody>
                  <a:tcPr marL="62230" marR="62230" marT="62230" marB="6223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C5D6E9"/>
                    </a:solidFill>
                  </a:tcPr>
                </a:tc>
              </a:tr>
              <a:tr h="385961">
                <a:tc>
                  <a:txBody>
                    <a:bodyPr/>
                    <a:lstStyle/>
                    <a:p>
                      <a:pPr indent="0" marL="0">
                        <a:lnSpc>
                          <a:spcPts val="1960"/>
                        </a:lnSpc>
                        <a:buNone/>
                      </a:pPr>
                      <a:r>
                        <a:rPr lang="en-US" sz="1400" dirty="0">
                          <a:solidFill>
                            <a:srgbClr val="232323"/>
                          </a:solidFill>
                          <a:latin typeface="Nunito Sans" pitchFamily="34" charset="0"/>
                          <a:ea typeface="Nunito Sans" pitchFamily="34" charset="-122"/>
                          <a:cs typeface="Nunito Sans" pitchFamily="34" charset="-120"/>
                        </a:rPr>
                        <a:t>Task</a:t>
                      </a:r>
                      <a:endParaRPr lang="en-US" sz="1400" dirty="0">
                        <a:latin typeface="Nunito Sans" charset="0"/>
                        <a:ea typeface="Nunito Sans" charset="0"/>
                        <a:cs typeface="Nunito Sans" charset="0"/>
                      </a:endParaRPr>
                    </a:p>
                  </a:txBody>
                  <a:tcPr marL="62230" marR="62230" marT="62230" marB="6223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960"/>
                        </a:lnSpc>
                        <a:buNone/>
                      </a:pPr>
                      <a:r>
                        <a:rPr lang="en-US" sz="1400" dirty="0">
                          <a:solidFill>
                            <a:srgbClr val="232323"/>
                          </a:solidFill>
                          <a:latin typeface="Nunito Sans" pitchFamily="34" charset="0"/>
                          <a:ea typeface="Nunito Sans" pitchFamily="34" charset="-122"/>
                          <a:cs typeface="Nunito Sans" pitchFamily="34" charset="-120"/>
                        </a:rPr>
                        <a:t>Put a laser dot on a target, using a camera as feedback</a:t>
                      </a:r>
                      <a:endParaRPr lang="en-US" sz="1400" dirty="0">
                        <a:latin typeface="Nunito Sans" charset="0"/>
                        <a:ea typeface="Nunito Sans" charset="0"/>
                        <a:cs typeface="Nunito Sans" charset="0"/>
                      </a:endParaRPr>
                    </a:p>
                  </a:txBody>
                  <a:tcPr marL="62230" marR="62230" marT="62230" marB="6223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r>
              <a:tr h="385961">
                <a:tc>
                  <a:txBody>
                    <a:bodyPr/>
                    <a:lstStyle/>
                    <a:p>
                      <a:pPr indent="0" marL="0">
                        <a:lnSpc>
                          <a:spcPts val="1960"/>
                        </a:lnSpc>
                        <a:buNone/>
                      </a:pPr>
                      <a:r>
                        <a:rPr lang="en-US" sz="1400" dirty="0">
                          <a:solidFill>
                            <a:srgbClr val="232323"/>
                          </a:solidFill>
                          <a:latin typeface="Nunito Sans" pitchFamily="34" charset="0"/>
                          <a:ea typeface="Nunito Sans" pitchFamily="34" charset="-122"/>
                          <a:cs typeface="Nunito Sans" pitchFamily="34" charset="-120"/>
                        </a:rPr>
                        <a:t>Delay</a:t>
                      </a:r>
                      <a:endParaRPr lang="en-US" sz="1400" dirty="0">
                        <a:latin typeface="Nunito Sans" charset="0"/>
                        <a:ea typeface="Nunito Sans" charset="0"/>
                        <a:cs typeface="Nunito Sans" charset="0"/>
                      </a:endParaRPr>
                    </a:p>
                  </a:txBody>
                  <a:tcPr marL="62230" marR="62230" marT="62230" marB="6223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c>
                  <a:txBody>
                    <a:bodyPr/>
                    <a:lstStyle/>
                    <a:p>
                      <a:pPr indent="0" marL="0">
                        <a:lnSpc>
                          <a:spcPts val="1960"/>
                        </a:lnSpc>
                        <a:buNone/>
                      </a:pPr>
                      <a:r>
                        <a:rPr lang="en-US" sz="1400" dirty="0">
                          <a:solidFill>
                            <a:srgbClr val="232323"/>
                          </a:solidFill>
                          <a:latin typeface="Nunito Sans" pitchFamily="34" charset="0"/>
                          <a:ea typeface="Nunito Sans" pitchFamily="34" charset="-122"/>
                          <a:cs typeface="Nunito Sans" pitchFamily="34" charset="-120"/>
                        </a:rPr>
                        <a:t>Camera → vision → link takes 50–250 ms. This limits the gain</a:t>
                      </a:r>
                      <a:endParaRPr lang="en-US" sz="1400" dirty="0">
                        <a:latin typeface="Nunito Sans" charset="0"/>
                        <a:ea typeface="Nunito Sans" charset="0"/>
                        <a:cs typeface="Nunito Sans" charset="0"/>
                      </a:endParaRPr>
                    </a:p>
                  </a:txBody>
                  <a:tcPr marL="62230" marR="62230" marT="62230" marB="6223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r>
              <a:tr h="385961">
                <a:tc>
                  <a:txBody>
                    <a:bodyPr/>
                    <a:lstStyle/>
                    <a:p>
                      <a:pPr indent="0" marL="0">
                        <a:lnSpc>
                          <a:spcPts val="1960"/>
                        </a:lnSpc>
                        <a:buNone/>
                      </a:pPr>
                      <a:r>
                        <a:rPr lang="en-US" sz="1400" dirty="0">
                          <a:solidFill>
                            <a:srgbClr val="232323"/>
                          </a:solidFill>
                          <a:latin typeface="Nunito Sans" pitchFamily="34" charset="0"/>
                          <a:ea typeface="Nunito Sans" pitchFamily="34" charset="-122"/>
                          <a:cs typeface="Nunito Sans" pitchFamily="34" charset="-120"/>
                        </a:rPr>
                        <a:t>Servos</a:t>
                      </a:r>
                      <a:endParaRPr lang="en-US" sz="1400" dirty="0">
                        <a:latin typeface="Nunito Sans" charset="0"/>
                        <a:ea typeface="Nunito Sans" charset="0"/>
                        <a:cs typeface="Nunito Sans" charset="0"/>
                      </a:endParaRPr>
                    </a:p>
                  </a:txBody>
                  <a:tcPr marL="62230" marR="62230" marT="62230" marB="6223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960"/>
                        </a:lnSpc>
                        <a:buNone/>
                      </a:pPr>
                      <a:r>
                        <a:rPr lang="en-US" sz="1400" dirty="0">
                          <a:solidFill>
                            <a:srgbClr val="232323"/>
                          </a:solidFill>
                          <a:latin typeface="Nunito Sans" pitchFamily="34" charset="0"/>
                          <a:ea typeface="Nunito Sans" pitchFamily="34" charset="-122"/>
                          <a:cs typeface="Nunito Sans" pitchFamily="34" charset="-120"/>
                        </a:rPr>
                        <a:t>Deadband, backlash, gravity droop</a:t>
                      </a:r>
                      <a:endParaRPr lang="en-US" sz="1400" dirty="0">
                        <a:latin typeface="Nunito Sans" charset="0"/>
                        <a:ea typeface="Nunito Sans" charset="0"/>
                        <a:cs typeface="Nunito Sans" charset="0"/>
                      </a:endParaRPr>
                    </a:p>
                  </a:txBody>
                  <a:tcPr marL="62230" marR="62230" marT="62230" marB="6223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r>
              <a:tr h="385961">
                <a:tc>
                  <a:txBody>
                    <a:bodyPr/>
                    <a:lstStyle/>
                    <a:p>
                      <a:pPr indent="0" marL="0">
                        <a:lnSpc>
                          <a:spcPts val="1960"/>
                        </a:lnSpc>
                        <a:buNone/>
                      </a:pPr>
                      <a:r>
                        <a:rPr lang="en-US" sz="1400" dirty="0">
                          <a:solidFill>
                            <a:srgbClr val="232323"/>
                          </a:solidFill>
                          <a:latin typeface="Nunito Sans" pitchFamily="34" charset="0"/>
                          <a:ea typeface="Nunito Sans" pitchFamily="34" charset="-122"/>
                          <a:cs typeface="Nunito Sans" pitchFamily="34" charset="-120"/>
                        </a:rPr>
                        <a:t>Safety</a:t>
                      </a:r>
                      <a:endParaRPr lang="en-US" sz="1400" dirty="0">
                        <a:latin typeface="Nunito Sans" charset="0"/>
                        <a:ea typeface="Nunito Sans" charset="0"/>
                        <a:cs typeface="Nunito Sans" charset="0"/>
                      </a:endParaRPr>
                    </a:p>
                  </a:txBody>
                  <a:tcPr marL="62230" marR="62230" marT="62230" marB="6223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c>
                  <a:txBody>
                    <a:bodyPr/>
                    <a:lstStyle/>
                    <a:p>
                      <a:pPr indent="0" marL="0">
                        <a:lnSpc>
                          <a:spcPts val="1960"/>
                        </a:lnSpc>
                        <a:buNone/>
                      </a:pPr>
                      <a:r>
                        <a:rPr lang="en-US" sz="1400" dirty="0">
                          <a:solidFill>
                            <a:srgbClr val="232323"/>
                          </a:solidFill>
                          <a:latin typeface="Nunito Sans" pitchFamily="34" charset="0"/>
                          <a:ea typeface="Nunito Sans" pitchFamily="34" charset="-122"/>
                          <a:cs typeface="Nunito Sans" pitchFamily="34" charset="-120"/>
                        </a:rPr>
                        <a:t>The laser must not turn on by mistake</a:t>
                      </a:r>
                      <a:endParaRPr lang="en-US" sz="1400" dirty="0">
                        <a:latin typeface="Nunito Sans" charset="0"/>
                        <a:ea typeface="Nunito Sans" charset="0"/>
                        <a:cs typeface="Nunito Sans" charset="0"/>
                      </a:endParaRPr>
                    </a:p>
                  </a:txBody>
                  <a:tcPr marL="62230" marR="62230" marT="62230" marB="6223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r>
              <a:tr h="385961">
                <a:tc>
                  <a:txBody>
                    <a:bodyPr/>
                    <a:lstStyle/>
                    <a:p>
                      <a:pPr indent="0" marL="0">
                        <a:lnSpc>
                          <a:spcPts val="1960"/>
                        </a:lnSpc>
                        <a:buNone/>
                      </a:pPr>
                      <a:r>
                        <a:rPr lang="en-US" sz="1400" dirty="0">
                          <a:solidFill>
                            <a:srgbClr val="232323"/>
                          </a:solidFill>
                          <a:latin typeface="Nunito Sans" pitchFamily="34" charset="0"/>
                          <a:ea typeface="Nunito Sans" pitchFamily="34" charset="-122"/>
                          <a:cs typeface="Nunito Sans" pitchFamily="34" charset="-120"/>
                        </a:rPr>
                        <a:t>Scope</a:t>
                      </a:r>
                      <a:endParaRPr lang="en-US" sz="1400" dirty="0">
                        <a:latin typeface="Nunito Sans" charset="0"/>
                        <a:ea typeface="Nunito Sans" charset="0"/>
                        <a:cs typeface="Nunito Sans" charset="0"/>
                      </a:endParaRPr>
                    </a:p>
                  </a:txBody>
                  <a:tcPr marL="62230" marR="62230" marT="62230" marB="6223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960"/>
                        </a:lnSpc>
                        <a:buNone/>
                      </a:pPr>
                      <a:r>
                        <a:rPr lang="en-US" sz="1400" dirty="0">
                          <a:solidFill>
                            <a:srgbClr val="232323"/>
                          </a:solidFill>
                          <a:latin typeface="Nunito Sans" pitchFamily="34" charset="0"/>
                          <a:ea typeface="Nunito Sans" pitchFamily="34" charset="-122"/>
                          <a:cs typeface="Nunito Sans" pitchFamily="34" charset="-120"/>
                        </a:rPr>
                        <a:t>Learning project: one UART link, PC does the vision</a:t>
                      </a:r>
                      <a:endParaRPr lang="en-US" sz="1400" dirty="0">
                        <a:latin typeface="Nunito Sans" charset="0"/>
                        <a:ea typeface="Nunito Sans" charset="0"/>
                        <a:cs typeface="Nunito Sans" charset="0"/>
                      </a:endParaRPr>
                    </a:p>
                  </a:txBody>
                  <a:tcPr marL="62230" marR="62230" marT="62230" marB="6223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6F5"/>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04</a:t>
            </a:r>
            <a:endParaRPr lang="en-US" sz="5600" dirty="0"/>
          </a:p>
        </p:txBody>
      </p:sp>
      <p:sp>
        <p:nvSpPr>
          <p:cNvPr id="3" name="Shape 1"/>
          <p:cNvSpPr/>
          <p:nvPr/>
        </p:nvSpPr>
        <p:spPr>
          <a:xfrm>
            <a:off x="812800" y="812800"/>
            <a:ext cx="3579713" cy="340320"/>
          </a:xfrm>
          <a:prstGeom prst="roundRect">
            <a:avLst>
              <a:gd name="adj" fmla="val 37318"/>
            </a:avLst>
          </a:prstGeom>
          <a:solidFill>
            <a:srgbClr val="DAE5F1"/>
          </a:solidFill>
          <a:ln/>
        </p:spPr>
      </p:sp>
      <p:sp>
        <p:nvSpPr>
          <p:cNvPr id="4" name="Text 2"/>
          <p:cNvSpPr/>
          <p:nvPr/>
        </p:nvSpPr>
        <p:spPr>
          <a:xfrm>
            <a:off x="952500" y="876300"/>
            <a:ext cx="339932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3 — SOLUTION / ARCHITECTURE</a:t>
            </a:r>
            <a:endParaRPr lang="en-US" sz="1200" dirty="0"/>
          </a:p>
        </p:txBody>
      </p:sp>
      <p:sp>
        <p:nvSpPr>
          <p:cNvPr id="5" name="Text 3"/>
          <p:cNvSpPr/>
          <p:nvPr/>
        </p:nvSpPr>
        <p:spPr>
          <a:xfrm>
            <a:off x="812800" y="1280120"/>
            <a:ext cx="10883392" cy="416520"/>
          </a:xfrm>
          <a:prstGeom prst="rect">
            <a:avLst/>
          </a:prstGeom>
          <a:noFill/>
          <a:ln/>
        </p:spPr>
        <p:txBody>
          <a:bodyPr wrap="square" lIns="0" tIns="0" rIns="0" bIns="0" rtlCol="0" anchor="t">
            <a:normAutofit/>
          </a:bodyPr>
          <a:lstStyle/>
          <a:p>
            <a:pPr algn="l" indent="0" marL="0">
              <a:lnSpc>
                <a:spcPts val="3080"/>
              </a:lnSpc>
              <a:buNone/>
            </a:pPr>
            <a:r>
              <a:rPr lang="en-US" sz="2800" b="1" dirty="0">
                <a:solidFill>
                  <a:srgbClr val="232323"/>
                </a:solidFill>
                <a:latin typeface="Nunito Sans" pitchFamily="34" charset="0"/>
                <a:ea typeface="Nunito Sans" pitchFamily="34" charset="-122"/>
                <a:cs typeface="Nunito Sans" pitchFamily="34" charset="-120"/>
              </a:rPr>
              <a:t>Solution: the big picture</a:t>
            </a:r>
            <a:endParaRPr lang="en-US" sz="2800" dirty="0"/>
          </a:p>
        </p:txBody>
      </p:sp>
      <p:sp>
        <p:nvSpPr>
          <p:cNvPr id="6" name="Shape 4"/>
          <p:cNvSpPr/>
          <p:nvPr/>
        </p:nvSpPr>
        <p:spPr>
          <a:xfrm>
            <a:off x="812800" y="2052241"/>
            <a:ext cx="1270000" cy="698500"/>
          </a:xfrm>
          <a:prstGeom prst="roundRect">
            <a:avLst>
              <a:gd name="adj" fmla="val 14545"/>
            </a:avLst>
          </a:prstGeom>
          <a:solidFill>
            <a:srgbClr val="ECE7E2"/>
          </a:solidFill>
          <a:ln/>
        </p:spPr>
      </p:sp>
      <p:sp>
        <p:nvSpPr>
          <p:cNvPr id="7" name="Text 5"/>
          <p:cNvSpPr/>
          <p:nvPr/>
        </p:nvSpPr>
        <p:spPr>
          <a:xfrm>
            <a:off x="927100" y="2303661"/>
            <a:ext cx="1092200"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Camera</a:t>
            </a:r>
            <a:endParaRPr lang="en-US" sz="1100" dirty="0"/>
          </a:p>
        </p:txBody>
      </p:sp>
      <p:sp>
        <p:nvSpPr>
          <p:cNvPr id="8" name="Shape 6"/>
          <p:cNvSpPr/>
          <p:nvPr/>
        </p:nvSpPr>
        <p:spPr>
          <a:xfrm>
            <a:off x="2654300" y="2052241"/>
            <a:ext cx="1778000" cy="698500"/>
          </a:xfrm>
          <a:prstGeom prst="roundRect">
            <a:avLst>
              <a:gd name="adj" fmla="val 14545"/>
            </a:avLst>
          </a:prstGeom>
          <a:solidFill>
            <a:srgbClr val="C5D6E9"/>
          </a:solidFill>
          <a:ln/>
        </p:spPr>
      </p:sp>
      <p:sp>
        <p:nvSpPr>
          <p:cNvPr id="9" name="Text 7"/>
          <p:cNvSpPr/>
          <p:nvPr/>
        </p:nvSpPr>
        <p:spPr>
          <a:xfrm>
            <a:off x="2768600" y="2206526"/>
            <a:ext cx="1600200"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EYE (PC)</a:t>
            </a:r>
            <a:endParaRPr lang="en-US" sz="1100" dirty="0"/>
          </a:p>
        </p:txBody>
      </p:sp>
      <p:sp>
        <p:nvSpPr>
          <p:cNvPr id="10" name="Text 8"/>
          <p:cNvSpPr/>
          <p:nvPr/>
        </p:nvSpPr>
        <p:spPr>
          <a:xfrm>
            <a:off x="2768600" y="2427486"/>
            <a:ext cx="1600200" cy="194270"/>
          </a:xfrm>
          <a:prstGeom prst="rect">
            <a:avLst/>
          </a:prstGeom>
          <a:noFill/>
          <a:ln/>
        </p:spPr>
        <p:txBody>
          <a:bodyPr wrap="square" lIns="0" tIns="0" rIns="0" bIns="0" rtlCol="0" anchor="t">
            <a:normAutofit/>
          </a:bodyPr>
          <a:lstStyle/>
          <a:p>
            <a:pPr algn="l"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finds the laser dot + target</a:t>
            </a:r>
            <a:endParaRPr lang="en-US" sz="950" dirty="0"/>
          </a:p>
        </p:txBody>
      </p:sp>
      <p:sp>
        <p:nvSpPr>
          <p:cNvPr id="11" name="Shape 9"/>
          <p:cNvSpPr/>
          <p:nvPr/>
        </p:nvSpPr>
        <p:spPr>
          <a:xfrm>
            <a:off x="5003800" y="2052241"/>
            <a:ext cx="1778000" cy="698500"/>
          </a:xfrm>
          <a:prstGeom prst="roundRect">
            <a:avLst>
              <a:gd name="adj" fmla="val 14545"/>
            </a:avLst>
          </a:prstGeom>
          <a:solidFill>
            <a:srgbClr val="C5D6E9"/>
          </a:solidFill>
          <a:ln/>
        </p:spPr>
      </p:sp>
      <p:sp>
        <p:nvSpPr>
          <p:cNvPr id="12" name="Text 10"/>
          <p:cNvSpPr/>
          <p:nvPr/>
        </p:nvSpPr>
        <p:spPr>
          <a:xfrm>
            <a:off x="5118100" y="2206526"/>
            <a:ext cx="1600200"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AIM (ESP32-S3)</a:t>
            </a:r>
            <a:endParaRPr lang="en-US" sz="1100" dirty="0"/>
          </a:p>
        </p:txBody>
      </p:sp>
      <p:sp>
        <p:nvSpPr>
          <p:cNvPr id="13" name="Text 11"/>
          <p:cNvSpPr/>
          <p:nvPr/>
        </p:nvSpPr>
        <p:spPr>
          <a:xfrm>
            <a:off x="5118100" y="2427486"/>
            <a:ext cx="1600200" cy="194270"/>
          </a:xfrm>
          <a:prstGeom prst="rect">
            <a:avLst/>
          </a:prstGeom>
          <a:noFill/>
          <a:ln/>
        </p:spPr>
        <p:txBody>
          <a:bodyPr wrap="square" lIns="0" tIns="0" rIns="0" bIns="0" rtlCol="0" anchor="t">
            <a:normAutofit/>
          </a:bodyPr>
          <a:lstStyle/>
          <a:p>
            <a:pPr algn="l"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PID per axis</a:t>
            </a:r>
            <a:endParaRPr lang="en-US" sz="950" dirty="0"/>
          </a:p>
        </p:txBody>
      </p:sp>
      <p:sp>
        <p:nvSpPr>
          <p:cNvPr id="14" name="Shape 12"/>
          <p:cNvSpPr/>
          <p:nvPr/>
        </p:nvSpPr>
        <p:spPr>
          <a:xfrm>
            <a:off x="7353300" y="2052241"/>
            <a:ext cx="1270000" cy="698500"/>
          </a:xfrm>
          <a:prstGeom prst="roundRect">
            <a:avLst>
              <a:gd name="adj" fmla="val 14545"/>
            </a:avLst>
          </a:prstGeom>
          <a:solidFill>
            <a:srgbClr val="ECE7E2"/>
          </a:solidFill>
          <a:ln/>
        </p:spPr>
      </p:sp>
      <p:sp>
        <p:nvSpPr>
          <p:cNvPr id="15" name="Text 13"/>
          <p:cNvSpPr/>
          <p:nvPr/>
        </p:nvSpPr>
        <p:spPr>
          <a:xfrm>
            <a:off x="7467600" y="2303661"/>
            <a:ext cx="1092200"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Gimbal</a:t>
            </a:r>
            <a:endParaRPr lang="en-US" sz="1100" dirty="0"/>
          </a:p>
        </p:txBody>
      </p:sp>
      <p:sp>
        <p:nvSpPr>
          <p:cNvPr id="16" name="Shape 14"/>
          <p:cNvSpPr/>
          <p:nvPr/>
        </p:nvSpPr>
        <p:spPr>
          <a:xfrm>
            <a:off x="9194800" y="2052241"/>
            <a:ext cx="1587500" cy="698500"/>
          </a:xfrm>
          <a:prstGeom prst="roundRect">
            <a:avLst>
              <a:gd name="adj" fmla="val 14545"/>
            </a:avLst>
          </a:prstGeom>
          <a:solidFill>
            <a:srgbClr val="ECE7E2"/>
          </a:solidFill>
          <a:ln/>
        </p:spPr>
      </p:sp>
      <p:sp>
        <p:nvSpPr>
          <p:cNvPr id="17" name="Text 15"/>
          <p:cNvSpPr/>
          <p:nvPr/>
        </p:nvSpPr>
        <p:spPr>
          <a:xfrm>
            <a:off x="9309100" y="2303661"/>
            <a:ext cx="1409700"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Servos + laser</a:t>
            </a:r>
            <a:endParaRPr lang="en-US" sz="1100" dirty="0"/>
          </a:p>
        </p:txBody>
      </p:sp>
      <p:sp>
        <p:nvSpPr>
          <p:cNvPr id="18" name="Shape 16"/>
          <p:cNvSpPr/>
          <p:nvPr/>
        </p:nvSpPr>
        <p:spPr>
          <a:xfrm>
            <a:off x="5257800" y="3703241"/>
            <a:ext cx="1270000" cy="571500"/>
          </a:xfrm>
          <a:prstGeom prst="roundRect">
            <a:avLst>
              <a:gd name="adj" fmla="val 17778"/>
            </a:avLst>
          </a:prstGeom>
          <a:solidFill>
            <a:srgbClr val="ECE7E2"/>
          </a:solidFill>
          <a:ln/>
        </p:spPr>
      </p:sp>
      <p:sp>
        <p:nvSpPr>
          <p:cNvPr id="19" name="Text 17"/>
          <p:cNvSpPr/>
          <p:nvPr/>
        </p:nvSpPr>
        <p:spPr>
          <a:xfrm>
            <a:off x="5346700" y="3891161"/>
            <a:ext cx="1092200" cy="220960"/>
          </a:xfrm>
          <a:prstGeom prst="rect">
            <a:avLst/>
          </a:prstGeom>
          <a:noFill/>
          <a:ln/>
        </p:spPr>
        <p:txBody>
          <a:bodyPr wrap="square" lIns="0" tIns="0" rIns="0" bIns="0" rtlCol="0" anchor="t">
            <a:normAutofit/>
          </a:bodyPr>
          <a:lstStyle/>
          <a:p>
            <a:pPr algn="ctr"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SD card log</a:t>
            </a:r>
            <a:endParaRPr lang="en-US" sz="1100" dirty="0"/>
          </a:p>
        </p:txBody>
      </p:sp>
      <p:pic>
        <p:nvPicPr>
          <p:cNvPr id="20" name="Image 0" descr="connector">    </p:cNvPr>
          <p:cNvPicPr>
            <a:picLocks noChangeAspect="1"/>
          </p:cNvPicPr>
          <p:nvPr/>
        </p:nvPicPr>
        <p:blipFill>
          <a:blip r:embed="rId1"/>
          <a:srcRect l="0" r="0" t="0" b="0"/>
          <a:stretch/>
        </p:blipFill>
        <p:spPr>
          <a:xfrm>
            <a:off x="2032000" y="2350691"/>
            <a:ext cx="673100" cy="101600"/>
          </a:xfrm>
          <a:prstGeom prst="rect">
            <a:avLst/>
          </a:prstGeom>
        </p:spPr>
      </p:pic>
      <p:pic>
        <p:nvPicPr>
          <p:cNvPr id="21" name="Image 1" descr="connector">    </p:cNvPr>
          <p:cNvPicPr>
            <a:picLocks noChangeAspect="1"/>
          </p:cNvPicPr>
          <p:nvPr/>
        </p:nvPicPr>
        <p:blipFill>
          <a:blip r:embed="rId2"/>
          <a:srcRect l="0" r="0" t="0" b="0"/>
          <a:stretch/>
        </p:blipFill>
        <p:spPr>
          <a:xfrm>
            <a:off x="4381500" y="2350691"/>
            <a:ext cx="673100" cy="101600"/>
          </a:xfrm>
          <a:prstGeom prst="rect">
            <a:avLst/>
          </a:prstGeom>
        </p:spPr>
      </p:pic>
      <p:pic>
        <p:nvPicPr>
          <p:cNvPr id="22" name="Image 2" descr="connector">    </p:cNvPr>
          <p:cNvPicPr>
            <a:picLocks noChangeAspect="1"/>
          </p:cNvPicPr>
          <p:nvPr/>
        </p:nvPicPr>
        <p:blipFill>
          <a:blip r:embed="rId3"/>
          <a:srcRect l="0" r="0" t="0" b="0"/>
          <a:stretch/>
        </p:blipFill>
        <p:spPr>
          <a:xfrm>
            <a:off x="6731000" y="2350691"/>
            <a:ext cx="673100" cy="101600"/>
          </a:xfrm>
          <a:prstGeom prst="rect">
            <a:avLst/>
          </a:prstGeom>
        </p:spPr>
      </p:pic>
      <p:pic>
        <p:nvPicPr>
          <p:cNvPr id="23" name="Image 3" descr="connector">    </p:cNvPr>
          <p:cNvPicPr>
            <a:picLocks noChangeAspect="1"/>
          </p:cNvPicPr>
          <p:nvPr/>
        </p:nvPicPr>
        <p:blipFill>
          <a:blip r:embed="rId4"/>
          <a:srcRect l="0" r="0" t="0" b="0"/>
          <a:stretch/>
        </p:blipFill>
        <p:spPr>
          <a:xfrm>
            <a:off x="8572500" y="2350691"/>
            <a:ext cx="673100" cy="101600"/>
          </a:xfrm>
          <a:prstGeom prst="rect">
            <a:avLst/>
          </a:prstGeom>
        </p:spPr>
      </p:pic>
      <p:pic>
        <p:nvPicPr>
          <p:cNvPr id="24" name="Image 4" descr="connector">    </p:cNvPr>
          <p:cNvPicPr>
            <a:picLocks noChangeAspect="1"/>
          </p:cNvPicPr>
          <p:nvPr/>
        </p:nvPicPr>
        <p:blipFill>
          <a:blip r:embed="rId5"/>
          <a:srcRect l="0" r="0" t="0" b="0"/>
          <a:stretch/>
        </p:blipFill>
        <p:spPr>
          <a:xfrm>
            <a:off x="5842000" y="2699941"/>
            <a:ext cx="101600" cy="1054100"/>
          </a:xfrm>
          <a:prstGeom prst="rect">
            <a:avLst/>
          </a:prstGeom>
        </p:spPr>
      </p:pic>
      <p:pic>
        <p:nvPicPr>
          <p:cNvPr id="25" name="Image 5" descr="connector">    </p:cNvPr>
          <p:cNvPicPr>
            <a:picLocks noChangeAspect="1"/>
          </p:cNvPicPr>
          <p:nvPr/>
        </p:nvPicPr>
        <p:blipFill>
          <a:blip r:embed="rId6"/>
          <a:srcRect l="0" r="0" t="0" b="0"/>
          <a:stretch/>
        </p:blipFill>
        <p:spPr>
          <a:xfrm>
            <a:off x="9950450" y="2712641"/>
            <a:ext cx="76200" cy="711200"/>
          </a:xfrm>
          <a:prstGeom prst="rect">
            <a:avLst/>
          </a:prstGeom>
        </p:spPr>
      </p:pic>
      <p:pic>
        <p:nvPicPr>
          <p:cNvPr id="26" name="Image 6" descr="connector">    </p:cNvPr>
          <p:cNvPicPr>
            <a:picLocks noChangeAspect="1"/>
          </p:cNvPicPr>
          <p:nvPr/>
        </p:nvPicPr>
        <p:blipFill>
          <a:blip r:embed="rId7"/>
          <a:srcRect l="0" r="0" t="0" b="0"/>
          <a:stretch/>
        </p:blipFill>
        <p:spPr>
          <a:xfrm>
            <a:off x="1409700" y="3347641"/>
            <a:ext cx="8616950" cy="76200"/>
          </a:xfrm>
          <a:prstGeom prst="rect">
            <a:avLst/>
          </a:prstGeom>
        </p:spPr>
      </p:pic>
      <p:pic>
        <p:nvPicPr>
          <p:cNvPr id="27" name="Image 7" descr="connector">    </p:cNvPr>
          <p:cNvPicPr>
            <a:picLocks noChangeAspect="1"/>
          </p:cNvPicPr>
          <p:nvPr/>
        </p:nvPicPr>
        <p:blipFill>
          <a:blip r:embed="rId8"/>
          <a:srcRect l="0" r="0" t="0" b="0"/>
          <a:stretch/>
        </p:blipFill>
        <p:spPr>
          <a:xfrm>
            <a:off x="1409700" y="2712641"/>
            <a:ext cx="76200" cy="711200"/>
          </a:xfrm>
          <a:prstGeom prst="rect">
            <a:avLst/>
          </a:prstGeom>
        </p:spPr>
      </p:pic>
      <p:sp>
        <p:nvSpPr>
          <p:cNvPr id="28" name="Text 18"/>
          <p:cNvSpPr/>
          <p:nvPr/>
        </p:nvSpPr>
        <p:spPr>
          <a:xfrm>
            <a:off x="4216400" y="2128441"/>
            <a:ext cx="1320800" cy="203200"/>
          </a:xfrm>
          <a:prstGeom prst="rect">
            <a:avLst/>
          </a:prstGeom>
          <a:noFill/>
          <a:ln/>
        </p:spPr>
        <p:txBody>
          <a:bodyPr wrap="square" lIns="0" tIns="0" rIns="0" bIns="0" rtlCol="0" anchor="t">
            <a:normAutofit/>
          </a:bodyPr>
          <a:lstStyle/>
          <a:p>
            <a:pPr algn="ctr" indent="0" marL="0">
              <a:lnSpc>
                <a:spcPts val="1400"/>
              </a:lnSpc>
              <a:buNone/>
            </a:pPr>
            <a:r>
              <a:rPr lang="en-US" sz="1000" dirty="0">
                <a:solidFill>
                  <a:srgbClr val="414C58"/>
                </a:solidFill>
                <a:latin typeface="Nunito Sans" pitchFamily="34" charset="0"/>
                <a:ea typeface="Nunito Sans" pitchFamily="34" charset="-122"/>
                <a:cs typeface="Nunito Sans" pitchFamily="34" charset="-120"/>
              </a:rPr>
              <a:t>error vector, UART1</a:t>
            </a:r>
            <a:endParaRPr lang="en-US" sz="1000" dirty="0"/>
          </a:p>
        </p:txBody>
      </p:sp>
      <p:sp>
        <p:nvSpPr>
          <p:cNvPr id="29" name="Text 19"/>
          <p:cNvSpPr/>
          <p:nvPr/>
        </p:nvSpPr>
        <p:spPr>
          <a:xfrm>
            <a:off x="6565900" y="2128441"/>
            <a:ext cx="1066800" cy="203200"/>
          </a:xfrm>
          <a:prstGeom prst="rect">
            <a:avLst/>
          </a:prstGeom>
          <a:noFill/>
          <a:ln/>
        </p:spPr>
        <p:txBody>
          <a:bodyPr wrap="square" lIns="0" tIns="0" rIns="0" bIns="0" rtlCol="0" anchor="t">
            <a:normAutofit/>
          </a:bodyPr>
          <a:lstStyle/>
          <a:p>
            <a:pPr algn="ctr" indent="0" marL="0">
              <a:lnSpc>
                <a:spcPts val="1400"/>
              </a:lnSpc>
              <a:buNone/>
            </a:pPr>
            <a:r>
              <a:rPr lang="en-US" sz="1000" dirty="0">
                <a:solidFill>
                  <a:srgbClr val="414C58"/>
                </a:solidFill>
                <a:latin typeface="Nunito Sans" pitchFamily="34" charset="0"/>
                <a:ea typeface="Nunito Sans" pitchFamily="34" charset="-122"/>
                <a:cs typeface="Nunito Sans" pitchFamily="34" charset="-120"/>
              </a:rPr>
              <a:t>velocity</a:t>
            </a:r>
            <a:endParaRPr lang="en-US" sz="1000" dirty="0"/>
          </a:p>
        </p:txBody>
      </p:sp>
      <p:sp>
        <p:nvSpPr>
          <p:cNvPr id="30" name="Text 20"/>
          <p:cNvSpPr/>
          <p:nvPr/>
        </p:nvSpPr>
        <p:spPr>
          <a:xfrm>
            <a:off x="4978400" y="3106341"/>
            <a:ext cx="1320800" cy="203200"/>
          </a:xfrm>
          <a:prstGeom prst="rect">
            <a:avLst/>
          </a:prstGeom>
          <a:noFill/>
          <a:ln/>
        </p:spPr>
        <p:txBody>
          <a:bodyPr wrap="square" lIns="0" tIns="0" rIns="0" bIns="0" rtlCol="0" anchor="t">
            <a:normAutofit/>
          </a:bodyPr>
          <a:lstStyle/>
          <a:p>
            <a:pPr algn="ctr" indent="0" marL="0">
              <a:lnSpc>
                <a:spcPts val="1400"/>
              </a:lnSpc>
              <a:buNone/>
            </a:pPr>
            <a:r>
              <a:rPr lang="en-US" sz="1000" dirty="0">
                <a:solidFill>
                  <a:srgbClr val="8998A9"/>
                </a:solidFill>
                <a:latin typeface="Nunito Sans" pitchFamily="34" charset="0"/>
                <a:ea typeface="Nunito Sans" pitchFamily="34" charset="-122"/>
                <a:cs typeface="Nunito Sans" pitchFamily="34" charset="-120"/>
              </a:rPr>
              <a:t>dot moves</a:t>
            </a:r>
            <a:endParaRPr lang="en-US" sz="1000" dirty="0"/>
          </a:p>
        </p:txBody>
      </p:sp>
      <p:graphicFrame>
        <p:nvGraphicFramePr>
          <p:cNvPr id="31" name="Table 0"/>
          <p:cNvGraphicFramePr>
            <a:graphicFrameLocks noGrp="1"/>
          </p:cNvGraphicFramePr>
          <p:nvPr>
            <p:extLst>
              <p:ext uri="{D42A27DB-BD31-4B8C-83A1-F6EECF244321}">
                <p14:modId xmlns:p14="http://schemas.microsoft.com/office/powerpoint/2010/main" val="1579011935"/>
              </p:ext>
            </p:extLst>
          </p:nvPr>
        </p:nvGraphicFramePr>
        <p:xfrm>
          <a:off x="812800" y="4465241"/>
          <a:ext cx="10566400" cy="997744"/>
        </p:xfrm>
        <a:graphic>
          <a:graphicData uri="http://schemas.openxmlformats.org/drawingml/2006/table">
            <a:tbl>
              <a:tblPr/>
              <a:tblGrid>
                <a:gridCol w="2535936"/>
                <a:gridCol w="8030464"/>
              </a:tblGrid>
              <a:tr h="332581">
                <a:tc>
                  <a:txBody>
                    <a:bodyPr/>
                    <a:lstStyle/>
                    <a:p>
                      <a:pPr indent="0" marL="0">
                        <a:lnSpc>
                          <a:spcPts val="1680"/>
                        </a:lnSpc>
                        <a:buNone/>
                      </a:pPr>
                      <a:r>
                        <a:rPr lang="en-US" sz="1200" b="1" dirty="0">
                          <a:solidFill>
                            <a:srgbClr val="232323"/>
                          </a:solidFill>
                          <a:latin typeface="Nunito Sans" pitchFamily="34" charset="0"/>
                          <a:ea typeface="Nunito Sans" pitchFamily="34" charset="-122"/>
                          <a:cs typeface="Nunito Sans" pitchFamily="34" charset="-120"/>
                        </a:rPr>
                        <a:t>Node</a:t>
                      </a:r>
                      <a:endParaRPr lang="en-US" sz="1200" dirty="0">
                        <a:latin typeface="Nunito Sans" charset="0"/>
                        <a:ea typeface="Nunito Sans" charset="0"/>
                        <a:cs typeface="Nunito Sans" charset="0"/>
                      </a:endParaRPr>
                    </a:p>
                  </a:txBody>
                  <a:tcPr marL="53340" marR="53340" marT="53340" marB="5334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C5D6E9"/>
                    </a:solidFill>
                  </a:tcPr>
                </a:tc>
                <a:tc>
                  <a:txBody>
                    <a:bodyPr/>
                    <a:lstStyle/>
                    <a:p>
                      <a:pPr indent="0" marL="0">
                        <a:lnSpc>
                          <a:spcPts val="1680"/>
                        </a:lnSpc>
                        <a:buNone/>
                      </a:pPr>
                      <a:r>
                        <a:rPr lang="en-US" sz="1200" b="1" dirty="0">
                          <a:solidFill>
                            <a:srgbClr val="232323"/>
                          </a:solidFill>
                          <a:latin typeface="Nunito Sans" pitchFamily="34" charset="0"/>
                          <a:ea typeface="Nunito Sans" pitchFamily="34" charset="-122"/>
                          <a:cs typeface="Nunito Sans" pitchFamily="34" charset="-120"/>
                        </a:rPr>
                        <a:t>Job</a:t>
                      </a:r>
                      <a:endParaRPr lang="en-US" sz="1200" dirty="0">
                        <a:latin typeface="Nunito Sans" charset="0"/>
                        <a:ea typeface="Nunito Sans" charset="0"/>
                        <a:cs typeface="Nunito Sans" charset="0"/>
                      </a:endParaRPr>
                    </a:p>
                  </a:txBody>
                  <a:tcPr marL="53340" marR="53340" marT="53340" marB="5334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C5D6E9"/>
                    </a:solidFill>
                  </a:tcPr>
                </a:tc>
              </a:tr>
              <a:tr h="332581">
                <a:tc>
                  <a:txBody>
                    <a:bodyPr/>
                    <a:lstStyle/>
                    <a:p>
                      <a:pPr indent="0" marL="0">
                        <a:lnSpc>
                          <a:spcPts val="1680"/>
                        </a:lnSpc>
                        <a:buNone/>
                      </a:pPr>
                      <a:r>
                        <a:rPr lang="en-US" sz="1200" dirty="0">
                          <a:solidFill>
                            <a:srgbClr val="232323"/>
                          </a:solidFill>
                          <a:latin typeface="Nunito Sans" pitchFamily="34" charset="0"/>
                          <a:ea typeface="Nunito Sans" pitchFamily="34" charset="-122"/>
                          <a:cs typeface="Nunito Sans" pitchFamily="34" charset="-120"/>
                        </a:rPr>
                        <a:t>EYE (PC)</a:t>
                      </a:r>
                      <a:endParaRPr lang="en-US" sz="1200" dirty="0">
                        <a:latin typeface="Nunito Sans" charset="0"/>
                        <a:ea typeface="Nunito Sans" charset="0"/>
                        <a:cs typeface="Nunito Sans" charset="0"/>
                      </a:endParaRPr>
                    </a:p>
                  </a:txBody>
                  <a:tcPr marL="53340" marR="53340" marT="53340" marB="5334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680"/>
                        </a:lnSpc>
                        <a:buNone/>
                      </a:pPr>
                      <a:r>
                        <a:rPr lang="en-US" sz="1200" dirty="0">
                          <a:solidFill>
                            <a:srgbClr val="232323"/>
                          </a:solidFill>
                          <a:latin typeface="Nunito Sans" pitchFamily="34" charset="0"/>
                          <a:ea typeface="Nunito Sans" pitchFamily="34" charset="-122"/>
                          <a:cs typeface="Nunito Sans" pitchFamily="34" charset="-120"/>
                        </a:rPr>
                        <a:t>Sees the laser dot and the target. Sends the error vector</a:t>
                      </a:r>
                      <a:endParaRPr lang="en-US" sz="1200" dirty="0">
                        <a:latin typeface="Nunito Sans" charset="0"/>
                        <a:ea typeface="Nunito Sans" charset="0"/>
                        <a:cs typeface="Nunito Sans" charset="0"/>
                      </a:endParaRPr>
                    </a:p>
                  </a:txBody>
                  <a:tcPr marL="53340" marR="53340" marT="53340" marB="5334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r>
              <a:tr h="332581">
                <a:tc>
                  <a:txBody>
                    <a:bodyPr/>
                    <a:lstStyle/>
                    <a:p>
                      <a:pPr indent="0" marL="0">
                        <a:lnSpc>
                          <a:spcPts val="1680"/>
                        </a:lnSpc>
                        <a:buNone/>
                      </a:pPr>
                      <a:r>
                        <a:rPr lang="en-US" sz="1200" dirty="0">
                          <a:solidFill>
                            <a:srgbClr val="232323"/>
                          </a:solidFill>
                          <a:latin typeface="Nunito Sans" pitchFamily="34" charset="0"/>
                          <a:ea typeface="Nunito Sans" pitchFamily="34" charset="-122"/>
                          <a:cs typeface="Nunito Sans" pitchFamily="34" charset="-120"/>
                        </a:rPr>
                        <a:t>AIM (ESP32-S3)</a:t>
                      </a:r>
                      <a:endParaRPr lang="en-US" sz="1200" dirty="0">
                        <a:latin typeface="Nunito Sans" charset="0"/>
                        <a:ea typeface="Nunito Sans" charset="0"/>
                        <a:cs typeface="Nunito Sans" charset="0"/>
                      </a:endParaRPr>
                    </a:p>
                  </a:txBody>
                  <a:tcPr marL="53340" marR="53340" marT="53340" marB="5334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c>
                  <a:txBody>
                    <a:bodyPr/>
                    <a:lstStyle/>
                    <a:p>
                      <a:pPr indent="0" marL="0">
                        <a:lnSpc>
                          <a:spcPts val="1680"/>
                        </a:lnSpc>
                        <a:buNone/>
                      </a:pPr>
                      <a:r>
                        <a:rPr lang="en-US" sz="1200" dirty="0">
                          <a:solidFill>
                            <a:srgbClr val="232323"/>
                          </a:solidFill>
                          <a:latin typeface="Nunito Sans" pitchFamily="34" charset="0"/>
                          <a:ea typeface="Nunito Sans" pitchFamily="34" charset="-122"/>
                          <a:cs typeface="Nunito Sans" pitchFamily="34" charset="-120"/>
                        </a:rPr>
                        <a:t>Runs 2 PIDs, drives servos, logs to SD</a:t>
                      </a:r>
                      <a:endParaRPr lang="en-US" sz="1200" dirty="0">
                        <a:latin typeface="Nunito Sans" charset="0"/>
                        <a:ea typeface="Nunito Sans" charset="0"/>
                        <a:cs typeface="Nunito Sans" charset="0"/>
                      </a:endParaRPr>
                    </a:p>
                  </a:txBody>
                  <a:tcPr marL="53340" marR="53340" marT="53340" marB="53340"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r>
            </a:tbl>
          </a:graphicData>
        </a:graphic>
      </p:graphicFrame>
      <p:sp>
        <p:nvSpPr>
          <p:cNvPr id="32" name="Text 21"/>
          <p:cNvSpPr/>
          <p:nvPr/>
        </p:nvSpPr>
        <p:spPr>
          <a:xfrm>
            <a:off x="812800" y="560268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14C58"/>
                </a:solidFill>
                <a:latin typeface="Nunito Sans" pitchFamily="34" charset="0"/>
                <a:ea typeface="Nunito Sans" pitchFamily="34" charset="-122"/>
                <a:cs typeface="Nunito Sans" pitchFamily="34" charset="-120"/>
              </a:rPr>
              <a:t>Camera is the real feedback — it does not trust the servo angle. One UART link, 115200 baud, for the lowest latency.</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6F5"/>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05</a:t>
            </a:r>
            <a:endParaRPr lang="en-US" sz="5600" dirty="0"/>
          </a:p>
        </p:txBody>
      </p:sp>
      <p:sp>
        <p:nvSpPr>
          <p:cNvPr id="3" name="Shape 1"/>
          <p:cNvSpPr/>
          <p:nvPr/>
        </p:nvSpPr>
        <p:spPr>
          <a:xfrm>
            <a:off x="812800" y="812800"/>
            <a:ext cx="3579713" cy="340320"/>
          </a:xfrm>
          <a:prstGeom prst="roundRect">
            <a:avLst>
              <a:gd name="adj" fmla="val 37318"/>
            </a:avLst>
          </a:prstGeom>
          <a:solidFill>
            <a:srgbClr val="DAE5F1"/>
          </a:solidFill>
          <a:ln/>
        </p:spPr>
      </p:sp>
      <p:sp>
        <p:nvSpPr>
          <p:cNvPr id="4" name="Text 2"/>
          <p:cNvSpPr/>
          <p:nvPr/>
        </p:nvSpPr>
        <p:spPr>
          <a:xfrm>
            <a:off x="952500" y="876300"/>
            <a:ext cx="339932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3 — SOLUTION / ARCHITECTURE</a:t>
            </a:r>
            <a:endParaRPr lang="en-US" sz="1200" dirty="0"/>
          </a:p>
        </p:txBody>
      </p:sp>
      <p:sp>
        <p:nvSpPr>
          <p:cNvPr id="5" name="Text 3"/>
          <p:cNvSpPr/>
          <p:nvPr/>
        </p:nvSpPr>
        <p:spPr>
          <a:xfrm>
            <a:off x="812800" y="1305520"/>
            <a:ext cx="10883392" cy="388541"/>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232323"/>
                </a:solidFill>
                <a:latin typeface="Nunito Sans" pitchFamily="34" charset="0"/>
                <a:ea typeface="Nunito Sans" pitchFamily="34" charset="-122"/>
                <a:cs typeface="Nunito Sans" pitchFamily="34" charset="-120"/>
              </a:rPr>
              <a:t>Why velocity, not position</a:t>
            </a:r>
            <a:endParaRPr lang="en-US" sz="2600" dirty="0"/>
          </a:p>
        </p:txBody>
      </p:sp>
      <p:sp>
        <p:nvSpPr>
          <p:cNvPr id="6" name="Shape 4"/>
          <p:cNvSpPr/>
          <p:nvPr/>
        </p:nvSpPr>
        <p:spPr>
          <a:xfrm>
            <a:off x="812800" y="1821061"/>
            <a:ext cx="1300163" cy="441920"/>
          </a:xfrm>
          <a:prstGeom prst="roundRect">
            <a:avLst>
              <a:gd name="adj" fmla="val 20117"/>
            </a:avLst>
          </a:prstGeom>
          <a:solidFill>
            <a:srgbClr val="ECE7E2"/>
          </a:solidFill>
          <a:ln/>
        </p:spPr>
      </p:sp>
      <p:sp>
        <p:nvSpPr>
          <p:cNvPr id="7" name="Text 5"/>
          <p:cNvSpPr/>
          <p:nvPr/>
        </p:nvSpPr>
        <p:spPr>
          <a:xfrm>
            <a:off x="1263253" y="1935361"/>
            <a:ext cx="399256"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232323"/>
                </a:solidFill>
                <a:latin typeface="Nunito Sans" pitchFamily="34" charset="0"/>
                <a:ea typeface="Nunito Sans" pitchFamily="34" charset="-122"/>
                <a:cs typeface="Nunito Sans" pitchFamily="34" charset="-120"/>
              </a:rPr>
              <a:t>error</a:t>
            </a:r>
            <a:endParaRPr lang="en-US" sz="1200" dirty="0"/>
          </a:p>
        </p:txBody>
      </p:sp>
      <p:pic>
        <p:nvPicPr>
          <p:cNvPr id="8" name="Image 0" descr="arrow-right">    </p:cNvPr>
          <p:cNvPicPr>
            <a:picLocks noChangeAspect="1"/>
          </p:cNvPicPr>
          <p:nvPr/>
        </p:nvPicPr>
        <p:blipFill>
          <a:blip r:embed="rId1"/>
          <a:srcRect l="0" r="0" t="0" b="0"/>
          <a:stretch/>
        </p:blipFill>
        <p:spPr>
          <a:xfrm>
            <a:off x="2201863" y="1965821"/>
            <a:ext cx="304800" cy="152400"/>
          </a:xfrm>
          <a:prstGeom prst="rect">
            <a:avLst/>
          </a:prstGeom>
        </p:spPr>
      </p:pic>
      <p:sp>
        <p:nvSpPr>
          <p:cNvPr id="9" name="Shape 6"/>
          <p:cNvSpPr/>
          <p:nvPr/>
        </p:nvSpPr>
        <p:spPr>
          <a:xfrm>
            <a:off x="2595563" y="1821061"/>
            <a:ext cx="1300262" cy="441920"/>
          </a:xfrm>
          <a:prstGeom prst="roundRect">
            <a:avLst>
              <a:gd name="adj" fmla="val 20117"/>
            </a:avLst>
          </a:prstGeom>
          <a:solidFill>
            <a:srgbClr val="ECE7E2"/>
          </a:solidFill>
          <a:ln/>
        </p:spPr>
      </p:sp>
      <p:sp>
        <p:nvSpPr>
          <p:cNvPr id="10" name="Text 7"/>
          <p:cNvSpPr/>
          <p:nvPr/>
        </p:nvSpPr>
        <p:spPr>
          <a:xfrm>
            <a:off x="3091061" y="1935361"/>
            <a:ext cx="309166"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232323"/>
                </a:solidFill>
                <a:latin typeface="Nunito Sans" pitchFamily="34" charset="0"/>
                <a:ea typeface="Nunito Sans" pitchFamily="34" charset="-122"/>
                <a:cs typeface="Nunito Sans" pitchFamily="34" charset="-120"/>
              </a:rPr>
              <a:t>PID</a:t>
            </a:r>
            <a:endParaRPr lang="en-US" sz="1200" dirty="0"/>
          </a:p>
        </p:txBody>
      </p:sp>
      <p:pic>
        <p:nvPicPr>
          <p:cNvPr id="11" name="Image 1" descr="arrow-right">    </p:cNvPr>
          <p:cNvPicPr>
            <a:picLocks noChangeAspect="1"/>
          </p:cNvPicPr>
          <p:nvPr/>
        </p:nvPicPr>
        <p:blipFill>
          <a:blip r:embed="rId2"/>
          <a:srcRect l="0" r="0" t="0" b="0"/>
          <a:stretch/>
        </p:blipFill>
        <p:spPr>
          <a:xfrm>
            <a:off x="3984724" y="1965821"/>
            <a:ext cx="304800" cy="152400"/>
          </a:xfrm>
          <a:prstGeom prst="rect">
            <a:avLst/>
          </a:prstGeom>
        </p:spPr>
      </p:pic>
      <p:sp>
        <p:nvSpPr>
          <p:cNvPr id="12" name="Shape 8"/>
          <p:cNvSpPr/>
          <p:nvPr/>
        </p:nvSpPr>
        <p:spPr>
          <a:xfrm>
            <a:off x="4378424" y="1821061"/>
            <a:ext cx="1300262" cy="441920"/>
          </a:xfrm>
          <a:prstGeom prst="roundRect">
            <a:avLst>
              <a:gd name="adj" fmla="val 20117"/>
            </a:avLst>
          </a:prstGeom>
          <a:solidFill>
            <a:srgbClr val="ECE7E2"/>
          </a:solidFill>
          <a:ln/>
        </p:spPr>
      </p:sp>
      <p:sp>
        <p:nvSpPr>
          <p:cNvPr id="13" name="Text 9"/>
          <p:cNvSpPr/>
          <p:nvPr/>
        </p:nvSpPr>
        <p:spPr>
          <a:xfrm>
            <a:off x="4791869" y="1935361"/>
            <a:ext cx="473273"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232323"/>
                </a:solidFill>
                <a:latin typeface="Nunito Sans" pitchFamily="34" charset="0"/>
                <a:ea typeface="Nunito Sans" pitchFamily="34" charset="-122"/>
                <a:cs typeface="Nunito Sans" pitchFamily="34" charset="-120"/>
              </a:rPr>
              <a:t>speed</a:t>
            </a:r>
            <a:endParaRPr lang="en-US" sz="1200" dirty="0"/>
          </a:p>
        </p:txBody>
      </p:sp>
      <p:pic>
        <p:nvPicPr>
          <p:cNvPr id="14" name="Image 2" descr="arrow-right">    </p:cNvPr>
          <p:cNvPicPr>
            <a:picLocks noChangeAspect="1"/>
          </p:cNvPicPr>
          <p:nvPr/>
        </p:nvPicPr>
        <p:blipFill>
          <a:blip r:embed="rId3"/>
          <a:srcRect l="0" r="0" t="0" b="0"/>
          <a:stretch/>
        </p:blipFill>
        <p:spPr>
          <a:xfrm>
            <a:off x="5767586" y="1965821"/>
            <a:ext cx="304800" cy="152400"/>
          </a:xfrm>
          <a:prstGeom prst="rect">
            <a:avLst/>
          </a:prstGeom>
        </p:spPr>
      </p:pic>
      <p:sp>
        <p:nvSpPr>
          <p:cNvPr id="15" name="Shape 10"/>
          <p:cNvSpPr/>
          <p:nvPr/>
        </p:nvSpPr>
        <p:spPr>
          <a:xfrm>
            <a:off x="6161286" y="1829891"/>
            <a:ext cx="1652191" cy="424160"/>
          </a:xfrm>
          <a:prstGeom prst="roundRect">
            <a:avLst>
              <a:gd name="adj" fmla="val 20959"/>
            </a:avLst>
          </a:prstGeom>
          <a:solidFill>
            <a:srgbClr val="C5D6E9"/>
          </a:solidFill>
          <a:ln/>
        </p:spPr>
      </p:sp>
      <p:sp>
        <p:nvSpPr>
          <p:cNvPr id="16" name="Text 11"/>
          <p:cNvSpPr/>
          <p:nvPr/>
        </p:nvSpPr>
        <p:spPr>
          <a:xfrm>
            <a:off x="6325493" y="1944191"/>
            <a:ext cx="1323777" cy="220960"/>
          </a:xfrm>
          <a:prstGeom prst="rect">
            <a:avLst/>
          </a:prstGeom>
          <a:noFill/>
          <a:ln/>
        </p:spPr>
        <p:txBody>
          <a:bodyPr wrap="square" lIns="0" tIns="0" rIns="0" bIns="0" rtlCol="0" anchor="t">
            <a:normAutofit/>
          </a:bodyPr>
          <a:lstStyle/>
          <a:p>
            <a:pPr algn="ctr"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add up every 20 ms</a:t>
            </a:r>
            <a:endParaRPr lang="en-US" sz="1100" dirty="0"/>
          </a:p>
        </p:txBody>
      </p:sp>
      <p:pic>
        <p:nvPicPr>
          <p:cNvPr id="17" name="Image 3" descr="arrow-right">    </p:cNvPr>
          <p:cNvPicPr>
            <a:picLocks noChangeAspect="1"/>
          </p:cNvPicPr>
          <p:nvPr/>
        </p:nvPicPr>
        <p:blipFill>
          <a:blip r:embed="rId4"/>
          <a:srcRect l="0" r="0" t="0" b="0"/>
          <a:stretch/>
        </p:blipFill>
        <p:spPr>
          <a:xfrm>
            <a:off x="7902377" y="1965821"/>
            <a:ext cx="304800" cy="152400"/>
          </a:xfrm>
          <a:prstGeom prst="rect">
            <a:avLst/>
          </a:prstGeom>
        </p:spPr>
      </p:pic>
      <p:sp>
        <p:nvSpPr>
          <p:cNvPr id="18" name="Shape 12"/>
          <p:cNvSpPr/>
          <p:nvPr/>
        </p:nvSpPr>
        <p:spPr>
          <a:xfrm>
            <a:off x="8296077" y="1821061"/>
            <a:ext cx="1300262" cy="441920"/>
          </a:xfrm>
          <a:prstGeom prst="roundRect">
            <a:avLst>
              <a:gd name="adj" fmla="val 20117"/>
            </a:avLst>
          </a:prstGeom>
          <a:solidFill>
            <a:srgbClr val="ECE7E2"/>
          </a:solidFill>
          <a:ln/>
        </p:spPr>
      </p:sp>
      <p:sp>
        <p:nvSpPr>
          <p:cNvPr id="19" name="Text 13"/>
          <p:cNvSpPr/>
          <p:nvPr/>
        </p:nvSpPr>
        <p:spPr>
          <a:xfrm>
            <a:off x="8723213" y="1935361"/>
            <a:ext cx="445889"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232323"/>
                </a:solidFill>
                <a:latin typeface="Nunito Sans" pitchFamily="34" charset="0"/>
                <a:ea typeface="Nunito Sans" pitchFamily="34" charset="-122"/>
                <a:cs typeface="Nunito Sans" pitchFamily="34" charset="-120"/>
              </a:rPr>
              <a:t>angle</a:t>
            </a:r>
            <a:endParaRPr lang="en-US" sz="1200" dirty="0"/>
          </a:p>
        </p:txBody>
      </p:sp>
      <p:pic>
        <p:nvPicPr>
          <p:cNvPr id="20" name="Image 4" descr="arrow-right">    </p:cNvPr>
          <p:cNvPicPr>
            <a:picLocks noChangeAspect="1"/>
          </p:cNvPicPr>
          <p:nvPr/>
        </p:nvPicPr>
        <p:blipFill>
          <a:blip r:embed="rId5"/>
          <a:srcRect l="0" r="0" t="0" b="0"/>
          <a:stretch/>
        </p:blipFill>
        <p:spPr>
          <a:xfrm>
            <a:off x="9685238" y="1965821"/>
            <a:ext cx="304800" cy="152400"/>
          </a:xfrm>
          <a:prstGeom prst="rect">
            <a:avLst/>
          </a:prstGeom>
        </p:spPr>
      </p:pic>
      <p:sp>
        <p:nvSpPr>
          <p:cNvPr id="21" name="Shape 14"/>
          <p:cNvSpPr/>
          <p:nvPr/>
        </p:nvSpPr>
        <p:spPr>
          <a:xfrm>
            <a:off x="10078938" y="1821061"/>
            <a:ext cx="1300262" cy="441920"/>
          </a:xfrm>
          <a:prstGeom prst="roundRect">
            <a:avLst>
              <a:gd name="adj" fmla="val 20117"/>
            </a:avLst>
          </a:prstGeom>
          <a:solidFill>
            <a:srgbClr val="ECE7E2"/>
          </a:solidFill>
          <a:ln/>
        </p:spPr>
      </p:sp>
      <p:sp>
        <p:nvSpPr>
          <p:cNvPr id="22" name="Text 15"/>
          <p:cNvSpPr/>
          <p:nvPr/>
        </p:nvSpPr>
        <p:spPr>
          <a:xfrm>
            <a:off x="10509647" y="1935361"/>
            <a:ext cx="438745" cy="238720"/>
          </a:xfrm>
          <a:prstGeom prst="rect">
            <a:avLst/>
          </a:prstGeom>
          <a:noFill/>
          <a:ln/>
        </p:spPr>
        <p:txBody>
          <a:bodyPr wrap="square" lIns="0" tIns="0" rIns="0" bIns="0" rtlCol="0" anchor="t">
            <a:normAutofit/>
          </a:bodyPr>
          <a:lstStyle/>
          <a:p>
            <a:pPr algn="ctr" indent="0" marL="0">
              <a:lnSpc>
                <a:spcPts val="1680"/>
              </a:lnSpc>
              <a:buNone/>
            </a:pPr>
            <a:r>
              <a:rPr lang="en-US" sz="1200" b="1" dirty="0">
                <a:solidFill>
                  <a:srgbClr val="232323"/>
                </a:solidFill>
                <a:latin typeface="Nunito Sans" pitchFamily="34" charset="0"/>
                <a:ea typeface="Nunito Sans" pitchFamily="34" charset="-122"/>
                <a:cs typeface="Nunito Sans" pitchFamily="34" charset="-120"/>
              </a:rPr>
              <a:t>servo</a:t>
            </a:r>
            <a:endParaRPr lang="en-US" sz="1200" dirty="0"/>
          </a:p>
        </p:txBody>
      </p:sp>
      <p:sp>
        <p:nvSpPr>
          <p:cNvPr id="23" name="Shape 16"/>
          <p:cNvSpPr/>
          <p:nvPr/>
        </p:nvSpPr>
        <p:spPr>
          <a:xfrm>
            <a:off x="812800" y="2415381"/>
            <a:ext cx="5181600" cy="977801"/>
          </a:xfrm>
          <a:prstGeom prst="roundRect">
            <a:avLst>
              <a:gd name="adj" fmla="val 10391"/>
            </a:avLst>
          </a:prstGeom>
          <a:solidFill>
            <a:srgbClr val="ECE7E2"/>
          </a:solidFill>
          <a:ln/>
        </p:spPr>
      </p:sp>
      <p:sp>
        <p:nvSpPr>
          <p:cNvPr id="24" name="Text 17"/>
          <p:cNvSpPr/>
          <p:nvPr/>
        </p:nvSpPr>
        <p:spPr>
          <a:xfrm>
            <a:off x="990600" y="2593181"/>
            <a:ext cx="497078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2323"/>
                </a:solidFill>
                <a:latin typeface="Nunito Sans" pitchFamily="34" charset="0"/>
                <a:ea typeface="Nunito Sans" pitchFamily="34" charset="-122"/>
                <a:cs typeface="Nunito Sans" pitchFamily="34" charset="-120"/>
              </a:rPr>
              <a:t>Position PID</a:t>
            </a:r>
            <a:endParaRPr lang="en-US" sz="1400" dirty="0"/>
          </a:p>
        </p:txBody>
      </p:sp>
      <p:sp>
        <p:nvSpPr>
          <p:cNvPr id="25" name="Shape 18"/>
          <p:cNvSpPr/>
          <p:nvPr/>
        </p:nvSpPr>
        <p:spPr>
          <a:xfrm>
            <a:off x="990600" y="2918222"/>
            <a:ext cx="1852116" cy="297160"/>
          </a:xfrm>
          <a:prstGeom prst="roundRect">
            <a:avLst>
              <a:gd name="adj" fmla="val 34190"/>
            </a:avLst>
          </a:prstGeom>
          <a:solidFill>
            <a:srgbClr val="FCF2B5"/>
          </a:solidFill>
          <a:ln/>
        </p:spPr>
      </p:sp>
      <p:sp>
        <p:nvSpPr>
          <p:cNvPr id="26" name="Text 19"/>
          <p:cNvSpPr/>
          <p:nvPr/>
        </p:nvSpPr>
        <p:spPr>
          <a:xfrm>
            <a:off x="1104900" y="2969022"/>
            <a:ext cx="1674316"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TODO: comparison notes</a:t>
            </a:r>
            <a:endParaRPr lang="en-US" sz="1100" dirty="0"/>
          </a:p>
        </p:txBody>
      </p:sp>
      <p:sp>
        <p:nvSpPr>
          <p:cNvPr id="27" name="Shape 20"/>
          <p:cNvSpPr/>
          <p:nvPr/>
        </p:nvSpPr>
        <p:spPr>
          <a:xfrm>
            <a:off x="6197600" y="2415381"/>
            <a:ext cx="5181600" cy="977801"/>
          </a:xfrm>
          <a:prstGeom prst="roundRect">
            <a:avLst>
              <a:gd name="adj" fmla="val 10391"/>
            </a:avLst>
          </a:prstGeom>
          <a:solidFill>
            <a:srgbClr val="C5D6E9"/>
          </a:solidFill>
          <a:ln/>
        </p:spPr>
      </p:sp>
      <p:sp>
        <p:nvSpPr>
          <p:cNvPr id="28" name="Text 21"/>
          <p:cNvSpPr/>
          <p:nvPr/>
        </p:nvSpPr>
        <p:spPr>
          <a:xfrm>
            <a:off x="6375400" y="2593181"/>
            <a:ext cx="4970780" cy="274241"/>
          </a:xfrm>
          <a:prstGeom prst="rect">
            <a:avLst/>
          </a:prstGeom>
          <a:noFill/>
          <a:ln/>
        </p:spPr>
        <p:txBody>
          <a:bodyPr wrap="square" lIns="0" tIns="0" rIns="0" bIns="0" rtlCol="0" anchor="t">
            <a:normAutofit/>
          </a:bodyPr>
          <a:lstStyle/>
          <a:p>
            <a:pPr algn="l" indent="0" marL="0">
              <a:lnSpc>
                <a:spcPts val="1960"/>
              </a:lnSpc>
              <a:buNone/>
            </a:pPr>
            <a:r>
              <a:rPr lang="en-US" sz="1400" b="1" dirty="0">
                <a:solidFill>
                  <a:srgbClr val="232323"/>
                </a:solidFill>
                <a:latin typeface="Nunito Sans" pitchFamily="34" charset="0"/>
                <a:ea typeface="Nunito Sans" pitchFamily="34" charset="-122"/>
                <a:cs typeface="Nunito Sans" pitchFamily="34" charset="-120"/>
              </a:rPr>
              <a:t>Speed command (ours)</a:t>
            </a:r>
            <a:endParaRPr lang="en-US" sz="1400" dirty="0"/>
          </a:p>
        </p:txBody>
      </p:sp>
      <p:sp>
        <p:nvSpPr>
          <p:cNvPr id="29" name="Text 22"/>
          <p:cNvSpPr/>
          <p:nvPr/>
        </p:nvSpPr>
        <p:spPr>
          <a:xfrm>
            <a:off x="6375400" y="2918222"/>
            <a:ext cx="4970780"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14C58"/>
                </a:solidFill>
                <a:latin typeface="Nunito Sans" pitchFamily="34" charset="0"/>
                <a:ea typeface="Nunito Sans" pitchFamily="34" charset="-122"/>
                <a:cs typeface="Nunito Sans" pitchFamily="34" charset="-120"/>
              </a:rPr>
              <a:t>Adding up speed over time is an integrator: P(s) = k/s</a:t>
            </a:r>
            <a:endParaRPr lang="en-US" sz="1200" dirty="0"/>
          </a:p>
        </p:txBody>
      </p:sp>
      <p:sp>
        <p:nvSpPr>
          <p:cNvPr id="30" name="Text 23"/>
          <p:cNvSpPr/>
          <p:nvPr/>
        </p:nvSpPr>
        <p:spPr>
          <a:xfrm>
            <a:off x="812800" y="3545582"/>
            <a:ext cx="10883392"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32323"/>
                </a:solidFill>
                <a:latin typeface="Nunito Sans" pitchFamily="34" charset="0"/>
                <a:ea typeface="Nunito Sans" pitchFamily="34" charset="-122"/>
                <a:cs typeface="Nunito Sans" pitchFamily="34" charset="-120"/>
              </a:rPr>
              <a:t>10°/s for 2 s = 20°.</a:t>
            </a:r>
            <a:endParaRPr lang="en-US" sz="1300" dirty="0"/>
          </a:p>
        </p:txBody>
      </p:sp>
      <p:sp>
        <p:nvSpPr>
          <p:cNvPr id="31" name="Text 24"/>
          <p:cNvSpPr/>
          <p:nvPr/>
        </p:nvSpPr>
        <p:spPr>
          <a:xfrm>
            <a:off x="812800" y="3840163"/>
            <a:ext cx="10883392" cy="256480"/>
          </a:xfrm>
          <a:prstGeom prst="rect">
            <a:avLst/>
          </a:prstGeom>
          <a:noFill/>
          <a:ln/>
        </p:spPr>
        <p:txBody>
          <a:bodyPr wrap="square" lIns="0" tIns="0" rIns="0" bIns="0" rtlCol="0" anchor="t">
            <a:normAutofit/>
          </a:bodyPr>
          <a:lstStyle/>
          <a:p>
            <a:pPr algn="l" indent="0" marL="0">
              <a:lnSpc>
                <a:spcPts val="1820"/>
              </a:lnSpc>
              <a:buNone/>
            </a:pPr>
            <a:r>
              <a:rPr lang="en-US" sz="1300" b="1" dirty="0">
                <a:solidFill>
                  <a:srgbClr val="232323"/>
                </a:solidFill>
                <a:latin typeface="Nunito Sans" pitchFamily="34" charset="0"/>
                <a:ea typeface="Nunito Sans" pitchFamily="34" charset="-122"/>
                <a:cs typeface="Nunito Sans" pitchFamily="34" charset="-120"/>
              </a:rPr>
              <a:t>Result: simple P-only tuning is often enough.</a:t>
            </a:r>
            <a:endParaRPr lang="en-US" sz="1300" dirty="0"/>
          </a:p>
        </p:txBody>
      </p:sp>
      <p:sp>
        <p:nvSpPr>
          <p:cNvPr id="32" name="Shape 25"/>
          <p:cNvSpPr/>
          <p:nvPr/>
        </p:nvSpPr>
        <p:spPr>
          <a:xfrm>
            <a:off x="812800" y="4223643"/>
            <a:ext cx="3725664" cy="467320"/>
          </a:xfrm>
          <a:prstGeom prst="roundRect">
            <a:avLst>
              <a:gd name="adj" fmla="val 21741"/>
            </a:avLst>
          </a:prstGeom>
          <a:solidFill>
            <a:srgbClr val="FCF2B5"/>
          </a:solidFill>
          <a:ln/>
        </p:spPr>
      </p:sp>
      <p:sp>
        <p:nvSpPr>
          <p:cNvPr id="33" name="Text 26"/>
          <p:cNvSpPr/>
          <p:nvPr/>
        </p:nvSpPr>
        <p:spPr>
          <a:xfrm>
            <a:off x="990600" y="4350643"/>
            <a:ext cx="494308"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32323"/>
                </a:solidFill>
                <a:latin typeface="Nunito Sans" pitchFamily="34" charset="0"/>
                <a:ea typeface="Nunito Sans" pitchFamily="34" charset="-122"/>
                <a:cs typeface="Nunito Sans" pitchFamily="34" charset="-120"/>
              </a:rPr>
              <a:t>TODO</a:t>
            </a:r>
            <a:endParaRPr lang="en-US" sz="1200" dirty="0"/>
          </a:p>
        </p:txBody>
      </p:sp>
      <p:sp>
        <p:nvSpPr>
          <p:cNvPr id="34" name="Text 27"/>
          <p:cNvSpPr/>
          <p:nvPr/>
        </p:nvSpPr>
        <p:spPr>
          <a:xfrm>
            <a:off x="1535708" y="4350643"/>
            <a:ext cx="2909705"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232323"/>
                </a:solidFill>
                <a:latin typeface="Nunito Sans" pitchFamily="34" charset="0"/>
                <a:ea typeface="Nunito Sans" pitchFamily="34" charset="-122"/>
                <a:cs typeface="Nunito Sans" pitchFamily="34" charset="-120"/>
              </a:rPr>
              <a:t>Graph — error vs. time, for different gains</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6F5"/>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06</a:t>
            </a:r>
            <a:endParaRPr lang="en-US" sz="5600" dirty="0"/>
          </a:p>
        </p:txBody>
      </p:sp>
      <p:sp>
        <p:nvSpPr>
          <p:cNvPr id="3" name="Shape 1"/>
          <p:cNvSpPr/>
          <p:nvPr/>
        </p:nvSpPr>
        <p:spPr>
          <a:xfrm>
            <a:off x="812800" y="812800"/>
            <a:ext cx="3579713" cy="340320"/>
          </a:xfrm>
          <a:prstGeom prst="roundRect">
            <a:avLst>
              <a:gd name="adj" fmla="val 37318"/>
            </a:avLst>
          </a:prstGeom>
          <a:solidFill>
            <a:srgbClr val="DAE5F1"/>
          </a:solidFill>
          <a:ln/>
        </p:spPr>
      </p:sp>
      <p:sp>
        <p:nvSpPr>
          <p:cNvPr id="4" name="Text 2"/>
          <p:cNvSpPr/>
          <p:nvPr/>
        </p:nvSpPr>
        <p:spPr>
          <a:xfrm>
            <a:off x="952500" y="876300"/>
            <a:ext cx="339932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3 — SOLUTION / ARCHITECTURE</a:t>
            </a:r>
            <a:endParaRPr lang="en-US" sz="1200" dirty="0"/>
          </a:p>
        </p:txBody>
      </p:sp>
      <p:sp>
        <p:nvSpPr>
          <p:cNvPr id="5" name="Text 3"/>
          <p:cNvSpPr/>
          <p:nvPr/>
        </p:nvSpPr>
        <p:spPr>
          <a:xfrm>
            <a:off x="812800" y="1254720"/>
            <a:ext cx="10883392"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232323"/>
                </a:solidFill>
                <a:latin typeface="Nunito Sans" pitchFamily="34" charset="0"/>
                <a:ea typeface="Nunito Sans" pitchFamily="34" charset="-122"/>
                <a:cs typeface="Nunito Sans" pitchFamily="34" charset="-120"/>
              </a:rPr>
              <a:t>Architecture: FreeRTOS tasks</a:t>
            </a:r>
            <a:endParaRPr lang="en-US" sz="2400" dirty="0"/>
          </a:p>
        </p:txBody>
      </p:sp>
      <p:sp>
        <p:nvSpPr>
          <p:cNvPr id="6" name="Shape 4"/>
          <p:cNvSpPr/>
          <p:nvPr/>
        </p:nvSpPr>
        <p:spPr>
          <a:xfrm>
            <a:off x="812800" y="1691580"/>
            <a:ext cx="2032000" cy="571500"/>
          </a:xfrm>
          <a:prstGeom prst="roundRect">
            <a:avLst>
              <a:gd name="adj" fmla="val 15556"/>
            </a:avLst>
          </a:prstGeom>
          <a:solidFill>
            <a:srgbClr val="ECE7E2"/>
          </a:solidFill>
          <a:ln/>
        </p:spPr>
      </p:sp>
      <p:sp>
        <p:nvSpPr>
          <p:cNvPr id="7" name="Text 5"/>
          <p:cNvSpPr/>
          <p:nvPr/>
        </p:nvSpPr>
        <p:spPr>
          <a:xfrm>
            <a:off x="914400" y="1790005"/>
            <a:ext cx="1883664" cy="229791"/>
          </a:xfrm>
          <a:prstGeom prst="rect">
            <a:avLst/>
          </a:prstGeom>
          <a:noFill/>
          <a:ln/>
        </p:spPr>
        <p:txBody>
          <a:bodyPr wrap="square" lIns="0" tIns="0" rIns="0" bIns="0" rtlCol="0" anchor="t">
            <a:normAutofit/>
          </a:bodyPr>
          <a:lstStyle/>
          <a:p>
            <a:pPr algn="l" indent="0" marL="0">
              <a:lnSpc>
                <a:spcPts val="1610"/>
              </a:lnSpc>
              <a:buNone/>
            </a:pPr>
            <a:r>
              <a:rPr lang="en-US" sz="1150" b="1" dirty="0">
                <a:solidFill>
                  <a:srgbClr val="232323"/>
                </a:solidFill>
                <a:latin typeface="Nunito Sans" pitchFamily="34" charset="0"/>
                <a:ea typeface="Nunito Sans" pitchFamily="34" charset="-122"/>
                <a:cs typeface="Nunito Sans" pitchFamily="34" charset="-120"/>
              </a:rPr>
              <a:t>link_uart</a:t>
            </a:r>
            <a:endParaRPr lang="en-US" sz="1150" dirty="0"/>
          </a:p>
        </p:txBody>
      </p:sp>
      <p:sp>
        <p:nvSpPr>
          <p:cNvPr id="8" name="Text 6"/>
          <p:cNvSpPr/>
          <p:nvPr/>
        </p:nvSpPr>
        <p:spPr>
          <a:xfrm>
            <a:off x="914400" y="2013446"/>
            <a:ext cx="1883664" cy="176510"/>
          </a:xfrm>
          <a:prstGeom prst="rect">
            <a:avLst/>
          </a:prstGeom>
          <a:noFill/>
          <a:ln/>
        </p:spPr>
        <p:txBody>
          <a:bodyPr wrap="square" lIns="0" tIns="0" rIns="0" bIns="0" rtlCol="0" anchor="t">
            <a:normAutofit/>
          </a:bodyPr>
          <a:lstStyle/>
          <a:p>
            <a:pPr algn="l" indent="0" marL="0">
              <a:lnSpc>
                <a:spcPts val="1190"/>
              </a:lnSpc>
              <a:buNone/>
            </a:pPr>
            <a:r>
              <a:rPr lang="en-US" sz="850" dirty="0">
                <a:solidFill>
                  <a:srgbClr val="414C58"/>
                </a:solidFill>
                <a:latin typeface="Nunito Sans" pitchFamily="34" charset="0"/>
                <a:ea typeface="Nunito Sans" pitchFamily="34" charset="-122"/>
                <a:cs typeface="Nunito Sans" pitchFamily="34" charset="-120"/>
              </a:rPr>
              <a:t>core 0 — reads UART, fills cmd_q</a:t>
            </a:r>
            <a:endParaRPr lang="en-US" sz="850" dirty="0"/>
          </a:p>
        </p:txBody>
      </p:sp>
      <p:sp>
        <p:nvSpPr>
          <p:cNvPr id="9" name="Shape 7"/>
          <p:cNvSpPr/>
          <p:nvPr/>
        </p:nvSpPr>
        <p:spPr>
          <a:xfrm>
            <a:off x="3352800" y="1691580"/>
            <a:ext cx="1778000" cy="571500"/>
          </a:xfrm>
          <a:prstGeom prst="roundRect">
            <a:avLst>
              <a:gd name="adj" fmla="val 15556"/>
            </a:avLst>
          </a:prstGeom>
          <a:solidFill>
            <a:srgbClr val="ECE7E2"/>
          </a:solidFill>
          <a:ln/>
        </p:spPr>
      </p:sp>
      <p:sp>
        <p:nvSpPr>
          <p:cNvPr id="10" name="Text 8"/>
          <p:cNvSpPr/>
          <p:nvPr/>
        </p:nvSpPr>
        <p:spPr>
          <a:xfrm>
            <a:off x="3454400" y="1790005"/>
            <a:ext cx="1625600" cy="229791"/>
          </a:xfrm>
          <a:prstGeom prst="rect">
            <a:avLst/>
          </a:prstGeom>
          <a:noFill/>
          <a:ln/>
        </p:spPr>
        <p:txBody>
          <a:bodyPr wrap="square" lIns="0" tIns="0" rIns="0" bIns="0" rtlCol="0" anchor="t">
            <a:normAutofit/>
          </a:bodyPr>
          <a:lstStyle/>
          <a:p>
            <a:pPr algn="l" indent="0" marL="0">
              <a:lnSpc>
                <a:spcPts val="1610"/>
              </a:lnSpc>
              <a:buNone/>
            </a:pPr>
            <a:r>
              <a:rPr lang="en-US" sz="1150" b="1" dirty="0">
                <a:solidFill>
                  <a:srgbClr val="232323"/>
                </a:solidFill>
                <a:latin typeface="Nunito Sans" pitchFamily="34" charset="0"/>
                <a:ea typeface="Nunito Sans" pitchFamily="34" charset="-122"/>
                <a:cs typeface="Nunito Sans" pitchFamily="34" charset="-120"/>
              </a:rPr>
              <a:t>ui</a:t>
            </a:r>
            <a:endParaRPr lang="en-US" sz="1150" dirty="0"/>
          </a:p>
        </p:txBody>
      </p:sp>
      <p:sp>
        <p:nvSpPr>
          <p:cNvPr id="11" name="Text 9"/>
          <p:cNvSpPr/>
          <p:nvPr/>
        </p:nvSpPr>
        <p:spPr>
          <a:xfrm>
            <a:off x="3454400" y="2013446"/>
            <a:ext cx="1625600" cy="176510"/>
          </a:xfrm>
          <a:prstGeom prst="rect">
            <a:avLst/>
          </a:prstGeom>
          <a:noFill/>
          <a:ln/>
        </p:spPr>
        <p:txBody>
          <a:bodyPr wrap="square" lIns="0" tIns="0" rIns="0" bIns="0" rtlCol="0" anchor="t">
            <a:normAutofit/>
          </a:bodyPr>
          <a:lstStyle/>
          <a:p>
            <a:pPr algn="l" indent="0" marL="0">
              <a:lnSpc>
                <a:spcPts val="1190"/>
              </a:lnSpc>
              <a:buNone/>
            </a:pPr>
            <a:r>
              <a:rPr lang="en-US" sz="850" dirty="0">
                <a:solidFill>
                  <a:srgbClr val="414C58"/>
                </a:solidFill>
                <a:latin typeface="Nunito Sans" pitchFamily="34" charset="0"/>
                <a:ea typeface="Nunito Sans" pitchFamily="34" charset="-122"/>
                <a:cs typeface="Nunito Sans" pitchFamily="34" charset="-120"/>
              </a:rPr>
              <a:t>core 0 — OLED + MODE button</a:t>
            </a:r>
            <a:endParaRPr lang="en-US" sz="850" dirty="0"/>
          </a:p>
        </p:txBody>
      </p:sp>
      <p:sp>
        <p:nvSpPr>
          <p:cNvPr id="12" name="Shape 10"/>
          <p:cNvSpPr/>
          <p:nvPr/>
        </p:nvSpPr>
        <p:spPr>
          <a:xfrm>
            <a:off x="5638800" y="1691580"/>
            <a:ext cx="1905000" cy="571500"/>
          </a:xfrm>
          <a:prstGeom prst="roundRect">
            <a:avLst>
              <a:gd name="adj" fmla="val 15556"/>
            </a:avLst>
          </a:prstGeom>
          <a:solidFill>
            <a:srgbClr val="F7B6B5"/>
          </a:solidFill>
          <a:ln/>
        </p:spPr>
      </p:sp>
      <p:sp>
        <p:nvSpPr>
          <p:cNvPr id="13" name="Text 11"/>
          <p:cNvSpPr/>
          <p:nvPr/>
        </p:nvSpPr>
        <p:spPr>
          <a:xfrm>
            <a:off x="5740400" y="1790005"/>
            <a:ext cx="1752854" cy="229791"/>
          </a:xfrm>
          <a:prstGeom prst="rect">
            <a:avLst/>
          </a:prstGeom>
          <a:noFill/>
          <a:ln/>
        </p:spPr>
        <p:txBody>
          <a:bodyPr wrap="square" lIns="0" tIns="0" rIns="0" bIns="0" rtlCol="0" anchor="t">
            <a:normAutofit/>
          </a:bodyPr>
          <a:lstStyle/>
          <a:p>
            <a:pPr algn="l" indent="0" marL="0">
              <a:lnSpc>
                <a:spcPts val="1610"/>
              </a:lnSpc>
              <a:buNone/>
            </a:pPr>
            <a:r>
              <a:rPr lang="en-US" sz="1150" b="1" dirty="0">
                <a:solidFill>
                  <a:srgbClr val="232323"/>
                </a:solidFill>
                <a:latin typeface="Nunito Sans" pitchFamily="34" charset="0"/>
                <a:ea typeface="Nunito Sans" pitchFamily="34" charset="-122"/>
                <a:cs typeface="Nunito Sans" pitchFamily="34" charset="-120"/>
              </a:rPr>
              <a:t>E-stop ISR</a:t>
            </a:r>
            <a:endParaRPr lang="en-US" sz="1150" dirty="0"/>
          </a:p>
        </p:txBody>
      </p:sp>
      <p:sp>
        <p:nvSpPr>
          <p:cNvPr id="14" name="Text 12"/>
          <p:cNvSpPr/>
          <p:nvPr/>
        </p:nvSpPr>
        <p:spPr>
          <a:xfrm>
            <a:off x="5740400" y="2013446"/>
            <a:ext cx="1752854" cy="176510"/>
          </a:xfrm>
          <a:prstGeom prst="rect">
            <a:avLst/>
          </a:prstGeom>
          <a:noFill/>
          <a:ln/>
        </p:spPr>
        <p:txBody>
          <a:bodyPr wrap="square" lIns="0" tIns="0" rIns="0" bIns="0" rtlCol="0" anchor="t">
            <a:normAutofit/>
          </a:bodyPr>
          <a:lstStyle/>
          <a:p>
            <a:pPr algn="l" indent="0" marL="0">
              <a:lnSpc>
                <a:spcPts val="1190"/>
              </a:lnSpc>
              <a:buNone/>
            </a:pPr>
            <a:r>
              <a:rPr lang="en-US" sz="850" dirty="0">
                <a:solidFill>
                  <a:srgbClr val="414C58"/>
                </a:solidFill>
                <a:latin typeface="Nunito Sans" pitchFamily="34" charset="0"/>
                <a:ea typeface="Nunito Sans" pitchFamily="34" charset="-122"/>
                <a:cs typeface="Nunito Sans" pitchFamily="34" charset="-120"/>
              </a:rPr>
              <a:t>no work in the ISR</a:t>
            </a:r>
            <a:endParaRPr lang="en-US" sz="850" dirty="0"/>
          </a:p>
        </p:txBody>
      </p:sp>
      <p:sp>
        <p:nvSpPr>
          <p:cNvPr id="15" name="Shape 13"/>
          <p:cNvSpPr/>
          <p:nvPr/>
        </p:nvSpPr>
        <p:spPr>
          <a:xfrm>
            <a:off x="812800" y="2771080"/>
            <a:ext cx="2032000" cy="635000"/>
          </a:xfrm>
          <a:prstGeom prst="roundRect">
            <a:avLst>
              <a:gd name="adj" fmla="val 14000"/>
            </a:avLst>
          </a:prstGeom>
          <a:solidFill>
            <a:srgbClr val="C5D6E9"/>
          </a:solidFill>
          <a:ln/>
        </p:spPr>
      </p:sp>
      <p:sp>
        <p:nvSpPr>
          <p:cNvPr id="16" name="Text 14"/>
          <p:cNvSpPr/>
          <p:nvPr/>
        </p:nvSpPr>
        <p:spPr>
          <a:xfrm>
            <a:off x="914400" y="2847280"/>
            <a:ext cx="1883664" cy="212427"/>
          </a:xfrm>
          <a:prstGeom prst="rect">
            <a:avLst/>
          </a:prstGeom>
          <a:noFill/>
          <a:ln/>
        </p:spPr>
        <p:txBody>
          <a:bodyPr wrap="square" lIns="0" tIns="0" rIns="0" bIns="0" rtlCol="0" anchor="t">
            <a:normAutofit/>
          </a:bodyPr>
          <a:lstStyle/>
          <a:p>
            <a:pPr algn="l" indent="0" marL="0">
              <a:lnSpc>
                <a:spcPts val="1474"/>
              </a:lnSpc>
              <a:buNone/>
            </a:pPr>
            <a:r>
              <a:rPr lang="en-US" sz="1053" b="1" dirty="0">
                <a:solidFill>
                  <a:srgbClr val="232323"/>
                </a:solidFill>
                <a:latin typeface="Nunito Sans" pitchFamily="34" charset="0"/>
                <a:ea typeface="Nunito Sans" pitchFamily="34" charset="-122"/>
                <a:cs typeface="Nunito Sans" pitchFamily="34" charset="-120"/>
              </a:rPr>
              <a:t>ctrl</a:t>
            </a:r>
            <a:endParaRPr lang="en-US" sz="1053" dirty="0"/>
          </a:p>
        </p:txBody>
      </p:sp>
      <p:sp>
        <p:nvSpPr>
          <p:cNvPr id="17" name="Text 15"/>
          <p:cNvSpPr/>
          <p:nvPr/>
        </p:nvSpPr>
        <p:spPr>
          <a:xfrm>
            <a:off x="914400" y="3053358"/>
            <a:ext cx="1883664" cy="301923"/>
          </a:xfrm>
          <a:prstGeom prst="rect">
            <a:avLst/>
          </a:prstGeom>
          <a:noFill/>
          <a:ln/>
        </p:spPr>
        <p:txBody>
          <a:bodyPr wrap="square" lIns="0" tIns="0" rIns="0" bIns="0" rtlCol="0" anchor="t">
            <a:normAutofit/>
          </a:bodyPr>
          <a:lstStyle/>
          <a:p>
            <a:pPr algn="l" indent="0" marL="0">
              <a:lnSpc>
                <a:spcPts val="1119"/>
              </a:lnSpc>
              <a:buNone/>
            </a:pPr>
            <a:r>
              <a:rPr lang="en-US" sz="800" dirty="0">
                <a:solidFill>
                  <a:srgbClr val="414C58"/>
                </a:solidFill>
                <a:latin typeface="Nunito Sans" pitchFamily="34" charset="0"/>
                <a:ea typeface="Nunito Sans" pitchFamily="34" charset="-122"/>
                <a:cs typeface="Nunito Sans" pitchFamily="34" charset="-120"/>
              </a:rPr>
              <a:t>core 1, 20 ms fixed — PID, drives servos</a:t>
            </a:r>
            <a:endParaRPr lang="en-US" sz="800" dirty="0"/>
          </a:p>
        </p:txBody>
      </p:sp>
      <p:sp>
        <p:nvSpPr>
          <p:cNvPr id="18" name="Shape 16"/>
          <p:cNvSpPr/>
          <p:nvPr/>
        </p:nvSpPr>
        <p:spPr>
          <a:xfrm>
            <a:off x="3352800" y="2771080"/>
            <a:ext cx="2159000" cy="635000"/>
          </a:xfrm>
          <a:prstGeom prst="roundRect">
            <a:avLst>
              <a:gd name="adj" fmla="val 14000"/>
            </a:avLst>
          </a:prstGeom>
          <a:solidFill>
            <a:srgbClr val="ECE7E2"/>
          </a:solidFill>
          <a:ln/>
        </p:spPr>
      </p:sp>
      <p:sp>
        <p:nvSpPr>
          <p:cNvPr id="19" name="Text 17"/>
          <p:cNvSpPr/>
          <p:nvPr/>
        </p:nvSpPr>
        <p:spPr>
          <a:xfrm>
            <a:off x="3454400" y="2847280"/>
            <a:ext cx="2014474" cy="212427"/>
          </a:xfrm>
          <a:prstGeom prst="rect">
            <a:avLst/>
          </a:prstGeom>
          <a:noFill/>
          <a:ln/>
        </p:spPr>
        <p:txBody>
          <a:bodyPr wrap="square" lIns="0" tIns="0" rIns="0" bIns="0" rtlCol="0" anchor="t">
            <a:normAutofit/>
          </a:bodyPr>
          <a:lstStyle/>
          <a:p>
            <a:pPr algn="l" indent="0" marL="0">
              <a:lnSpc>
                <a:spcPts val="1474"/>
              </a:lnSpc>
              <a:buNone/>
            </a:pPr>
            <a:r>
              <a:rPr lang="en-US" sz="1053" b="1" dirty="0">
                <a:solidFill>
                  <a:srgbClr val="232323"/>
                </a:solidFill>
                <a:latin typeface="Nunito Sans" pitchFamily="34" charset="0"/>
                <a:ea typeface="Nunito Sans" pitchFamily="34" charset="-122"/>
                <a:cs typeface="Nunito Sans" pitchFamily="34" charset="-120"/>
              </a:rPr>
              <a:t>logger</a:t>
            </a:r>
            <a:endParaRPr lang="en-US" sz="1053" dirty="0"/>
          </a:p>
        </p:txBody>
      </p:sp>
      <p:sp>
        <p:nvSpPr>
          <p:cNvPr id="20" name="Text 18"/>
          <p:cNvSpPr/>
          <p:nvPr/>
        </p:nvSpPr>
        <p:spPr>
          <a:xfrm>
            <a:off x="3454400" y="3053358"/>
            <a:ext cx="2014474" cy="301923"/>
          </a:xfrm>
          <a:prstGeom prst="rect">
            <a:avLst/>
          </a:prstGeom>
          <a:noFill/>
          <a:ln/>
        </p:spPr>
        <p:txBody>
          <a:bodyPr wrap="square" lIns="0" tIns="0" rIns="0" bIns="0" rtlCol="0" anchor="t">
            <a:normAutofit/>
          </a:bodyPr>
          <a:lstStyle/>
          <a:p>
            <a:pPr algn="l" indent="0" marL="0">
              <a:lnSpc>
                <a:spcPts val="1142"/>
              </a:lnSpc>
              <a:buNone/>
            </a:pPr>
            <a:r>
              <a:rPr lang="en-US" sz="815" dirty="0">
                <a:solidFill>
                  <a:srgbClr val="414C58"/>
                </a:solidFill>
                <a:latin typeface="Nunito Sans" pitchFamily="34" charset="0"/>
                <a:ea typeface="Nunito Sans" pitchFamily="34" charset="-122"/>
                <a:cs typeface="Nunito Sans" pitchFamily="34" charset="-120"/>
              </a:rPr>
              <a:t>core 0, lowest priority — may block; → SD</a:t>
            </a:r>
            <a:endParaRPr lang="en-US" sz="815" dirty="0"/>
          </a:p>
        </p:txBody>
      </p:sp>
      <p:sp>
        <p:nvSpPr>
          <p:cNvPr id="21" name="Shape 19"/>
          <p:cNvSpPr/>
          <p:nvPr/>
        </p:nvSpPr>
        <p:spPr>
          <a:xfrm>
            <a:off x="5638800" y="2771080"/>
            <a:ext cx="1905000" cy="635000"/>
          </a:xfrm>
          <a:prstGeom prst="roundRect">
            <a:avLst>
              <a:gd name="adj" fmla="val 14000"/>
            </a:avLst>
          </a:prstGeom>
          <a:solidFill>
            <a:srgbClr val="C5D6E9"/>
          </a:solidFill>
          <a:ln/>
        </p:spPr>
      </p:sp>
      <p:sp>
        <p:nvSpPr>
          <p:cNvPr id="22" name="Text 20"/>
          <p:cNvSpPr/>
          <p:nvPr/>
        </p:nvSpPr>
        <p:spPr>
          <a:xfrm>
            <a:off x="5740400" y="2847280"/>
            <a:ext cx="1752854" cy="212427"/>
          </a:xfrm>
          <a:prstGeom prst="rect">
            <a:avLst/>
          </a:prstGeom>
          <a:noFill/>
          <a:ln/>
        </p:spPr>
        <p:txBody>
          <a:bodyPr wrap="square" lIns="0" tIns="0" rIns="0" bIns="0" rtlCol="0" anchor="t">
            <a:normAutofit/>
          </a:bodyPr>
          <a:lstStyle/>
          <a:p>
            <a:pPr algn="l" indent="0" marL="0">
              <a:lnSpc>
                <a:spcPts val="1474"/>
              </a:lnSpc>
              <a:buNone/>
            </a:pPr>
            <a:r>
              <a:rPr lang="en-US" sz="1053" b="1" dirty="0">
                <a:solidFill>
                  <a:srgbClr val="232323"/>
                </a:solidFill>
                <a:latin typeface="Nunito Sans" pitchFamily="34" charset="0"/>
                <a:ea typeface="Nunito Sans" pitchFamily="34" charset="-122"/>
                <a:cs typeface="Nunito Sans" pitchFamily="34" charset="-120"/>
              </a:rPr>
              <a:t>safety</a:t>
            </a:r>
            <a:endParaRPr lang="en-US" sz="1053" dirty="0"/>
          </a:p>
        </p:txBody>
      </p:sp>
      <p:sp>
        <p:nvSpPr>
          <p:cNvPr id="23" name="Text 21"/>
          <p:cNvSpPr/>
          <p:nvPr/>
        </p:nvSpPr>
        <p:spPr>
          <a:xfrm>
            <a:off x="5740400" y="3053358"/>
            <a:ext cx="1752854" cy="301923"/>
          </a:xfrm>
          <a:prstGeom prst="rect">
            <a:avLst/>
          </a:prstGeom>
          <a:noFill/>
          <a:ln/>
        </p:spPr>
        <p:txBody>
          <a:bodyPr wrap="square" lIns="0" tIns="0" rIns="0" bIns="0" rtlCol="0" anchor="t">
            <a:normAutofit/>
          </a:bodyPr>
          <a:lstStyle/>
          <a:p>
            <a:pPr algn="l" indent="0" marL="0">
              <a:lnSpc>
                <a:spcPts val="1116"/>
              </a:lnSpc>
              <a:buNone/>
            </a:pPr>
            <a:r>
              <a:rPr lang="en-US" sz="797" dirty="0">
                <a:solidFill>
                  <a:srgbClr val="414C58"/>
                </a:solidFill>
                <a:latin typeface="Nunito Sans" pitchFamily="34" charset="0"/>
                <a:ea typeface="Nunito Sans" pitchFamily="34" charset="-122"/>
                <a:cs typeface="Nunito Sans" pitchFamily="34" charset="-120"/>
              </a:rPr>
              <a:t>highest priority — E-stop + laser gate</a:t>
            </a:r>
            <a:endParaRPr lang="en-US" sz="797" dirty="0"/>
          </a:p>
        </p:txBody>
      </p:sp>
      <p:pic>
        <p:nvPicPr>
          <p:cNvPr id="24" name="Image 0" descr="connector">    </p:cNvPr>
          <p:cNvPicPr>
            <a:picLocks noChangeAspect="1"/>
          </p:cNvPicPr>
          <p:nvPr/>
        </p:nvPicPr>
        <p:blipFill>
          <a:blip r:embed="rId1"/>
          <a:srcRect l="0" r="0" t="0" b="0"/>
          <a:stretch/>
        </p:blipFill>
        <p:spPr>
          <a:xfrm>
            <a:off x="1397000" y="2212280"/>
            <a:ext cx="101600" cy="609600"/>
          </a:xfrm>
          <a:prstGeom prst="rect">
            <a:avLst/>
          </a:prstGeom>
        </p:spPr>
      </p:pic>
      <p:pic>
        <p:nvPicPr>
          <p:cNvPr id="25" name="Image 1" descr="connector">    </p:cNvPr>
          <p:cNvPicPr>
            <a:picLocks noChangeAspect="1"/>
          </p:cNvPicPr>
          <p:nvPr/>
        </p:nvPicPr>
        <p:blipFill>
          <a:blip r:embed="rId2"/>
          <a:srcRect l="0" r="0" t="0" b="0"/>
          <a:stretch/>
        </p:blipFill>
        <p:spPr>
          <a:xfrm>
            <a:off x="2286000" y="2212280"/>
            <a:ext cx="2006600" cy="609600"/>
          </a:xfrm>
          <a:prstGeom prst="rect">
            <a:avLst/>
          </a:prstGeom>
        </p:spPr>
      </p:pic>
      <p:pic>
        <p:nvPicPr>
          <p:cNvPr id="26" name="Image 2" descr="connector">    </p:cNvPr>
          <p:cNvPicPr>
            <a:picLocks noChangeAspect="1"/>
          </p:cNvPicPr>
          <p:nvPr/>
        </p:nvPicPr>
        <p:blipFill>
          <a:blip r:embed="rId3"/>
          <a:srcRect l="0" r="0" t="0" b="0"/>
          <a:stretch/>
        </p:blipFill>
        <p:spPr>
          <a:xfrm>
            <a:off x="2349500" y="2212280"/>
            <a:ext cx="1435100" cy="609600"/>
          </a:xfrm>
          <a:prstGeom prst="rect">
            <a:avLst/>
          </a:prstGeom>
        </p:spPr>
      </p:pic>
      <p:pic>
        <p:nvPicPr>
          <p:cNvPr id="27" name="Image 3" descr="connector">    </p:cNvPr>
          <p:cNvPicPr>
            <a:picLocks noChangeAspect="1"/>
          </p:cNvPicPr>
          <p:nvPr/>
        </p:nvPicPr>
        <p:blipFill>
          <a:blip r:embed="rId4"/>
          <a:srcRect l="0" r="0" t="0" b="0"/>
          <a:stretch/>
        </p:blipFill>
        <p:spPr>
          <a:xfrm>
            <a:off x="2794000" y="3037780"/>
            <a:ext cx="609600" cy="101600"/>
          </a:xfrm>
          <a:prstGeom prst="rect">
            <a:avLst/>
          </a:prstGeom>
        </p:spPr>
      </p:pic>
      <p:pic>
        <p:nvPicPr>
          <p:cNvPr id="28" name="Image 4" descr="connector">    </p:cNvPr>
          <p:cNvPicPr>
            <a:picLocks noChangeAspect="1"/>
          </p:cNvPicPr>
          <p:nvPr/>
        </p:nvPicPr>
        <p:blipFill>
          <a:blip r:embed="rId5"/>
          <a:srcRect l="0" r="0" t="0" b="0"/>
          <a:stretch/>
        </p:blipFill>
        <p:spPr>
          <a:xfrm>
            <a:off x="6540500" y="2212280"/>
            <a:ext cx="101600" cy="609600"/>
          </a:xfrm>
          <a:prstGeom prst="rect">
            <a:avLst/>
          </a:prstGeom>
        </p:spPr>
      </p:pic>
      <p:sp>
        <p:nvSpPr>
          <p:cNvPr id="29" name="Text 22"/>
          <p:cNvSpPr/>
          <p:nvPr/>
        </p:nvSpPr>
        <p:spPr>
          <a:xfrm>
            <a:off x="1041400" y="2326580"/>
            <a:ext cx="749300" cy="194270"/>
          </a:xfrm>
          <a:prstGeom prst="rect">
            <a:avLst/>
          </a:prstGeom>
          <a:noFill/>
          <a:ln/>
        </p:spPr>
        <p:txBody>
          <a:bodyPr wrap="square" lIns="0" tIns="0" rIns="0" bIns="0" rtlCol="0" anchor="t">
            <a:normAutofit/>
          </a:bodyPr>
          <a:lstStyle/>
          <a:p>
            <a:pPr algn="ctr"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cmd_q</a:t>
            </a:r>
            <a:endParaRPr lang="en-US" sz="950" dirty="0"/>
          </a:p>
        </p:txBody>
      </p:sp>
      <p:sp>
        <p:nvSpPr>
          <p:cNvPr id="30" name="Text 23"/>
          <p:cNvSpPr/>
          <p:nvPr/>
        </p:nvSpPr>
        <p:spPr>
          <a:xfrm>
            <a:off x="3263900" y="2313880"/>
            <a:ext cx="749300" cy="194270"/>
          </a:xfrm>
          <a:prstGeom prst="rect">
            <a:avLst/>
          </a:prstGeom>
          <a:noFill/>
          <a:ln/>
        </p:spPr>
        <p:txBody>
          <a:bodyPr wrap="square" lIns="0" tIns="0" rIns="0" bIns="0" rtlCol="0" anchor="t">
            <a:normAutofit/>
          </a:bodyPr>
          <a:lstStyle/>
          <a:p>
            <a:pPr algn="ctr"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cmd_q</a:t>
            </a:r>
            <a:endParaRPr lang="en-US" sz="950" dirty="0"/>
          </a:p>
        </p:txBody>
      </p:sp>
      <p:sp>
        <p:nvSpPr>
          <p:cNvPr id="31" name="Text 24"/>
          <p:cNvSpPr/>
          <p:nvPr/>
        </p:nvSpPr>
        <p:spPr>
          <a:xfrm>
            <a:off x="2247900" y="2580580"/>
            <a:ext cx="749300" cy="194270"/>
          </a:xfrm>
          <a:prstGeom prst="rect">
            <a:avLst/>
          </a:prstGeom>
          <a:noFill/>
          <a:ln/>
        </p:spPr>
        <p:txBody>
          <a:bodyPr wrap="square" lIns="0" tIns="0" rIns="0" bIns="0" rtlCol="0" anchor="t">
            <a:normAutofit/>
          </a:bodyPr>
          <a:lstStyle/>
          <a:p>
            <a:pPr algn="ctr"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log_q</a:t>
            </a:r>
            <a:endParaRPr lang="en-US" sz="950" dirty="0"/>
          </a:p>
        </p:txBody>
      </p:sp>
      <p:sp>
        <p:nvSpPr>
          <p:cNvPr id="32" name="Text 25"/>
          <p:cNvSpPr/>
          <p:nvPr/>
        </p:nvSpPr>
        <p:spPr>
          <a:xfrm>
            <a:off x="2851150" y="2936180"/>
            <a:ext cx="622300" cy="194270"/>
          </a:xfrm>
          <a:prstGeom prst="rect">
            <a:avLst/>
          </a:prstGeom>
          <a:noFill/>
          <a:ln/>
        </p:spPr>
        <p:txBody>
          <a:bodyPr wrap="square" lIns="0" tIns="0" rIns="0" bIns="0" rtlCol="0" anchor="t">
            <a:normAutofit/>
          </a:bodyPr>
          <a:lstStyle/>
          <a:p>
            <a:pPr algn="ctr"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log_q</a:t>
            </a:r>
            <a:endParaRPr lang="en-US" sz="950" dirty="0"/>
          </a:p>
        </p:txBody>
      </p:sp>
      <p:sp>
        <p:nvSpPr>
          <p:cNvPr id="33" name="Text 26"/>
          <p:cNvSpPr/>
          <p:nvPr/>
        </p:nvSpPr>
        <p:spPr>
          <a:xfrm>
            <a:off x="6216650" y="2440880"/>
            <a:ext cx="749300" cy="194270"/>
          </a:xfrm>
          <a:prstGeom prst="rect">
            <a:avLst/>
          </a:prstGeom>
          <a:noFill/>
          <a:ln/>
        </p:spPr>
        <p:txBody>
          <a:bodyPr wrap="square" lIns="0" tIns="0" rIns="0" bIns="0" rtlCol="0" anchor="t">
            <a:normAutofit/>
          </a:bodyPr>
          <a:lstStyle/>
          <a:p>
            <a:pPr algn="ctr"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notify</a:t>
            </a:r>
            <a:endParaRPr lang="en-US" sz="950" dirty="0"/>
          </a:p>
        </p:txBody>
      </p:sp>
      <p:graphicFrame>
        <p:nvGraphicFramePr>
          <p:cNvPr id="34" name="Table 0"/>
          <p:cNvGraphicFramePr>
            <a:graphicFrameLocks noGrp="1"/>
          </p:cNvGraphicFramePr>
          <p:nvPr>
            <p:extLst>
              <p:ext uri="{D42A27DB-BD31-4B8C-83A1-F6EECF244321}">
                <p14:modId xmlns:p14="http://schemas.microsoft.com/office/powerpoint/2010/main" val="1579011935"/>
              </p:ext>
            </p:extLst>
          </p:nvPr>
        </p:nvGraphicFramePr>
        <p:xfrm>
          <a:off x="812800" y="3698180"/>
          <a:ext cx="10566400" cy="1835348"/>
        </p:xfrm>
        <a:graphic>
          <a:graphicData uri="http://schemas.openxmlformats.org/drawingml/2006/table">
            <a:tbl>
              <a:tblPr/>
              <a:tblGrid>
                <a:gridCol w="2113280"/>
                <a:gridCol w="1479296"/>
                <a:gridCol w="6973824"/>
              </a:tblGrid>
              <a:tr h="305891">
                <a:tc>
                  <a:txBody>
                    <a:bodyPr/>
                    <a:lstStyle/>
                    <a:p>
                      <a:pPr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Task</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C5D6E9"/>
                    </a:solidFill>
                  </a:tcPr>
                </a:tc>
                <a:tc>
                  <a:txBody>
                    <a:bodyPr/>
                    <a:lstStyle/>
                    <a:p>
                      <a:pPr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Core</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C5D6E9"/>
                    </a:solidFill>
                  </a:tcPr>
                </a:tc>
                <a:tc>
                  <a:txBody>
                    <a:bodyPr/>
                    <a:lstStyle/>
                    <a:p>
                      <a:pPr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Note</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C5D6E9"/>
                    </a:solidFill>
                  </a:tcPr>
                </a:tc>
              </a:tr>
              <a:tr h="305891">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ctrl</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1</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20 ms fixed period, PID + servos</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r>
              <a:tr h="305891">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safety</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1</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Highest priority. E-stop and laser gate</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r>
              <a:tr h="305891">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link_uart</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0</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Reads UART, fills cmd_q</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r>
              <a:tr h="305891">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logger</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0</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Lowest priority. Only task that may block long</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r>
              <a:tr h="305891">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ui</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0</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OLED + MODE button</a:t>
                      </a:r>
                      <a:endParaRPr lang="en-US" sz="1100" dirty="0">
                        <a:latin typeface="Nunito Sans" charset="0"/>
                        <a:ea typeface="Nunito Sans" charset="0"/>
                        <a:cs typeface="Nunito Sans" charset="0"/>
                      </a:endParaRPr>
                    </a:p>
                  </a:txBody>
                  <a:tcPr marL="48895" marR="48895" marT="48895" marB="48895"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r>
            </a:tbl>
          </a:graphicData>
        </a:graphic>
      </p:graphicFrame>
      <p:sp>
        <p:nvSpPr>
          <p:cNvPr id="35" name="Shape 27"/>
          <p:cNvSpPr/>
          <p:nvPr/>
        </p:nvSpPr>
        <p:spPr>
          <a:xfrm>
            <a:off x="812800" y="5647829"/>
            <a:ext cx="4630440" cy="364430"/>
          </a:xfrm>
          <a:prstGeom prst="roundRect">
            <a:avLst>
              <a:gd name="adj" fmla="val 24394"/>
            </a:avLst>
          </a:prstGeom>
          <a:solidFill>
            <a:srgbClr val="FCF2B5"/>
          </a:solidFill>
          <a:ln/>
        </p:spPr>
      </p:sp>
      <p:sp>
        <p:nvSpPr>
          <p:cNvPr id="36" name="Text 28"/>
          <p:cNvSpPr/>
          <p:nvPr/>
        </p:nvSpPr>
        <p:spPr>
          <a:xfrm>
            <a:off x="965200" y="5736729"/>
            <a:ext cx="4455409" cy="212030"/>
          </a:xfrm>
          <a:prstGeom prst="rect">
            <a:avLst/>
          </a:prstGeom>
          <a:noFill/>
          <a:ln/>
        </p:spPr>
        <p:txBody>
          <a:bodyPr wrap="square" lIns="0" tIns="0" rIns="0" bIns="0" rtlCol="0" anchor="t">
            <a:normAutofit/>
          </a:bodyPr>
          <a:lstStyle/>
          <a:p>
            <a:pPr algn="l" indent="0" marL="0">
              <a:lnSpc>
                <a:spcPts val="1470"/>
              </a:lnSpc>
              <a:buNone/>
            </a:pPr>
            <a:r>
              <a:rPr lang="en-US" sz="1050" dirty="0">
                <a:solidFill>
                  <a:srgbClr val="232323"/>
                </a:solidFill>
                <a:latin typeface="Nunito Sans" pitchFamily="34" charset="0"/>
                <a:ea typeface="Nunito Sans" pitchFamily="34" charset="-122"/>
                <a:cs typeface="Nunito Sans" pitchFamily="34" charset="-120"/>
              </a:rPr>
              <a:t>An SD card can stall a write for 100–250 ms. That must never reach </a:t>
            </a:r>
            <a:r>
              <a:rPr lang="en-US" sz="1050" b="1" dirty="0">
                <a:solidFill>
                  <a:srgbClr val="232323"/>
                </a:solidFill>
                <a:latin typeface="Nunito Sans" pitchFamily="34" charset="0"/>
                <a:ea typeface="Nunito Sans" pitchFamily="34" charset="-122"/>
                <a:cs typeface="Nunito Sans" pitchFamily="34" charset="-120"/>
              </a:rPr>
              <a:t>ctrl</a:t>
            </a:r>
            <a:r>
              <a:rPr lang="en-US" sz="1050" dirty="0">
                <a:solidFill>
                  <a:srgbClr val="232323"/>
                </a:solidFill>
                <a:latin typeface="Nunito Sans" pitchFamily="34" charset="0"/>
                <a:ea typeface="Nunito Sans" pitchFamily="34" charset="-122"/>
                <a:cs typeface="Nunito Sans" pitchFamily="34" charset="-120"/>
              </a:rPr>
              <a:t>.</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6F5"/>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07</a:t>
            </a:r>
            <a:endParaRPr lang="en-US" sz="5600" dirty="0"/>
          </a:p>
        </p:txBody>
      </p:sp>
      <p:sp>
        <p:nvSpPr>
          <p:cNvPr id="3" name="Shape 1"/>
          <p:cNvSpPr/>
          <p:nvPr/>
        </p:nvSpPr>
        <p:spPr>
          <a:xfrm>
            <a:off x="812800" y="812800"/>
            <a:ext cx="3579713" cy="340320"/>
          </a:xfrm>
          <a:prstGeom prst="roundRect">
            <a:avLst>
              <a:gd name="adj" fmla="val 37318"/>
            </a:avLst>
          </a:prstGeom>
          <a:solidFill>
            <a:srgbClr val="DAE5F1"/>
          </a:solidFill>
          <a:ln/>
        </p:spPr>
      </p:sp>
      <p:sp>
        <p:nvSpPr>
          <p:cNvPr id="4" name="Text 2"/>
          <p:cNvSpPr/>
          <p:nvPr/>
        </p:nvSpPr>
        <p:spPr>
          <a:xfrm>
            <a:off x="952500" y="876300"/>
            <a:ext cx="3399323"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3 — SOLUTION / ARCHITECTURE</a:t>
            </a:r>
            <a:endParaRPr lang="en-US" sz="1200" dirty="0"/>
          </a:p>
        </p:txBody>
      </p:sp>
      <p:sp>
        <p:nvSpPr>
          <p:cNvPr id="5" name="Text 3"/>
          <p:cNvSpPr/>
          <p:nvPr/>
        </p:nvSpPr>
        <p:spPr>
          <a:xfrm>
            <a:off x="812800" y="1280120"/>
            <a:ext cx="10883392"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232323"/>
                </a:solidFill>
                <a:latin typeface="Nunito Sans" pitchFamily="34" charset="0"/>
                <a:ea typeface="Nunito Sans" pitchFamily="34" charset="-122"/>
                <a:cs typeface="Nunito Sans" pitchFamily="34" charset="-120"/>
              </a:rPr>
              <a:t>Safety: the laser gate</a:t>
            </a:r>
            <a:endParaRPr lang="en-US" sz="2400" dirty="0"/>
          </a:p>
        </p:txBody>
      </p:sp>
      <p:sp>
        <p:nvSpPr>
          <p:cNvPr id="6" name="Shape 4"/>
          <p:cNvSpPr/>
          <p:nvPr/>
        </p:nvSpPr>
        <p:spPr>
          <a:xfrm>
            <a:off x="4826000" y="1742380"/>
            <a:ext cx="2540000" cy="444500"/>
          </a:xfrm>
          <a:prstGeom prst="roundRect">
            <a:avLst>
              <a:gd name="adj" fmla="val 20000"/>
            </a:avLst>
          </a:prstGeom>
          <a:solidFill>
            <a:srgbClr val="ECE7E2"/>
          </a:solidFill>
          <a:ln/>
        </p:spPr>
      </p:sp>
      <p:sp>
        <p:nvSpPr>
          <p:cNvPr id="7" name="Text 5"/>
          <p:cNvSpPr/>
          <p:nvPr/>
        </p:nvSpPr>
        <p:spPr>
          <a:xfrm>
            <a:off x="5863431" y="1862435"/>
            <a:ext cx="465038" cy="229791"/>
          </a:xfrm>
          <a:prstGeom prst="rect">
            <a:avLst/>
          </a:prstGeom>
          <a:noFill/>
          <a:ln/>
        </p:spPr>
        <p:txBody>
          <a:bodyPr wrap="square" lIns="0" tIns="0" rIns="0" bIns="0" rtlCol="0" anchor="t">
            <a:normAutofit/>
          </a:bodyPr>
          <a:lstStyle/>
          <a:p>
            <a:pPr algn="ctr" indent="0" marL="0">
              <a:lnSpc>
                <a:spcPts val="1610"/>
              </a:lnSpc>
              <a:buNone/>
            </a:pPr>
            <a:r>
              <a:rPr lang="en-US" sz="1150" b="1" dirty="0">
                <a:solidFill>
                  <a:srgbClr val="232323"/>
                </a:solidFill>
                <a:latin typeface="Nunito Sans" pitchFamily="34" charset="0"/>
                <a:ea typeface="Nunito Sans" pitchFamily="34" charset="-122"/>
                <a:cs typeface="Nunito Sans" pitchFamily="34" charset="-120"/>
              </a:rPr>
              <a:t>BOOT</a:t>
            </a:r>
            <a:endParaRPr lang="en-US" sz="1150" dirty="0"/>
          </a:p>
        </p:txBody>
      </p:sp>
      <p:sp>
        <p:nvSpPr>
          <p:cNvPr id="8" name="Shape 6"/>
          <p:cNvSpPr/>
          <p:nvPr/>
        </p:nvSpPr>
        <p:spPr>
          <a:xfrm>
            <a:off x="4826000" y="2440880"/>
            <a:ext cx="2540000" cy="444500"/>
          </a:xfrm>
          <a:prstGeom prst="roundRect">
            <a:avLst>
              <a:gd name="adj" fmla="val 20000"/>
            </a:avLst>
          </a:prstGeom>
          <a:solidFill>
            <a:srgbClr val="ECE7E2"/>
          </a:solidFill>
          <a:ln/>
        </p:spPr>
      </p:sp>
      <p:sp>
        <p:nvSpPr>
          <p:cNvPr id="9" name="Text 7"/>
          <p:cNvSpPr/>
          <p:nvPr/>
        </p:nvSpPr>
        <p:spPr>
          <a:xfrm>
            <a:off x="5719663" y="2560935"/>
            <a:ext cx="752574" cy="229791"/>
          </a:xfrm>
          <a:prstGeom prst="rect">
            <a:avLst/>
          </a:prstGeom>
          <a:noFill/>
          <a:ln/>
        </p:spPr>
        <p:txBody>
          <a:bodyPr wrap="square" lIns="0" tIns="0" rIns="0" bIns="0" rtlCol="0" anchor="t">
            <a:normAutofit/>
          </a:bodyPr>
          <a:lstStyle/>
          <a:p>
            <a:pPr algn="ctr" indent="0" marL="0">
              <a:lnSpc>
                <a:spcPts val="1610"/>
              </a:lnSpc>
              <a:buNone/>
            </a:pPr>
            <a:r>
              <a:rPr lang="en-US" sz="1150" b="1" dirty="0">
                <a:solidFill>
                  <a:srgbClr val="232323"/>
                </a:solidFill>
                <a:latin typeface="Nunito Sans" pitchFamily="34" charset="0"/>
                <a:ea typeface="Nunito Sans" pitchFamily="34" charset="-122"/>
                <a:cs typeface="Nunito Sans" pitchFamily="34" charset="-120"/>
              </a:rPr>
              <a:t>SELFTEST</a:t>
            </a:r>
            <a:endParaRPr lang="en-US" sz="1150" dirty="0"/>
          </a:p>
        </p:txBody>
      </p:sp>
      <p:sp>
        <p:nvSpPr>
          <p:cNvPr id="10" name="Shape 8"/>
          <p:cNvSpPr/>
          <p:nvPr/>
        </p:nvSpPr>
        <p:spPr>
          <a:xfrm>
            <a:off x="812800" y="3139380"/>
            <a:ext cx="2667000" cy="508000"/>
          </a:xfrm>
          <a:prstGeom prst="roundRect">
            <a:avLst>
              <a:gd name="adj" fmla="val 17500"/>
            </a:avLst>
          </a:prstGeom>
          <a:solidFill>
            <a:srgbClr val="C5D6E9"/>
          </a:solidFill>
          <a:ln/>
        </p:spPr>
      </p:sp>
      <p:sp>
        <p:nvSpPr>
          <p:cNvPr id="11" name="Text 9"/>
          <p:cNvSpPr/>
          <p:nvPr/>
        </p:nvSpPr>
        <p:spPr>
          <a:xfrm>
            <a:off x="1765697" y="3300016"/>
            <a:ext cx="761107" cy="212030"/>
          </a:xfrm>
          <a:prstGeom prst="rect">
            <a:avLst/>
          </a:prstGeom>
          <a:noFill/>
          <a:ln/>
        </p:spPr>
        <p:txBody>
          <a:bodyPr wrap="square" lIns="0" tIns="0" rIns="0" bIns="0" rtlCol="0" anchor="t">
            <a:normAutofit/>
          </a:bodyPr>
          <a:lstStyle/>
          <a:p>
            <a:pPr algn="ctr" indent="0" marL="0">
              <a:lnSpc>
                <a:spcPts val="1470"/>
              </a:lnSpc>
              <a:buNone/>
            </a:pPr>
            <a:r>
              <a:rPr lang="en-US" sz="1050" b="1" dirty="0">
                <a:solidFill>
                  <a:srgbClr val="232323"/>
                </a:solidFill>
                <a:latin typeface="Nunito Sans" pitchFamily="34" charset="0"/>
                <a:ea typeface="Nunito Sans" pitchFamily="34" charset="-122"/>
                <a:cs typeface="Nunito Sans" pitchFamily="34" charset="-120"/>
              </a:rPr>
              <a:t>DISARMED</a:t>
            </a:r>
            <a:endParaRPr lang="en-US" sz="1050" dirty="0"/>
          </a:p>
        </p:txBody>
      </p:sp>
      <p:sp>
        <p:nvSpPr>
          <p:cNvPr id="12" name="Shape 10"/>
          <p:cNvSpPr/>
          <p:nvPr/>
        </p:nvSpPr>
        <p:spPr>
          <a:xfrm>
            <a:off x="4762500" y="3139380"/>
            <a:ext cx="2667000" cy="508000"/>
          </a:xfrm>
          <a:prstGeom prst="roundRect">
            <a:avLst>
              <a:gd name="adj" fmla="val 17500"/>
            </a:avLst>
          </a:prstGeom>
          <a:solidFill>
            <a:srgbClr val="B6D6FC"/>
          </a:solidFill>
          <a:ln/>
        </p:spPr>
      </p:sp>
      <p:sp>
        <p:nvSpPr>
          <p:cNvPr id="13" name="Text 11"/>
          <p:cNvSpPr/>
          <p:nvPr/>
        </p:nvSpPr>
        <p:spPr>
          <a:xfrm>
            <a:off x="5673725" y="3300016"/>
            <a:ext cx="844550" cy="212030"/>
          </a:xfrm>
          <a:prstGeom prst="rect">
            <a:avLst/>
          </a:prstGeom>
          <a:noFill/>
          <a:ln/>
        </p:spPr>
        <p:txBody>
          <a:bodyPr wrap="square" lIns="0" tIns="0" rIns="0" bIns="0" rtlCol="0" anchor="t">
            <a:normAutofit/>
          </a:bodyPr>
          <a:lstStyle/>
          <a:p>
            <a:pPr algn="ctr" indent="0" marL="0">
              <a:lnSpc>
                <a:spcPts val="1470"/>
              </a:lnSpc>
              <a:buNone/>
            </a:pPr>
            <a:r>
              <a:rPr lang="en-US" sz="1050" b="1" dirty="0">
                <a:solidFill>
                  <a:srgbClr val="232323"/>
                </a:solidFill>
                <a:latin typeface="Nunito Sans" pitchFamily="34" charset="0"/>
                <a:ea typeface="Nunito Sans" pitchFamily="34" charset="-122"/>
                <a:cs typeface="Nunito Sans" pitchFamily="34" charset="-120"/>
              </a:rPr>
              <a:t>ZONE_TOUR</a:t>
            </a:r>
            <a:endParaRPr lang="en-US" sz="1050" dirty="0"/>
          </a:p>
        </p:txBody>
      </p:sp>
      <p:sp>
        <p:nvSpPr>
          <p:cNvPr id="14" name="Shape 12"/>
          <p:cNvSpPr/>
          <p:nvPr/>
        </p:nvSpPr>
        <p:spPr>
          <a:xfrm>
            <a:off x="8712200" y="3139380"/>
            <a:ext cx="2667000" cy="508000"/>
          </a:xfrm>
          <a:prstGeom prst="roundRect">
            <a:avLst>
              <a:gd name="adj" fmla="val 17500"/>
            </a:avLst>
          </a:prstGeom>
          <a:solidFill>
            <a:srgbClr val="F7B6B5"/>
          </a:solidFill>
          <a:ln/>
        </p:spPr>
      </p:sp>
      <p:sp>
        <p:nvSpPr>
          <p:cNvPr id="15" name="Text 13"/>
          <p:cNvSpPr/>
          <p:nvPr/>
        </p:nvSpPr>
        <p:spPr>
          <a:xfrm>
            <a:off x="9817795" y="3222625"/>
            <a:ext cx="455811" cy="212030"/>
          </a:xfrm>
          <a:prstGeom prst="rect">
            <a:avLst/>
          </a:prstGeom>
          <a:noFill/>
          <a:ln/>
        </p:spPr>
        <p:txBody>
          <a:bodyPr wrap="square" lIns="0" tIns="0" rIns="0" bIns="0" rtlCol="0" anchor="t">
            <a:normAutofit/>
          </a:bodyPr>
          <a:lstStyle/>
          <a:p>
            <a:pPr algn="ctr" indent="0" marL="0">
              <a:lnSpc>
                <a:spcPts val="1470"/>
              </a:lnSpc>
              <a:buNone/>
            </a:pPr>
            <a:r>
              <a:rPr lang="en-US" sz="1050" b="1" dirty="0">
                <a:solidFill>
                  <a:srgbClr val="232323"/>
                </a:solidFill>
                <a:latin typeface="Nunito Sans" pitchFamily="34" charset="0"/>
                <a:ea typeface="Nunito Sans" pitchFamily="34" charset="-122"/>
                <a:cs typeface="Nunito Sans" pitchFamily="34" charset="-120"/>
              </a:rPr>
              <a:t>FAULT</a:t>
            </a:r>
            <a:endParaRPr lang="en-US" sz="1050" dirty="0"/>
          </a:p>
        </p:txBody>
      </p:sp>
      <p:sp>
        <p:nvSpPr>
          <p:cNvPr id="16" name="Text 14"/>
          <p:cNvSpPr/>
          <p:nvPr/>
        </p:nvSpPr>
        <p:spPr>
          <a:xfrm>
            <a:off x="9397107" y="3421955"/>
            <a:ext cx="1297087" cy="167580"/>
          </a:xfrm>
          <a:prstGeom prst="rect">
            <a:avLst/>
          </a:prstGeom>
          <a:noFill/>
          <a:ln/>
        </p:spPr>
        <p:txBody>
          <a:bodyPr wrap="square" lIns="0" tIns="0" rIns="0" bIns="0" rtlCol="0" anchor="t">
            <a:normAutofit/>
          </a:bodyPr>
          <a:lstStyle/>
          <a:p>
            <a:pPr algn="ctr" indent="0" marL="0">
              <a:lnSpc>
                <a:spcPts val="1120"/>
              </a:lnSpc>
              <a:buNone/>
            </a:pPr>
            <a:r>
              <a:rPr lang="en-US" sz="800" dirty="0">
                <a:solidFill>
                  <a:srgbClr val="414C58"/>
                </a:solidFill>
                <a:latin typeface="Nunito Sans" pitchFamily="34" charset="0"/>
                <a:ea typeface="Nunito Sans" pitchFamily="34" charset="-122"/>
                <a:cs typeface="Nunito Sans" pitchFamily="34" charset="-120"/>
              </a:rPr>
              <a:t>operator ack → DISARMED</a:t>
            </a:r>
            <a:endParaRPr lang="en-US" sz="800" dirty="0"/>
          </a:p>
        </p:txBody>
      </p:sp>
      <p:sp>
        <p:nvSpPr>
          <p:cNvPr id="17" name="Shape 15"/>
          <p:cNvSpPr/>
          <p:nvPr/>
        </p:nvSpPr>
        <p:spPr>
          <a:xfrm>
            <a:off x="812800" y="3964880"/>
            <a:ext cx="2667000" cy="508000"/>
          </a:xfrm>
          <a:prstGeom prst="roundRect">
            <a:avLst>
              <a:gd name="adj" fmla="val 17500"/>
            </a:avLst>
          </a:prstGeom>
          <a:solidFill>
            <a:srgbClr val="B6FCB8"/>
          </a:solidFill>
          <a:ln/>
        </p:spPr>
      </p:sp>
      <p:sp>
        <p:nvSpPr>
          <p:cNvPr id="18" name="Text 16"/>
          <p:cNvSpPr/>
          <p:nvPr/>
        </p:nvSpPr>
        <p:spPr>
          <a:xfrm>
            <a:off x="1877020" y="4048125"/>
            <a:ext cx="538559" cy="212030"/>
          </a:xfrm>
          <a:prstGeom prst="rect">
            <a:avLst/>
          </a:prstGeom>
          <a:noFill/>
          <a:ln/>
        </p:spPr>
        <p:txBody>
          <a:bodyPr wrap="square" lIns="0" tIns="0" rIns="0" bIns="0" rtlCol="0" anchor="t">
            <a:normAutofit/>
          </a:bodyPr>
          <a:lstStyle/>
          <a:p>
            <a:pPr algn="ctr" indent="0" marL="0">
              <a:lnSpc>
                <a:spcPts val="1470"/>
              </a:lnSpc>
              <a:buNone/>
            </a:pPr>
            <a:r>
              <a:rPr lang="en-US" sz="1050" b="1" dirty="0">
                <a:solidFill>
                  <a:srgbClr val="232323"/>
                </a:solidFill>
                <a:latin typeface="Nunito Sans" pitchFamily="34" charset="0"/>
                <a:ea typeface="Nunito Sans" pitchFamily="34" charset="-122"/>
                <a:cs typeface="Nunito Sans" pitchFamily="34" charset="-120"/>
              </a:rPr>
              <a:t>ARMED</a:t>
            </a:r>
            <a:endParaRPr lang="en-US" sz="1050" dirty="0"/>
          </a:p>
        </p:txBody>
      </p:sp>
      <p:sp>
        <p:nvSpPr>
          <p:cNvPr id="19" name="Text 17"/>
          <p:cNvSpPr/>
          <p:nvPr/>
        </p:nvSpPr>
        <p:spPr>
          <a:xfrm>
            <a:off x="1742777" y="4247455"/>
            <a:ext cx="807045" cy="167580"/>
          </a:xfrm>
          <a:prstGeom prst="rect">
            <a:avLst/>
          </a:prstGeom>
          <a:noFill/>
          <a:ln/>
        </p:spPr>
        <p:txBody>
          <a:bodyPr wrap="square" lIns="0" tIns="0" rIns="0" bIns="0" rtlCol="0" anchor="t">
            <a:normAutofit/>
          </a:bodyPr>
          <a:lstStyle/>
          <a:p>
            <a:pPr algn="ctr" indent="0" marL="0">
              <a:lnSpc>
                <a:spcPts val="1120"/>
              </a:lnSpc>
              <a:buNone/>
            </a:pPr>
            <a:r>
              <a:rPr lang="en-US" sz="800" dirty="0">
                <a:solidFill>
                  <a:srgbClr val="414C58"/>
                </a:solidFill>
                <a:latin typeface="Nunito Sans" pitchFamily="34" charset="0"/>
                <a:ea typeface="Nunito Sans" pitchFamily="34" charset="-122"/>
                <a:cs typeface="Nunito Sans" pitchFamily="34" charset="-120"/>
              </a:rPr>
              <a:t>E-stop → FAULT</a:t>
            </a:r>
            <a:endParaRPr lang="en-US" sz="800" dirty="0"/>
          </a:p>
        </p:txBody>
      </p:sp>
      <p:sp>
        <p:nvSpPr>
          <p:cNvPr id="20" name="Shape 18"/>
          <p:cNvSpPr/>
          <p:nvPr/>
        </p:nvSpPr>
        <p:spPr>
          <a:xfrm>
            <a:off x="4762500" y="3964880"/>
            <a:ext cx="2667000" cy="508000"/>
          </a:xfrm>
          <a:prstGeom prst="roundRect">
            <a:avLst>
              <a:gd name="adj" fmla="val 17500"/>
            </a:avLst>
          </a:prstGeom>
          <a:solidFill>
            <a:srgbClr val="ECE7E2"/>
          </a:solidFill>
          <a:ln/>
        </p:spPr>
      </p:sp>
      <p:sp>
        <p:nvSpPr>
          <p:cNvPr id="21" name="Text 19"/>
          <p:cNvSpPr/>
          <p:nvPr/>
        </p:nvSpPr>
        <p:spPr>
          <a:xfrm>
            <a:off x="5716091" y="4125516"/>
            <a:ext cx="759718" cy="212030"/>
          </a:xfrm>
          <a:prstGeom prst="rect">
            <a:avLst/>
          </a:prstGeom>
          <a:noFill/>
          <a:ln/>
        </p:spPr>
        <p:txBody>
          <a:bodyPr wrap="square" lIns="0" tIns="0" rIns="0" bIns="0" rtlCol="0" anchor="t">
            <a:normAutofit/>
          </a:bodyPr>
          <a:lstStyle/>
          <a:p>
            <a:pPr algn="ctr" indent="0" marL="0">
              <a:lnSpc>
                <a:spcPts val="1470"/>
              </a:lnSpc>
              <a:buNone/>
            </a:pPr>
            <a:r>
              <a:rPr lang="en-US" sz="1050" b="1" dirty="0">
                <a:solidFill>
                  <a:srgbClr val="232323"/>
                </a:solidFill>
                <a:latin typeface="Nunito Sans" pitchFamily="34" charset="0"/>
                <a:ea typeface="Nunito Sans" pitchFamily="34" charset="-122"/>
                <a:cs typeface="Nunito Sans" pitchFamily="34" charset="-120"/>
              </a:rPr>
              <a:t>LINK_LOST</a:t>
            </a:r>
            <a:endParaRPr lang="en-US" sz="1050" dirty="0"/>
          </a:p>
        </p:txBody>
      </p:sp>
      <p:pic>
        <p:nvPicPr>
          <p:cNvPr id="22" name="Image 0" descr="connector">    </p:cNvPr>
          <p:cNvPicPr>
            <a:picLocks noChangeAspect="1"/>
          </p:cNvPicPr>
          <p:nvPr/>
        </p:nvPicPr>
        <p:blipFill>
          <a:blip r:embed="rId1"/>
          <a:srcRect l="0" r="0" t="0" b="0"/>
          <a:stretch/>
        </p:blipFill>
        <p:spPr>
          <a:xfrm>
            <a:off x="6045200" y="2136080"/>
            <a:ext cx="101600" cy="355600"/>
          </a:xfrm>
          <a:prstGeom prst="rect">
            <a:avLst/>
          </a:prstGeom>
        </p:spPr>
      </p:pic>
      <p:pic>
        <p:nvPicPr>
          <p:cNvPr id="23" name="Image 1" descr="connector">    </p:cNvPr>
          <p:cNvPicPr>
            <a:picLocks noChangeAspect="1"/>
          </p:cNvPicPr>
          <p:nvPr/>
        </p:nvPicPr>
        <p:blipFill>
          <a:blip r:embed="rId2"/>
          <a:srcRect l="0" r="0" t="0" b="0"/>
          <a:stretch/>
        </p:blipFill>
        <p:spPr>
          <a:xfrm>
            <a:off x="2095500" y="2834580"/>
            <a:ext cx="4051300" cy="355600"/>
          </a:xfrm>
          <a:prstGeom prst="rect">
            <a:avLst/>
          </a:prstGeom>
        </p:spPr>
      </p:pic>
      <p:pic>
        <p:nvPicPr>
          <p:cNvPr id="24" name="Image 2" descr="connector">    </p:cNvPr>
          <p:cNvPicPr>
            <a:picLocks noChangeAspect="1"/>
          </p:cNvPicPr>
          <p:nvPr/>
        </p:nvPicPr>
        <p:blipFill>
          <a:blip r:embed="rId3"/>
          <a:srcRect l="0" r="0" t="0" b="0"/>
          <a:stretch/>
        </p:blipFill>
        <p:spPr>
          <a:xfrm>
            <a:off x="6045200" y="2834580"/>
            <a:ext cx="101600" cy="355600"/>
          </a:xfrm>
          <a:prstGeom prst="rect">
            <a:avLst/>
          </a:prstGeom>
        </p:spPr>
      </p:pic>
      <p:pic>
        <p:nvPicPr>
          <p:cNvPr id="25" name="Image 3" descr="connector">    </p:cNvPr>
          <p:cNvPicPr>
            <a:picLocks noChangeAspect="1"/>
          </p:cNvPicPr>
          <p:nvPr/>
        </p:nvPicPr>
        <p:blipFill>
          <a:blip r:embed="rId4"/>
          <a:srcRect l="0" r="0" t="0" b="0"/>
          <a:stretch/>
        </p:blipFill>
        <p:spPr>
          <a:xfrm>
            <a:off x="6045200" y="2834580"/>
            <a:ext cx="4051300" cy="355600"/>
          </a:xfrm>
          <a:prstGeom prst="rect">
            <a:avLst/>
          </a:prstGeom>
        </p:spPr>
      </p:pic>
      <p:pic>
        <p:nvPicPr>
          <p:cNvPr id="26" name="Image 4" descr="connector">    </p:cNvPr>
          <p:cNvPicPr>
            <a:picLocks noChangeAspect="1"/>
          </p:cNvPicPr>
          <p:nvPr/>
        </p:nvPicPr>
        <p:blipFill>
          <a:blip r:embed="rId5"/>
          <a:srcRect l="0" r="0" t="0" b="0"/>
          <a:stretch/>
        </p:blipFill>
        <p:spPr>
          <a:xfrm>
            <a:off x="3429000" y="3342580"/>
            <a:ext cx="1384300" cy="101600"/>
          </a:xfrm>
          <a:prstGeom prst="rect">
            <a:avLst/>
          </a:prstGeom>
        </p:spPr>
      </p:pic>
      <p:pic>
        <p:nvPicPr>
          <p:cNvPr id="27" name="Image 5" descr="connector">    </p:cNvPr>
          <p:cNvPicPr>
            <a:picLocks noChangeAspect="1"/>
          </p:cNvPicPr>
          <p:nvPr/>
        </p:nvPicPr>
        <p:blipFill>
          <a:blip r:embed="rId6"/>
          <a:srcRect l="0" r="0" t="0" b="0"/>
          <a:stretch/>
        </p:blipFill>
        <p:spPr>
          <a:xfrm>
            <a:off x="2286000" y="3596580"/>
            <a:ext cx="101600" cy="419100"/>
          </a:xfrm>
          <a:prstGeom prst="rect">
            <a:avLst/>
          </a:prstGeom>
        </p:spPr>
      </p:pic>
      <p:pic>
        <p:nvPicPr>
          <p:cNvPr id="28" name="Image 6" descr="connector">    </p:cNvPr>
          <p:cNvPicPr>
            <a:picLocks noChangeAspect="1"/>
          </p:cNvPicPr>
          <p:nvPr/>
        </p:nvPicPr>
        <p:blipFill>
          <a:blip r:embed="rId7"/>
          <a:srcRect l="0" r="0" t="0" b="0"/>
          <a:stretch/>
        </p:blipFill>
        <p:spPr>
          <a:xfrm>
            <a:off x="3429000" y="4072830"/>
            <a:ext cx="1384300" cy="101600"/>
          </a:xfrm>
          <a:prstGeom prst="rect">
            <a:avLst/>
          </a:prstGeom>
        </p:spPr>
      </p:pic>
      <p:pic>
        <p:nvPicPr>
          <p:cNvPr id="29" name="Image 7" descr="connector">    </p:cNvPr>
          <p:cNvPicPr>
            <a:picLocks noChangeAspect="1"/>
          </p:cNvPicPr>
          <p:nvPr/>
        </p:nvPicPr>
        <p:blipFill>
          <a:blip r:embed="rId8"/>
          <a:srcRect l="0" r="0" t="0" b="0"/>
          <a:stretch/>
        </p:blipFill>
        <p:spPr>
          <a:xfrm>
            <a:off x="3429000" y="4263330"/>
            <a:ext cx="1384300" cy="101600"/>
          </a:xfrm>
          <a:prstGeom prst="rect">
            <a:avLst/>
          </a:prstGeom>
        </p:spPr>
      </p:pic>
      <p:sp>
        <p:nvSpPr>
          <p:cNvPr id="30" name="Text 20"/>
          <p:cNvSpPr/>
          <p:nvPr/>
        </p:nvSpPr>
        <p:spPr>
          <a:xfrm>
            <a:off x="4089400" y="2923480"/>
            <a:ext cx="812800" cy="185341"/>
          </a:xfrm>
          <a:prstGeom prst="rect">
            <a:avLst/>
          </a:prstGeom>
          <a:noFill/>
          <a:ln/>
        </p:spPr>
        <p:txBody>
          <a:bodyPr wrap="square" lIns="0" tIns="0" rIns="0" bIns="0" rtlCol="0" anchor="t">
            <a:normAutofit/>
          </a:bodyPr>
          <a:lstStyle/>
          <a:p>
            <a:pPr algn="ctr" indent="0" marL="0">
              <a:lnSpc>
                <a:spcPts val="1260"/>
              </a:lnSpc>
              <a:buNone/>
            </a:pPr>
            <a:r>
              <a:rPr lang="en-US" sz="900" dirty="0">
                <a:solidFill>
                  <a:srgbClr val="414C58"/>
                </a:solidFill>
                <a:latin typeface="Nunito Sans" pitchFamily="34" charset="0"/>
                <a:ea typeface="Nunito Sans" pitchFamily="34" charset="-122"/>
                <a:cs typeface="Nunito Sans" pitchFamily="34" charset="-120"/>
              </a:rPr>
              <a:t>ok</a:t>
            </a:r>
            <a:endParaRPr lang="en-US" sz="900" dirty="0"/>
          </a:p>
        </p:txBody>
      </p:sp>
      <p:sp>
        <p:nvSpPr>
          <p:cNvPr id="31" name="Text 21"/>
          <p:cNvSpPr/>
          <p:nvPr/>
        </p:nvSpPr>
        <p:spPr>
          <a:xfrm>
            <a:off x="6134100" y="2923480"/>
            <a:ext cx="1447800" cy="185341"/>
          </a:xfrm>
          <a:prstGeom prst="rect">
            <a:avLst/>
          </a:prstGeom>
          <a:noFill/>
          <a:ln/>
        </p:spPr>
        <p:txBody>
          <a:bodyPr wrap="square" lIns="0" tIns="0" rIns="0" bIns="0" rtlCol="0" anchor="t">
            <a:normAutofit/>
          </a:bodyPr>
          <a:lstStyle/>
          <a:p>
            <a:pPr algn="ctr" indent="0" marL="0">
              <a:lnSpc>
                <a:spcPts val="1260"/>
              </a:lnSpc>
              <a:buNone/>
            </a:pPr>
            <a:r>
              <a:rPr lang="en-US" sz="900" dirty="0">
                <a:solidFill>
                  <a:srgbClr val="414C58"/>
                </a:solidFill>
                <a:latin typeface="Nunito Sans" pitchFamily="34" charset="0"/>
                <a:ea typeface="Nunito Sans" pitchFamily="34" charset="-122"/>
                <a:cs typeface="Nunito Sans" pitchFamily="34" charset="-120"/>
              </a:rPr>
              <a:t>ok, boot.tour on</a:t>
            </a:r>
            <a:endParaRPr lang="en-US" sz="900" dirty="0"/>
          </a:p>
        </p:txBody>
      </p:sp>
      <p:sp>
        <p:nvSpPr>
          <p:cNvPr id="32" name="Text 22"/>
          <p:cNvSpPr/>
          <p:nvPr/>
        </p:nvSpPr>
        <p:spPr>
          <a:xfrm>
            <a:off x="8280400" y="2923480"/>
            <a:ext cx="812800" cy="185341"/>
          </a:xfrm>
          <a:prstGeom prst="rect">
            <a:avLst/>
          </a:prstGeom>
          <a:noFill/>
          <a:ln/>
        </p:spPr>
        <p:txBody>
          <a:bodyPr wrap="square" lIns="0" tIns="0" rIns="0" bIns="0" rtlCol="0" anchor="t">
            <a:normAutofit/>
          </a:bodyPr>
          <a:lstStyle/>
          <a:p>
            <a:pPr algn="ctr" indent="0" marL="0">
              <a:lnSpc>
                <a:spcPts val="1260"/>
              </a:lnSpc>
              <a:buNone/>
            </a:pPr>
            <a:r>
              <a:rPr lang="en-US" sz="900" dirty="0">
                <a:solidFill>
                  <a:srgbClr val="414C58"/>
                </a:solidFill>
                <a:latin typeface="Nunito Sans" pitchFamily="34" charset="0"/>
                <a:ea typeface="Nunito Sans" pitchFamily="34" charset="-122"/>
                <a:cs typeface="Nunito Sans" pitchFamily="34" charset="-120"/>
              </a:rPr>
              <a:t>fail</a:t>
            </a:r>
            <a:endParaRPr lang="en-US" sz="900" dirty="0"/>
          </a:p>
        </p:txBody>
      </p:sp>
      <p:sp>
        <p:nvSpPr>
          <p:cNvPr id="33" name="Text 23"/>
          <p:cNvSpPr/>
          <p:nvPr/>
        </p:nvSpPr>
        <p:spPr>
          <a:xfrm>
            <a:off x="2374900" y="3723580"/>
            <a:ext cx="812800" cy="185341"/>
          </a:xfrm>
          <a:prstGeom prst="rect">
            <a:avLst/>
          </a:prstGeom>
          <a:noFill/>
          <a:ln/>
        </p:spPr>
        <p:txBody>
          <a:bodyPr wrap="square" lIns="0" tIns="0" rIns="0" bIns="0" rtlCol="0" anchor="t">
            <a:normAutofit/>
          </a:bodyPr>
          <a:lstStyle/>
          <a:p>
            <a:pPr algn="ctr" indent="0" marL="0">
              <a:lnSpc>
                <a:spcPts val="1260"/>
              </a:lnSpc>
              <a:buNone/>
            </a:pPr>
            <a:r>
              <a:rPr lang="en-US" sz="900" dirty="0">
                <a:solidFill>
                  <a:srgbClr val="414C58"/>
                </a:solidFill>
                <a:latin typeface="Nunito Sans" pitchFamily="34" charset="0"/>
                <a:ea typeface="Nunito Sans" pitchFamily="34" charset="-122"/>
                <a:cs typeface="Nunito Sans" pitchFamily="34" charset="-120"/>
              </a:rPr>
              <a:t>button</a:t>
            </a:r>
            <a:endParaRPr lang="en-US" sz="900" dirty="0"/>
          </a:p>
        </p:txBody>
      </p:sp>
      <p:sp>
        <p:nvSpPr>
          <p:cNvPr id="34" name="Text 24"/>
          <p:cNvSpPr/>
          <p:nvPr/>
        </p:nvSpPr>
        <p:spPr>
          <a:xfrm>
            <a:off x="3644900" y="3964880"/>
            <a:ext cx="1066800" cy="176510"/>
          </a:xfrm>
          <a:prstGeom prst="rect">
            <a:avLst/>
          </a:prstGeom>
          <a:noFill/>
          <a:ln/>
        </p:spPr>
        <p:txBody>
          <a:bodyPr wrap="square" lIns="0" tIns="0" rIns="0" bIns="0" rtlCol="0" anchor="t">
            <a:normAutofit/>
          </a:bodyPr>
          <a:lstStyle/>
          <a:p>
            <a:pPr algn="ctr" indent="0" marL="0">
              <a:lnSpc>
                <a:spcPts val="1190"/>
              </a:lnSpc>
              <a:buNone/>
            </a:pPr>
            <a:r>
              <a:rPr lang="en-US" sz="850" dirty="0">
                <a:solidFill>
                  <a:srgbClr val="414C58"/>
                </a:solidFill>
                <a:latin typeface="Nunito Sans" pitchFamily="34" charset="0"/>
                <a:ea typeface="Nunito Sans" pitchFamily="34" charset="-122"/>
                <a:cs typeface="Nunito Sans" pitchFamily="34" charset="-120"/>
              </a:rPr>
              <a:t>no data 300 ms</a:t>
            </a:r>
            <a:endParaRPr lang="en-US" sz="850" dirty="0"/>
          </a:p>
        </p:txBody>
      </p:sp>
      <p:sp>
        <p:nvSpPr>
          <p:cNvPr id="35" name="Text 25"/>
          <p:cNvSpPr/>
          <p:nvPr/>
        </p:nvSpPr>
        <p:spPr>
          <a:xfrm>
            <a:off x="3644900" y="4320480"/>
            <a:ext cx="1066800" cy="176510"/>
          </a:xfrm>
          <a:prstGeom prst="rect">
            <a:avLst/>
          </a:prstGeom>
          <a:noFill/>
          <a:ln/>
        </p:spPr>
        <p:txBody>
          <a:bodyPr wrap="square" lIns="0" tIns="0" rIns="0" bIns="0" rtlCol="0" anchor="t">
            <a:normAutofit/>
          </a:bodyPr>
          <a:lstStyle/>
          <a:p>
            <a:pPr algn="ctr" indent="0" marL="0">
              <a:lnSpc>
                <a:spcPts val="1190"/>
              </a:lnSpc>
              <a:buNone/>
            </a:pPr>
            <a:r>
              <a:rPr lang="en-US" sz="850" dirty="0">
                <a:solidFill>
                  <a:srgbClr val="414C58"/>
                </a:solidFill>
                <a:latin typeface="Nunito Sans" pitchFamily="34" charset="0"/>
                <a:ea typeface="Nunito Sans" pitchFamily="34" charset="-122"/>
                <a:cs typeface="Nunito Sans" pitchFamily="34" charset="-120"/>
              </a:rPr>
              <a:t>data back</a:t>
            </a:r>
            <a:endParaRPr lang="en-US" sz="850" dirty="0"/>
          </a:p>
        </p:txBody>
      </p:sp>
      <p:sp>
        <p:nvSpPr>
          <p:cNvPr id="36" name="Text 26"/>
          <p:cNvSpPr/>
          <p:nvPr/>
        </p:nvSpPr>
        <p:spPr>
          <a:xfrm>
            <a:off x="812800" y="479038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232323"/>
                </a:solidFill>
                <a:latin typeface="Nunito Sans" pitchFamily="34" charset="0"/>
                <a:ea typeface="Nunito Sans" pitchFamily="34" charset="-122"/>
                <a:cs typeface="Nunito Sans" pitchFamily="34" charset="-120"/>
              </a:rPr>
              <a:t>Laser is allowed only in </a:t>
            </a:r>
            <a:r>
              <a:rPr lang="en-US" sz="1250" b="1" dirty="0">
                <a:solidFill>
                  <a:srgbClr val="232323"/>
                </a:solidFill>
                <a:latin typeface="Nunito Sans" pitchFamily="34" charset="0"/>
                <a:ea typeface="Nunito Sans" pitchFamily="34" charset="-122"/>
                <a:cs typeface="Nunito Sans" pitchFamily="34" charset="-120"/>
              </a:rPr>
              <a:t>ZONE_TOUR</a:t>
            </a:r>
            <a:r>
              <a:rPr lang="en-US" sz="1250" dirty="0">
                <a:solidFill>
                  <a:srgbClr val="232323"/>
                </a:solidFill>
                <a:latin typeface="Nunito Sans" pitchFamily="34" charset="0"/>
                <a:ea typeface="Nunito Sans" pitchFamily="34" charset="-122"/>
                <a:cs typeface="Nunito Sans" pitchFamily="34" charset="-120"/>
              </a:rPr>
              <a:t> and </a:t>
            </a:r>
            <a:r>
              <a:rPr lang="en-US" sz="1250" b="1" dirty="0">
                <a:solidFill>
                  <a:srgbClr val="232323"/>
                </a:solidFill>
                <a:latin typeface="Nunito Sans" pitchFamily="34" charset="0"/>
                <a:ea typeface="Nunito Sans" pitchFamily="34" charset="-122"/>
                <a:cs typeface="Nunito Sans" pitchFamily="34" charset="-120"/>
              </a:rPr>
              <a:t>ARMED</a:t>
            </a:r>
            <a:r>
              <a:rPr lang="en-US" sz="1250" dirty="0">
                <a:solidFill>
                  <a:srgbClr val="232323"/>
                </a:solidFill>
                <a:latin typeface="Nunito Sans" pitchFamily="34" charset="0"/>
                <a:ea typeface="Nunito Sans" pitchFamily="34" charset="-122"/>
                <a:cs typeface="Nunito Sans" pitchFamily="34" charset="-120"/>
              </a:rPr>
              <a:t>.</a:t>
            </a:r>
            <a:endParaRPr lang="en-US" sz="1250" dirty="0"/>
          </a:p>
        </p:txBody>
      </p:sp>
      <p:sp>
        <p:nvSpPr>
          <p:cNvPr id="37" name="Text 27"/>
          <p:cNvSpPr/>
          <p:nvPr/>
        </p:nvSpPr>
        <p:spPr>
          <a:xfrm>
            <a:off x="812800" y="506343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b="1" dirty="0">
                <a:solidFill>
                  <a:srgbClr val="232323"/>
                </a:solidFill>
                <a:latin typeface="Nunito Sans" pitchFamily="34" charset="0"/>
                <a:ea typeface="Nunito Sans" pitchFamily="34" charset="-122"/>
                <a:cs typeface="Nunito Sans" pitchFamily="34" charset="-120"/>
              </a:rPr>
              <a:t>laserPermitted()</a:t>
            </a:r>
            <a:r>
              <a:rPr lang="en-US" sz="1250" dirty="0">
                <a:solidFill>
                  <a:srgbClr val="232323"/>
                </a:solidFill>
                <a:latin typeface="Nunito Sans" pitchFamily="34" charset="0"/>
                <a:ea typeface="Nunito Sans" pitchFamily="34" charset="-122"/>
                <a:cs typeface="Nunito Sans" pitchFamily="34" charset="-120"/>
              </a:rPr>
              <a:t> needs all: ARMED, link fresh, watchdog OK, no E-stop, beam requested.</a:t>
            </a:r>
            <a:endParaRPr lang="en-US" sz="1250" dirty="0"/>
          </a:p>
        </p:txBody>
      </p:sp>
      <p:sp>
        <p:nvSpPr>
          <p:cNvPr id="38" name="Text 28"/>
          <p:cNvSpPr/>
          <p:nvPr/>
        </p:nvSpPr>
        <p:spPr>
          <a:xfrm>
            <a:off x="812800" y="533648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232323"/>
                </a:solidFill>
                <a:latin typeface="Nunito Sans" pitchFamily="34" charset="0"/>
                <a:ea typeface="Nunito Sans" pitchFamily="34" charset="-122"/>
                <a:cs typeface="Nunito Sans" pitchFamily="34" charset="-120"/>
              </a:rPr>
              <a:t>No data for 300 ms → </a:t>
            </a:r>
            <a:r>
              <a:rPr lang="en-US" sz="1250" b="1" dirty="0">
                <a:solidFill>
                  <a:srgbClr val="232323"/>
                </a:solidFill>
                <a:latin typeface="Nunito Sans" pitchFamily="34" charset="0"/>
                <a:ea typeface="Nunito Sans" pitchFamily="34" charset="-122"/>
                <a:cs typeface="Nunito Sans" pitchFamily="34" charset="-120"/>
              </a:rPr>
              <a:t>LINK_LOST</a:t>
            </a:r>
            <a:r>
              <a:rPr lang="en-US" sz="1250" dirty="0">
                <a:solidFill>
                  <a:srgbClr val="232323"/>
                </a:solidFill>
                <a:latin typeface="Nunito Sans" pitchFamily="34" charset="0"/>
                <a:ea typeface="Nunito Sans" pitchFamily="34" charset="-122"/>
                <a:cs typeface="Nunito Sans" pitchFamily="34" charset="-120"/>
              </a:rPr>
              <a:t>, motors stop.</a:t>
            </a:r>
            <a:endParaRPr lang="en-US" sz="1250" dirty="0"/>
          </a:p>
        </p:txBody>
      </p:sp>
      <p:sp>
        <p:nvSpPr>
          <p:cNvPr id="39" name="Text 29"/>
          <p:cNvSpPr/>
          <p:nvPr/>
        </p:nvSpPr>
        <p:spPr>
          <a:xfrm>
            <a:off x="812800" y="5609530"/>
            <a:ext cx="10883392" cy="247650"/>
          </a:xfrm>
          <a:prstGeom prst="rect">
            <a:avLst/>
          </a:prstGeom>
          <a:noFill/>
          <a:ln/>
        </p:spPr>
        <p:txBody>
          <a:bodyPr wrap="square" lIns="0" tIns="0" rIns="0" bIns="0" rtlCol="0" anchor="t">
            <a:normAutofit/>
          </a:bodyPr>
          <a:lstStyle/>
          <a:p>
            <a:pPr algn="l" indent="0" marL="0">
              <a:lnSpc>
                <a:spcPts val="1750"/>
              </a:lnSpc>
              <a:buNone/>
            </a:pPr>
            <a:r>
              <a:rPr lang="en-US" sz="1250" dirty="0">
                <a:solidFill>
                  <a:srgbClr val="232323"/>
                </a:solidFill>
                <a:latin typeface="Nunito Sans" pitchFamily="34" charset="0"/>
                <a:ea typeface="Nunito Sans" pitchFamily="34" charset="-122"/>
                <a:cs typeface="Nunito Sans" pitchFamily="34" charset="-120"/>
              </a:rPr>
              <a:t>E-stop: ISR → task notification → </a:t>
            </a:r>
            <a:r>
              <a:rPr lang="en-US" sz="1250" b="1" dirty="0">
                <a:solidFill>
                  <a:srgbClr val="232323"/>
                </a:solidFill>
                <a:latin typeface="Nunito Sans" pitchFamily="34" charset="0"/>
                <a:ea typeface="Nunito Sans" pitchFamily="34" charset="-122"/>
                <a:cs typeface="Nunito Sans" pitchFamily="34" charset="-120"/>
              </a:rPr>
              <a:t>safety</a:t>
            </a:r>
            <a:r>
              <a:rPr lang="en-US" sz="1250" dirty="0">
                <a:solidFill>
                  <a:srgbClr val="232323"/>
                </a:solidFill>
                <a:latin typeface="Nunito Sans" pitchFamily="34" charset="0"/>
                <a:ea typeface="Nunito Sans" pitchFamily="34" charset="-122"/>
                <a:cs typeface="Nunito Sans" pitchFamily="34" charset="-120"/>
              </a:rPr>
              <a:t>. No work in the ISR.</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6F5"/>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08</a:t>
            </a:r>
            <a:endParaRPr lang="en-US" sz="5600" dirty="0"/>
          </a:p>
        </p:txBody>
      </p:sp>
      <p:sp>
        <p:nvSpPr>
          <p:cNvPr id="3" name="Shape 1"/>
          <p:cNvSpPr/>
          <p:nvPr/>
        </p:nvSpPr>
        <p:spPr>
          <a:xfrm>
            <a:off x="812800" y="812800"/>
            <a:ext cx="2727027" cy="340320"/>
          </a:xfrm>
          <a:prstGeom prst="roundRect">
            <a:avLst>
              <a:gd name="adj" fmla="val 37318"/>
            </a:avLst>
          </a:prstGeom>
          <a:solidFill>
            <a:srgbClr val="DAE5F1"/>
          </a:solidFill>
          <a:ln/>
        </p:spPr>
      </p:sp>
      <p:sp>
        <p:nvSpPr>
          <p:cNvPr id="4" name="Text 2"/>
          <p:cNvSpPr/>
          <p:nvPr/>
        </p:nvSpPr>
        <p:spPr>
          <a:xfrm>
            <a:off x="952500" y="876300"/>
            <a:ext cx="252105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4 — IMPLEMENTATION</a:t>
            </a:r>
            <a:endParaRPr lang="en-US" sz="1200" dirty="0"/>
          </a:p>
        </p:txBody>
      </p:sp>
      <p:sp>
        <p:nvSpPr>
          <p:cNvPr id="5" name="Text 3"/>
          <p:cNvSpPr/>
          <p:nvPr/>
        </p:nvSpPr>
        <p:spPr>
          <a:xfrm>
            <a:off x="812800" y="1254720"/>
            <a:ext cx="10883392"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232323"/>
                </a:solidFill>
                <a:latin typeface="Nunito Sans" pitchFamily="34" charset="0"/>
                <a:ea typeface="Nunito Sans" pitchFamily="34" charset="-122"/>
                <a:cs typeface="Nunito Sans" pitchFamily="34" charset="-120"/>
              </a:rPr>
              <a:t>Implementation: key decisions</a:t>
            </a:r>
            <a:endParaRPr lang="en-US" sz="2400" dirty="0"/>
          </a:p>
        </p:txBody>
      </p:sp>
      <p:sp>
        <p:nvSpPr>
          <p:cNvPr id="6" name="Shape 4"/>
          <p:cNvSpPr/>
          <p:nvPr/>
        </p:nvSpPr>
        <p:spPr>
          <a:xfrm>
            <a:off x="812800" y="1691580"/>
            <a:ext cx="10566400" cy="398760"/>
          </a:xfrm>
          <a:prstGeom prst="roundRect">
            <a:avLst>
              <a:gd name="adj" fmla="val 19109"/>
            </a:avLst>
          </a:prstGeom>
          <a:solidFill>
            <a:srgbClr val="C5D6E9"/>
          </a:solidFill>
          <a:ln/>
        </p:spPr>
      </p:sp>
      <p:sp>
        <p:nvSpPr>
          <p:cNvPr id="7" name="Text 5"/>
          <p:cNvSpPr/>
          <p:nvPr/>
        </p:nvSpPr>
        <p:spPr>
          <a:xfrm>
            <a:off x="939800" y="1793180"/>
            <a:ext cx="556220"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a:t>
            </a:r>
            <a:endParaRPr lang="en-US" sz="1100" dirty="0"/>
          </a:p>
        </p:txBody>
      </p:sp>
      <p:sp>
        <p:nvSpPr>
          <p:cNvPr id="8" name="Text 6"/>
          <p:cNvSpPr/>
          <p:nvPr/>
        </p:nvSpPr>
        <p:spPr>
          <a:xfrm>
            <a:off x="1546820" y="1793180"/>
            <a:ext cx="4685655"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Decision</a:t>
            </a:r>
            <a:endParaRPr lang="en-US" sz="1100" dirty="0"/>
          </a:p>
        </p:txBody>
      </p:sp>
      <p:sp>
        <p:nvSpPr>
          <p:cNvPr id="9" name="Text 7"/>
          <p:cNvSpPr/>
          <p:nvPr/>
        </p:nvSpPr>
        <p:spPr>
          <a:xfrm>
            <a:off x="6197600" y="1793180"/>
            <a:ext cx="5206238"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Why</a:t>
            </a:r>
            <a:endParaRPr lang="en-US" sz="1100" dirty="0"/>
          </a:p>
        </p:txBody>
      </p:sp>
      <p:sp>
        <p:nvSpPr>
          <p:cNvPr id="10" name="Shape 8"/>
          <p:cNvSpPr/>
          <p:nvPr/>
        </p:nvSpPr>
        <p:spPr>
          <a:xfrm>
            <a:off x="812800" y="2103041"/>
            <a:ext cx="10566400" cy="398760"/>
          </a:xfrm>
          <a:prstGeom prst="rect">
            <a:avLst/>
          </a:prstGeom>
          <a:solidFill>
            <a:srgbClr val="FFFFFF"/>
          </a:solidFill>
          <a:ln/>
        </p:spPr>
      </p:sp>
      <p:sp>
        <p:nvSpPr>
          <p:cNvPr id="11" name="Text 9"/>
          <p:cNvSpPr/>
          <p:nvPr/>
        </p:nvSpPr>
        <p:spPr>
          <a:xfrm>
            <a:off x="939800" y="2204641"/>
            <a:ext cx="55622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8998A9"/>
                </a:solidFill>
                <a:latin typeface="Nunito Sans" pitchFamily="34" charset="0"/>
                <a:ea typeface="Nunito Sans" pitchFamily="34" charset="-122"/>
                <a:cs typeface="Nunito Sans" pitchFamily="34" charset="-120"/>
              </a:rPr>
              <a:t>1</a:t>
            </a:r>
            <a:endParaRPr lang="en-US" sz="1100" dirty="0"/>
          </a:p>
        </p:txBody>
      </p:sp>
      <p:sp>
        <p:nvSpPr>
          <p:cNvPr id="12" name="Text 10"/>
          <p:cNvSpPr/>
          <p:nvPr/>
        </p:nvSpPr>
        <p:spPr>
          <a:xfrm>
            <a:off x="1546820" y="2204641"/>
            <a:ext cx="4685655"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Only one input channel at a time: </a:t>
            </a:r>
            <a:r>
              <a:rPr lang="en-US" sz="1100" b="1" dirty="0">
                <a:solidFill>
                  <a:srgbClr val="232323"/>
                </a:solidFill>
                <a:latin typeface="Nunito Sans" pitchFamily="34" charset="0"/>
                <a:ea typeface="Nunito Sans" pitchFamily="34" charset="-122"/>
                <a:cs typeface="Nunito Sans" pitchFamily="34" charset="-120"/>
              </a:rPr>
              <a:t>AUTO</a:t>
            </a:r>
            <a:r>
              <a:rPr lang="en-US" sz="1100" dirty="0">
                <a:solidFill>
                  <a:srgbClr val="232323"/>
                </a:solidFill>
                <a:latin typeface="Nunito Sans" pitchFamily="34" charset="0"/>
                <a:ea typeface="Nunito Sans" pitchFamily="34" charset="-122"/>
                <a:cs typeface="Nunito Sans" pitchFamily="34" charset="-120"/>
              </a:rPr>
              <a:t> / </a:t>
            </a:r>
            <a:r>
              <a:rPr lang="en-US" sz="1100" b="1" dirty="0">
                <a:solidFill>
                  <a:srgbClr val="232323"/>
                </a:solidFill>
                <a:latin typeface="Nunito Sans" pitchFamily="34" charset="0"/>
                <a:ea typeface="Nunito Sans" pitchFamily="34" charset="-122"/>
                <a:cs typeface="Nunito Sans" pitchFamily="34" charset="-120"/>
              </a:rPr>
              <a:t>MANUAL</a:t>
            </a:r>
            <a:r>
              <a:rPr lang="en-US" sz="1100" dirty="0">
                <a:solidFill>
                  <a:srgbClr val="232323"/>
                </a:solidFill>
                <a:latin typeface="Nunito Sans" pitchFamily="34" charset="0"/>
                <a:ea typeface="Nunito Sans" pitchFamily="34" charset="-122"/>
                <a:cs typeface="Nunito Sans" pitchFamily="34" charset="-120"/>
              </a:rPr>
              <a:t> / </a:t>
            </a:r>
            <a:r>
              <a:rPr lang="en-US" sz="1100" b="1" dirty="0">
                <a:solidFill>
                  <a:srgbClr val="232323"/>
                </a:solidFill>
                <a:latin typeface="Nunito Sans" pitchFamily="34" charset="0"/>
                <a:ea typeface="Nunito Sans" pitchFamily="34" charset="-122"/>
                <a:cs typeface="Nunito Sans" pitchFamily="34" charset="-120"/>
              </a:rPr>
              <a:t>NONE</a:t>
            </a:r>
            <a:endParaRPr lang="en-US" sz="1100" dirty="0"/>
          </a:p>
        </p:txBody>
      </p:sp>
      <p:sp>
        <p:nvSpPr>
          <p:cNvPr id="13" name="Text 11"/>
          <p:cNvSpPr/>
          <p:nvPr/>
        </p:nvSpPr>
        <p:spPr>
          <a:xfrm>
            <a:off x="6197600" y="2204641"/>
            <a:ext cx="5206238"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414C58"/>
                </a:solidFill>
                <a:latin typeface="Nunito Sans" pitchFamily="34" charset="0"/>
                <a:ea typeface="Nunito Sans" pitchFamily="34" charset="-122"/>
                <a:cs typeface="Nunito Sans" pitchFamily="34" charset="-120"/>
              </a:rPr>
              <a:t>No hidden mixing</a:t>
            </a:r>
            <a:endParaRPr lang="en-US" sz="1100" dirty="0"/>
          </a:p>
        </p:txBody>
      </p:sp>
      <p:sp>
        <p:nvSpPr>
          <p:cNvPr id="14" name="Shape 12"/>
          <p:cNvSpPr/>
          <p:nvPr/>
        </p:nvSpPr>
        <p:spPr>
          <a:xfrm>
            <a:off x="812800" y="2514501"/>
            <a:ext cx="10566400" cy="398760"/>
          </a:xfrm>
          <a:prstGeom prst="rect">
            <a:avLst/>
          </a:prstGeom>
          <a:solidFill>
            <a:srgbClr val="ECE7E2"/>
          </a:solidFill>
          <a:ln/>
        </p:spPr>
      </p:sp>
      <p:sp>
        <p:nvSpPr>
          <p:cNvPr id="15" name="Text 13"/>
          <p:cNvSpPr/>
          <p:nvPr/>
        </p:nvSpPr>
        <p:spPr>
          <a:xfrm>
            <a:off x="939800" y="2616101"/>
            <a:ext cx="55622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8998A9"/>
                </a:solidFill>
                <a:latin typeface="Nunito Sans" pitchFamily="34" charset="0"/>
                <a:ea typeface="Nunito Sans" pitchFamily="34" charset="-122"/>
                <a:cs typeface="Nunito Sans" pitchFamily="34" charset="-120"/>
              </a:rPr>
              <a:t>2</a:t>
            </a:r>
            <a:endParaRPr lang="en-US" sz="1100" dirty="0"/>
          </a:p>
        </p:txBody>
      </p:sp>
      <p:sp>
        <p:nvSpPr>
          <p:cNvPr id="16" name="Text 14"/>
          <p:cNvSpPr/>
          <p:nvPr/>
        </p:nvSpPr>
        <p:spPr>
          <a:xfrm>
            <a:off x="1546820" y="2616101"/>
            <a:ext cx="4685655"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Two rate limits: hard limit in </a:t>
            </a:r>
            <a:r>
              <a:rPr lang="en-US" sz="1100" b="1" dirty="0">
                <a:solidFill>
                  <a:srgbClr val="232323"/>
                </a:solidFill>
                <a:latin typeface="Nunito Sans" pitchFamily="34" charset="0"/>
                <a:ea typeface="Nunito Sans" pitchFamily="34" charset="-122"/>
                <a:cs typeface="Nunito Sans" pitchFamily="34" charset="-120"/>
              </a:rPr>
              <a:t>Gimbal</a:t>
            </a:r>
            <a:r>
              <a:rPr lang="en-US" sz="1100" dirty="0">
                <a:solidFill>
                  <a:srgbClr val="232323"/>
                </a:solidFill>
                <a:latin typeface="Nunito Sans" pitchFamily="34" charset="0"/>
                <a:ea typeface="Nunito Sans" pitchFamily="34" charset="-122"/>
                <a:cs typeface="Nunito Sans" pitchFamily="34" charset="-120"/>
              </a:rPr>
              <a:t>, PID clamp below it</a:t>
            </a:r>
            <a:endParaRPr lang="en-US" sz="1100" dirty="0"/>
          </a:p>
        </p:txBody>
      </p:sp>
      <p:sp>
        <p:nvSpPr>
          <p:cNvPr id="17" name="Text 15"/>
          <p:cNvSpPr/>
          <p:nvPr/>
        </p:nvSpPr>
        <p:spPr>
          <a:xfrm>
            <a:off x="6197600" y="2616101"/>
            <a:ext cx="5206238"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414C58"/>
                </a:solidFill>
                <a:latin typeface="Nunito Sans" pitchFamily="34" charset="0"/>
                <a:ea typeface="Nunito Sans" pitchFamily="34" charset="-122"/>
                <a:cs typeface="Nunito Sans" pitchFamily="34" charset="-120"/>
              </a:rPr>
              <a:t>Anti-windup can see the real limit (static_assert)</a:t>
            </a:r>
            <a:endParaRPr lang="en-US" sz="1100" dirty="0"/>
          </a:p>
        </p:txBody>
      </p:sp>
      <p:sp>
        <p:nvSpPr>
          <p:cNvPr id="18" name="Shape 16"/>
          <p:cNvSpPr/>
          <p:nvPr/>
        </p:nvSpPr>
        <p:spPr>
          <a:xfrm>
            <a:off x="812800" y="2925961"/>
            <a:ext cx="10566400" cy="398760"/>
          </a:xfrm>
          <a:prstGeom prst="rect">
            <a:avLst/>
          </a:prstGeom>
          <a:solidFill>
            <a:srgbClr val="FFFFFF"/>
          </a:solidFill>
          <a:ln/>
        </p:spPr>
      </p:sp>
      <p:sp>
        <p:nvSpPr>
          <p:cNvPr id="19" name="Text 17"/>
          <p:cNvSpPr/>
          <p:nvPr/>
        </p:nvSpPr>
        <p:spPr>
          <a:xfrm>
            <a:off x="939800" y="3027561"/>
            <a:ext cx="55622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8998A9"/>
                </a:solidFill>
                <a:latin typeface="Nunito Sans" pitchFamily="34" charset="0"/>
                <a:ea typeface="Nunito Sans" pitchFamily="34" charset="-122"/>
                <a:cs typeface="Nunito Sans" pitchFamily="34" charset="-120"/>
              </a:rPr>
              <a:t>3</a:t>
            </a:r>
            <a:endParaRPr lang="en-US" sz="1100" dirty="0"/>
          </a:p>
        </p:txBody>
      </p:sp>
      <p:sp>
        <p:nvSpPr>
          <p:cNvPr id="20" name="Text 18"/>
          <p:cNvSpPr/>
          <p:nvPr/>
        </p:nvSpPr>
        <p:spPr>
          <a:xfrm>
            <a:off x="1546820" y="3027561"/>
            <a:ext cx="4685655"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Log queue drops oldest, never blocks</a:t>
            </a:r>
            <a:endParaRPr lang="en-US" sz="1100" dirty="0"/>
          </a:p>
        </p:txBody>
      </p:sp>
      <p:sp>
        <p:nvSpPr>
          <p:cNvPr id="21" name="Text 19"/>
          <p:cNvSpPr/>
          <p:nvPr/>
        </p:nvSpPr>
        <p:spPr>
          <a:xfrm>
            <a:off x="6197600" y="3027561"/>
            <a:ext cx="5206238"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414C58"/>
                </a:solidFill>
                <a:latin typeface="Nunito Sans" pitchFamily="34" charset="0"/>
                <a:ea typeface="Nunito Sans" pitchFamily="34" charset="-122"/>
                <a:cs typeface="Nunito Sans" pitchFamily="34" charset="-120"/>
              </a:rPr>
              <a:t>Telemetry may be lost. Control may not</a:t>
            </a:r>
            <a:endParaRPr lang="en-US" sz="1100" dirty="0"/>
          </a:p>
        </p:txBody>
      </p:sp>
      <p:sp>
        <p:nvSpPr>
          <p:cNvPr id="22" name="Shape 20"/>
          <p:cNvSpPr/>
          <p:nvPr/>
        </p:nvSpPr>
        <p:spPr>
          <a:xfrm>
            <a:off x="812800" y="3337421"/>
            <a:ext cx="10566400" cy="694630"/>
          </a:xfrm>
          <a:prstGeom prst="rect">
            <a:avLst/>
          </a:prstGeom>
          <a:solidFill>
            <a:srgbClr val="ECE7E2"/>
          </a:solidFill>
          <a:ln/>
        </p:spPr>
      </p:sp>
      <p:sp>
        <p:nvSpPr>
          <p:cNvPr id="23" name="Text 21"/>
          <p:cNvSpPr/>
          <p:nvPr/>
        </p:nvSpPr>
        <p:spPr>
          <a:xfrm>
            <a:off x="939800" y="3586956"/>
            <a:ext cx="55622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8998A9"/>
                </a:solidFill>
                <a:latin typeface="Nunito Sans" pitchFamily="34" charset="0"/>
                <a:ea typeface="Nunito Sans" pitchFamily="34" charset="-122"/>
                <a:cs typeface="Nunito Sans" pitchFamily="34" charset="-120"/>
              </a:rPr>
              <a:t>4</a:t>
            </a:r>
            <a:endParaRPr lang="en-US" sz="1100" dirty="0"/>
          </a:p>
        </p:txBody>
      </p:sp>
      <p:sp>
        <p:nvSpPr>
          <p:cNvPr id="24" name="Text 22"/>
          <p:cNvSpPr/>
          <p:nvPr/>
        </p:nvSpPr>
        <p:spPr>
          <a:xfrm>
            <a:off x="1546820" y="3586956"/>
            <a:ext cx="4685655"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NDJSON + CRC-8, 256-byte line limit, </a:t>
            </a:r>
            <a:r>
              <a:rPr lang="en-US" sz="1100" b="1" dirty="0">
                <a:solidFill>
                  <a:srgbClr val="232323"/>
                </a:solidFill>
                <a:latin typeface="Nunito Sans" pitchFamily="34" charset="0"/>
                <a:ea typeface="Nunito Sans" pitchFamily="34" charset="-122"/>
                <a:cs typeface="Nunito Sans" pitchFamily="34" charset="-120"/>
              </a:rPr>
              <a:t>NaN</a:t>
            </a:r>
            <a:r>
              <a:rPr lang="en-US" sz="1100" dirty="0">
                <a:solidFill>
                  <a:srgbClr val="232323"/>
                </a:solidFill>
                <a:latin typeface="Nunito Sans" pitchFamily="34" charset="0"/>
                <a:ea typeface="Nunito Sans" pitchFamily="34" charset="-122"/>
                <a:cs typeface="Nunito Sans" pitchFamily="34" charset="-120"/>
              </a:rPr>
              <a:t> rejected</a:t>
            </a:r>
            <a:endParaRPr lang="en-US" sz="1100" dirty="0"/>
          </a:p>
        </p:txBody>
      </p:sp>
      <p:sp>
        <p:nvSpPr>
          <p:cNvPr id="25" name="Text 23"/>
          <p:cNvSpPr/>
          <p:nvPr/>
        </p:nvSpPr>
        <p:spPr>
          <a:xfrm>
            <a:off x="6197600" y="3439021"/>
            <a:ext cx="5206238"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414C58"/>
                </a:solidFill>
                <a:latin typeface="Nunito Sans" pitchFamily="34" charset="0"/>
                <a:ea typeface="Nunito Sans" pitchFamily="34" charset="-122"/>
                <a:cs typeface="Nunito Sans" pitchFamily="34" charset="-120"/>
              </a:rPr>
              <a:t>A NaN in the PID would…</a:t>
            </a:r>
            <a:endParaRPr lang="en-US" sz="1100" dirty="0"/>
          </a:p>
        </p:txBody>
      </p:sp>
      <p:sp>
        <p:nvSpPr>
          <p:cNvPr id="26" name="Shape 24"/>
          <p:cNvSpPr/>
          <p:nvPr/>
        </p:nvSpPr>
        <p:spPr>
          <a:xfrm>
            <a:off x="6197600" y="3685381"/>
            <a:ext cx="1569740" cy="245070"/>
          </a:xfrm>
          <a:prstGeom prst="roundRect">
            <a:avLst>
              <a:gd name="adj" fmla="val 36275"/>
            </a:avLst>
          </a:prstGeom>
          <a:solidFill>
            <a:srgbClr val="FCF2B5"/>
          </a:solidFill>
          <a:ln/>
        </p:spPr>
      </p:sp>
      <p:sp>
        <p:nvSpPr>
          <p:cNvPr id="27" name="Text 25"/>
          <p:cNvSpPr/>
          <p:nvPr/>
        </p:nvSpPr>
        <p:spPr>
          <a:xfrm>
            <a:off x="6299200" y="3723481"/>
            <a:ext cx="1417340" cy="194270"/>
          </a:xfrm>
          <a:prstGeom prst="rect">
            <a:avLst/>
          </a:prstGeom>
          <a:noFill/>
          <a:ln/>
        </p:spPr>
        <p:txBody>
          <a:bodyPr wrap="square" lIns="0" tIns="0" rIns="0" bIns="0" rtlCol="0" anchor="t">
            <a:normAutofit/>
          </a:bodyPr>
          <a:lstStyle/>
          <a:p>
            <a:pPr algn="l" indent="0" marL="0">
              <a:lnSpc>
                <a:spcPts val="1330"/>
              </a:lnSpc>
              <a:buNone/>
            </a:pPr>
            <a:r>
              <a:rPr lang="en-US" sz="950" b="1" dirty="0">
                <a:solidFill>
                  <a:srgbClr val="232323"/>
                </a:solidFill>
                <a:latin typeface="Nunito Sans" pitchFamily="34" charset="0"/>
                <a:ea typeface="Nunito Sans" pitchFamily="34" charset="-122"/>
                <a:cs typeface="Nunito Sans" pitchFamily="34" charset="-120"/>
              </a:rPr>
              <a:t>TODO: finish this reason</a:t>
            </a:r>
            <a:endParaRPr lang="en-US" sz="950" dirty="0"/>
          </a:p>
        </p:txBody>
      </p:sp>
      <p:sp>
        <p:nvSpPr>
          <p:cNvPr id="28" name="Shape 26"/>
          <p:cNvSpPr/>
          <p:nvPr/>
        </p:nvSpPr>
        <p:spPr>
          <a:xfrm>
            <a:off x="812800" y="4044752"/>
            <a:ext cx="10566400" cy="398760"/>
          </a:xfrm>
          <a:prstGeom prst="roundRect">
            <a:avLst>
              <a:gd name="adj" fmla="val 19109"/>
            </a:avLst>
          </a:prstGeom>
          <a:solidFill>
            <a:srgbClr val="FFFFFF"/>
          </a:solidFill>
          <a:ln/>
        </p:spPr>
      </p:sp>
      <p:sp>
        <p:nvSpPr>
          <p:cNvPr id="29" name="Text 27"/>
          <p:cNvSpPr/>
          <p:nvPr/>
        </p:nvSpPr>
        <p:spPr>
          <a:xfrm>
            <a:off x="939800" y="4146352"/>
            <a:ext cx="55622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8998A9"/>
                </a:solidFill>
                <a:latin typeface="Nunito Sans" pitchFamily="34" charset="0"/>
                <a:ea typeface="Nunito Sans" pitchFamily="34" charset="-122"/>
                <a:cs typeface="Nunito Sans" pitchFamily="34" charset="-120"/>
              </a:rPr>
              <a:t>5</a:t>
            </a:r>
            <a:endParaRPr lang="en-US" sz="1100" dirty="0"/>
          </a:p>
        </p:txBody>
      </p:sp>
      <p:sp>
        <p:nvSpPr>
          <p:cNvPr id="30" name="Text 28"/>
          <p:cNvSpPr/>
          <p:nvPr/>
        </p:nvSpPr>
        <p:spPr>
          <a:xfrm>
            <a:off x="1546820" y="4146352"/>
            <a:ext cx="4685655"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Zone tour: laser draws the zone clockwise</a:t>
            </a:r>
            <a:endParaRPr lang="en-US" sz="1100" dirty="0"/>
          </a:p>
        </p:txBody>
      </p:sp>
      <p:sp>
        <p:nvSpPr>
          <p:cNvPr id="31" name="Text 29"/>
          <p:cNvSpPr/>
          <p:nvPr/>
        </p:nvSpPr>
        <p:spPr>
          <a:xfrm>
            <a:off x="6197600" y="4146352"/>
            <a:ext cx="5206238"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414C58"/>
                </a:solidFill>
                <a:latin typeface="Nunito Sans" pitchFamily="34" charset="0"/>
                <a:ea typeface="Nunito Sans" pitchFamily="34" charset="-122"/>
                <a:cs typeface="Nunito Sans" pitchFamily="34" charset="-120"/>
              </a:rPr>
              <a:t>Wrong direction = wrong axis flag, seen in 4 s</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09</a:t>
            </a:r>
            <a:endParaRPr lang="en-US" sz="5600" dirty="0"/>
          </a:p>
        </p:txBody>
      </p:sp>
      <p:sp>
        <p:nvSpPr>
          <p:cNvPr id="3" name="Shape 1"/>
          <p:cNvSpPr/>
          <p:nvPr/>
        </p:nvSpPr>
        <p:spPr>
          <a:xfrm>
            <a:off x="812800" y="812800"/>
            <a:ext cx="2727027" cy="340320"/>
          </a:xfrm>
          <a:prstGeom prst="roundRect">
            <a:avLst>
              <a:gd name="adj" fmla="val 37318"/>
            </a:avLst>
          </a:prstGeom>
          <a:solidFill>
            <a:srgbClr val="DAE5F1"/>
          </a:solidFill>
          <a:ln/>
        </p:spPr>
      </p:sp>
      <p:sp>
        <p:nvSpPr>
          <p:cNvPr id="4" name="Text 2"/>
          <p:cNvSpPr/>
          <p:nvPr/>
        </p:nvSpPr>
        <p:spPr>
          <a:xfrm>
            <a:off x="952500" y="876300"/>
            <a:ext cx="2521056"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4 — IMPLEMENTATION</a:t>
            </a:r>
            <a:endParaRPr lang="en-US" sz="1200" dirty="0"/>
          </a:p>
        </p:txBody>
      </p:sp>
      <p:sp>
        <p:nvSpPr>
          <p:cNvPr id="5" name="Text 3"/>
          <p:cNvSpPr/>
          <p:nvPr/>
        </p:nvSpPr>
        <p:spPr>
          <a:xfrm>
            <a:off x="812800" y="1305520"/>
            <a:ext cx="10883392" cy="388541"/>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232323"/>
                </a:solidFill>
                <a:latin typeface="Nunito Sans" pitchFamily="34" charset="0"/>
                <a:ea typeface="Nunito Sans" pitchFamily="34" charset="-122"/>
                <a:cs typeface="Nunito Sans" pitchFamily="34" charset="-120"/>
              </a:rPr>
              <a:t>Implementation: the code</a:t>
            </a:r>
            <a:endParaRPr lang="en-US" sz="2600" dirty="0"/>
          </a:p>
        </p:txBody>
      </p:sp>
      <p:sp>
        <p:nvSpPr>
          <p:cNvPr id="6" name="Shape 4"/>
          <p:cNvSpPr/>
          <p:nvPr/>
        </p:nvSpPr>
        <p:spPr>
          <a:xfrm>
            <a:off x="812800" y="1821061"/>
            <a:ext cx="2905224" cy="373360"/>
          </a:xfrm>
          <a:prstGeom prst="roundRect">
            <a:avLst>
              <a:gd name="adj" fmla="val 23811"/>
            </a:avLst>
          </a:prstGeom>
          <a:solidFill>
            <a:srgbClr val="FCF2B5"/>
          </a:solidFill>
          <a:ln/>
        </p:spPr>
      </p:sp>
      <p:sp>
        <p:nvSpPr>
          <p:cNvPr id="7" name="Text 5"/>
          <p:cNvSpPr/>
          <p:nvPr/>
        </p:nvSpPr>
        <p:spPr>
          <a:xfrm>
            <a:off x="965200" y="1909961"/>
            <a:ext cx="457398"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TODO</a:t>
            </a:r>
            <a:endParaRPr lang="en-US" sz="1100" dirty="0"/>
          </a:p>
        </p:txBody>
      </p:sp>
      <p:sp>
        <p:nvSpPr>
          <p:cNvPr id="8" name="Text 6"/>
          <p:cNvSpPr/>
          <p:nvPr/>
        </p:nvSpPr>
        <p:spPr>
          <a:xfrm>
            <a:off x="1460698" y="1909961"/>
            <a:ext cx="2168074"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Paste the 10–20 line snippet here</a:t>
            </a:r>
            <a:endParaRPr lang="en-US" sz="1100" dirty="0"/>
          </a:p>
        </p:txBody>
      </p:sp>
      <p:sp>
        <p:nvSpPr>
          <p:cNvPr id="9" name="Shape 7"/>
          <p:cNvSpPr/>
          <p:nvPr/>
        </p:nvSpPr>
        <p:spPr>
          <a:xfrm>
            <a:off x="815975" y="2349996"/>
            <a:ext cx="10560050" cy="2345333"/>
          </a:xfrm>
          <a:prstGeom prst="roundRect">
            <a:avLst>
              <a:gd name="adj" fmla="val 4197"/>
            </a:avLst>
          </a:prstGeom>
          <a:solidFill>
            <a:srgbClr val="F7F6F5"/>
          </a:solidFill>
          <a:ln w="6350">
            <a:solidFill>
              <a:srgbClr val="D2CDC8"/>
            </a:solidFill>
            <a:prstDash val="solid"/>
          </a:ln>
        </p:spPr>
      </p:sp>
      <p:sp>
        <p:nvSpPr>
          <p:cNvPr id="10" name="Text 8"/>
          <p:cNvSpPr/>
          <p:nvPr/>
        </p:nvSpPr>
        <p:spPr>
          <a:xfrm>
            <a:off x="1073150" y="2607171"/>
            <a:ext cx="10347071"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14C58"/>
                </a:solidFill>
                <a:latin typeface="Consolas" pitchFamily="34" charset="0"/>
                <a:ea typeface="Consolas" pitchFamily="34" charset="-122"/>
                <a:cs typeface="Consolas" pitchFamily="34" charset="-120"/>
              </a:rPr>
              <a:t>// [Function or module name]</a:t>
            </a:r>
            <a:endParaRPr lang="en-US" sz="1300" dirty="0"/>
          </a:p>
        </p:txBody>
      </p:sp>
      <p:sp>
        <p:nvSpPr>
          <p:cNvPr id="11" name="Text 9"/>
          <p:cNvSpPr/>
          <p:nvPr/>
        </p:nvSpPr>
        <p:spPr>
          <a:xfrm>
            <a:off x="1073150" y="2927152"/>
            <a:ext cx="10347071"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14C58"/>
                </a:solidFill>
                <a:latin typeface="Consolas" pitchFamily="34" charset="0"/>
                <a:ea typeface="Consolas" pitchFamily="34" charset="-122"/>
                <a:cs typeface="Consolas" pitchFamily="34" charset="-120"/>
              </a:rPr>
              <a:t>// [Why this part is non-trivial]</a:t>
            </a:r>
            <a:endParaRPr lang="en-US" sz="1300" dirty="0"/>
          </a:p>
        </p:txBody>
      </p:sp>
      <p:sp>
        <p:nvSpPr>
          <p:cNvPr id="12" name="Text 10"/>
          <p:cNvSpPr/>
          <p:nvPr/>
        </p:nvSpPr>
        <p:spPr>
          <a:xfrm>
            <a:off x="1073150" y="3247132"/>
            <a:ext cx="10347071"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8998A9"/>
                </a:solidFill>
                <a:latin typeface="Consolas" pitchFamily="34" charset="0"/>
                <a:ea typeface="Consolas" pitchFamily="34" charset="-122"/>
                <a:cs typeface="Consolas" pitchFamily="34" charset="-120"/>
              </a:rPr>
              <a:t>//</a:t>
            </a:r>
            <a:endParaRPr lang="en-US" sz="1300" dirty="0"/>
          </a:p>
        </p:txBody>
      </p:sp>
      <p:sp>
        <p:nvSpPr>
          <p:cNvPr id="13" name="Text 11"/>
          <p:cNvSpPr/>
          <p:nvPr/>
        </p:nvSpPr>
        <p:spPr>
          <a:xfrm>
            <a:off x="1073150" y="3567113"/>
            <a:ext cx="10347071"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414C58"/>
                </a:solidFill>
                <a:latin typeface="Consolas" pitchFamily="34" charset="0"/>
                <a:ea typeface="Consolas" pitchFamily="34" charset="-122"/>
                <a:cs typeface="Consolas" pitchFamily="34" charset="-120"/>
              </a:rPr>
              <a:t>// Options for this slide:</a:t>
            </a:r>
            <a:endParaRPr lang="en-US" sz="1300" dirty="0"/>
          </a:p>
        </p:txBody>
      </p:sp>
      <p:sp>
        <p:nvSpPr>
          <p:cNvPr id="14" name="Text 12"/>
          <p:cNvSpPr/>
          <p:nvPr/>
        </p:nvSpPr>
        <p:spPr>
          <a:xfrm>
            <a:off x="1073150" y="3887093"/>
            <a:ext cx="10347071"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32323"/>
                </a:solidFill>
                <a:latin typeface="Consolas" pitchFamily="34" charset="0"/>
                <a:ea typeface="Consolas" pitchFamily="34" charset="-122"/>
                <a:cs typeface="Consolas" pitchFamily="34" charset="-120"/>
              </a:rPr>
              <a:t>// — the PID clamp + static_assert, from Gimbal.hpp</a:t>
            </a:r>
            <a:endParaRPr lang="en-US" sz="1300" dirty="0"/>
          </a:p>
        </p:txBody>
      </p:sp>
      <p:sp>
        <p:nvSpPr>
          <p:cNvPr id="15" name="Text 13"/>
          <p:cNvSpPr/>
          <p:nvPr/>
        </p:nvSpPr>
        <p:spPr>
          <a:xfrm>
            <a:off x="1073150" y="4207073"/>
            <a:ext cx="10347071" cy="256480"/>
          </a:xfrm>
          <a:prstGeom prst="rect">
            <a:avLst/>
          </a:prstGeom>
          <a:noFill/>
          <a:ln/>
        </p:spPr>
        <p:txBody>
          <a:bodyPr wrap="square" lIns="0" tIns="0" rIns="0" bIns="0" rtlCol="0" anchor="t">
            <a:normAutofit/>
          </a:bodyPr>
          <a:lstStyle/>
          <a:p>
            <a:pPr algn="l" indent="0" marL="0">
              <a:lnSpc>
                <a:spcPts val="1820"/>
              </a:lnSpc>
              <a:buNone/>
            </a:pPr>
            <a:r>
              <a:rPr lang="en-US" sz="1300" dirty="0">
                <a:solidFill>
                  <a:srgbClr val="232323"/>
                </a:solidFill>
                <a:latin typeface="Consolas" pitchFamily="34" charset="0"/>
                <a:ea typeface="Consolas" pitchFamily="34" charset="-122"/>
                <a:cs typeface="Consolas" pitchFamily="34" charset="-120"/>
              </a:rPr>
              <a:t>// — laserPermitted(), from Safety.hpp</a:t>
            </a:r>
            <a:endParaRPr lang="en-US" sz="1300" dirty="0"/>
          </a:p>
        </p:txBody>
      </p:sp>
      <p:sp>
        <p:nvSpPr>
          <p:cNvPr id="16" name="Text 14"/>
          <p:cNvSpPr/>
          <p:nvPr/>
        </p:nvSpPr>
        <p:spPr>
          <a:xfrm>
            <a:off x="812800" y="4850904"/>
            <a:ext cx="10883392" cy="238720"/>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14C58"/>
                </a:solidFill>
                <a:latin typeface="Nunito Sans" pitchFamily="34" charset="0"/>
                <a:ea typeface="Nunito Sans" pitchFamily="34" charset="-122"/>
                <a:cs typeface="Nunito Sans" pitchFamily="34" charset="-120"/>
              </a:rPr>
              <a:t>Not the whole file — only the fragment with the non-trivial decision. If a student nearby could write it in 5 minutes, it does not belong here.</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6F5"/>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10</a:t>
            </a:r>
            <a:endParaRPr lang="en-US" sz="5600" dirty="0"/>
          </a:p>
        </p:txBody>
      </p:sp>
      <p:sp>
        <p:nvSpPr>
          <p:cNvPr id="3" name="Shape 1"/>
          <p:cNvSpPr/>
          <p:nvPr/>
        </p:nvSpPr>
        <p:spPr>
          <a:xfrm>
            <a:off x="812800" y="812800"/>
            <a:ext cx="1950145" cy="340320"/>
          </a:xfrm>
          <a:prstGeom prst="roundRect">
            <a:avLst>
              <a:gd name="adj" fmla="val 37318"/>
            </a:avLst>
          </a:prstGeom>
          <a:solidFill>
            <a:srgbClr val="DAE5F1"/>
          </a:solidFill>
          <a:ln/>
        </p:spPr>
      </p:sp>
      <p:sp>
        <p:nvSpPr>
          <p:cNvPr id="4" name="Text 2"/>
          <p:cNvSpPr/>
          <p:nvPr/>
        </p:nvSpPr>
        <p:spPr>
          <a:xfrm>
            <a:off x="952500" y="876300"/>
            <a:ext cx="172154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5 — RESULTS</a:t>
            </a:r>
            <a:endParaRPr lang="en-US" sz="1200" dirty="0"/>
          </a:p>
        </p:txBody>
      </p:sp>
      <p:sp>
        <p:nvSpPr>
          <p:cNvPr id="5" name="Text 3"/>
          <p:cNvSpPr/>
          <p:nvPr/>
        </p:nvSpPr>
        <p:spPr>
          <a:xfrm>
            <a:off x="812800" y="1242020"/>
            <a:ext cx="10883392" cy="332680"/>
          </a:xfrm>
          <a:prstGeom prst="rect">
            <a:avLst/>
          </a:prstGeom>
          <a:noFill/>
          <a:ln/>
        </p:spPr>
        <p:txBody>
          <a:bodyPr wrap="square" lIns="0" tIns="0" rIns="0" bIns="0" rtlCol="0" anchor="t">
            <a:normAutofit/>
          </a:bodyPr>
          <a:lstStyle/>
          <a:p>
            <a:pPr algn="l" indent="0" marL="0">
              <a:lnSpc>
                <a:spcPts val="2420"/>
              </a:lnSpc>
              <a:buNone/>
            </a:pPr>
            <a:r>
              <a:rPr lang="en-US" sz="2200" b="1" dirty="0">
                <a:solidFill>
                  <a:srgbClr val="232323"/>
                </a:solidFill>
                <a:latin typeface="Nunito Sans" pitchFamily="34" charset="0"/>
                <a:ea typeface="Nunito Sans" pitchFamily="34" charset="-122"/>
                <a:cs typeface="Nunito Sans" pitchFamily="34" charset="-120"/>
              </a:rPr>
              <a:t>Problems we faced on the rig</a:t>
            </a:r>
            <a:endParaRPr lang="en-US" sz="2200" dirty="0"/>
          </a:p>
        </p:txBody>
      </p:sp>
      <p:sp>
        <p:nvSpPr>
          <p:cNvPr id="6" name="Shape 4"/>
          <p:cNvSpPr/>
          <p:nvPr/>
        </p:nvSpPr>
        <p:spPr>
          <a:xfrm>
            <a:off x="812800" y="1638201"/>
            <a:ext cx="10566400" cy="355600"/>
          </a:xfrm>
          <a:prstGeom prst="roundRect">
            <a:avLst>
              <a:gd name="adj" fmla="val 21429"/>
            </a:avLst>
          </a:prstGeom>
          <a:solidFill>
            <a:srgbClr val="C5D6E9"/>
          </a:solidFill>
          <a:ln/>
        </p:spPr>
      </p:sp>
      <p:sp>
        <p:nvSpPr>
          <p:cNvPr id="7" name="Text 5"/>
          <p:cNvSpPr/>
          <p:nvPr/>
        </p:nvSpPr>
        <p:spPr>
          <a:xfrm>
            <a:off x="939800" y="1727101"/>
            <a:ext cx="2290708" cy="203200"/>
          </a:xfrm>
          <a:prstGeom prst="rect">
            <a:avLst/>
          </a:prstGeom>
          <a:noFill/>
          <a:ln/>
        </p:spPr>
        <p:txBody>
          <a:bodyPr wrap="square" lIns="0" tIns="0" rIns="0" bIns="0" rtlCol="0" anchor="t">
            <a:normAutofit/>
          </a:bodyPr>
          <a:lstStyle/>
          <a:p>
            <a:pPr algn="l" indent="0" marL="0">
              <a:lnSpc>
                <a:spcPts val="1400"/>
              </a:lnSpc>
              <a:buNone/>
            </a:pPr>
            <a:r>
              <a:rPr lang="en-US" sz="1000" b="1" dirty="0">
                <a:solidFill>
                  <a:srgbClr val="232323"/>
                </a:solidFill>
                <a:latin typeface="Nunito Sans" pitchFamily="34" charset="0"/>
                <a:ea typeface="Nunito Sans" pitchFamily="34" charset="-122"/>
                <a:cs typeface="Nunito Sans" pitchFamily="34" charset="-120"/>
              </a:rPr>
              <a:t>Problem</a:t>
            </a:r>
            <a:endParaRPr lang="en-US" sz="1000" dirty="0"/>
          </a:p>
        </p:txBody>
      </p:sp>
      <p:sp>
        <p:nvSpPr>
          <p:cNvPr id="8" name="Text 6"/>
          <p:cNvSpPr/>
          <p:nvPr/>
        </p:nvSpPr>
        <p:spPr>
          <a:xfrm>
            <a:off x="3265388" y="1727101"/>
            <a:ext cx="6039232" cy="203200"/>
          </a:xfrm>
          <a:prstGeom prst="rect">
            <a:avLst/>
          </a:prstGeom>
          <a:noFill/>
          <a:ln/>
        </p:spPr>
        <p:txBody>
          <a:bodyPr wrap="square" lIns="0" tIns="0" rIns="0" bIns="0" rtlCol="0" anchor="t">
            <a:normAutofit/>
          </a:bodyPr>
          <a:lstStyle/>
          <a:p>
            <a:pPr algn="l" indent="0" marL="0">
              <a:lnSpc>
                <a:spcPts val="1400"/>
              </a:lnSpc>
              <a:buNone/>
            </a:pPr>
            <a:r>
              <a:rPr lang="en-US" sz="1000" b="1" dirty="0">
                <a:solidFill>
                  <a:srgbClr val="232323"/>
                </a:solidFill>
                <a:latin typeface="Nunito Sans" pitchFamily="34" charset="0"/>
                <a:ea typeface="Nunito Sans" pitchFamily="34" charset="-122"/>
                <a:cs typeface="Nunito Sans" pitchFamily="34" charset="-120"/>
              </a:rPr>
              <a:t>Solution</a:t>
            </a:r>
            <a:endParaRPr lang="en-US" sz="1000" dirty="0"/>
          </a:p>
        </p:txBody>
      </p:sp>
      <p:sp>
        <p:nvSpPr>
          <p:cNvPr id="9" name="Text 7"/>
          <p:cNvSpPr/>
          <p:nvPr/>
        </p:nvSpPr>
        <p:spPr>
          <a:xfrm>
            <a:off x="9230320" y="1727101"/>
            <a:ext cx="2082536" cy="203200"/>
          </a:xfrm>
          <a:prstGeom prst="rect">
            <a:avLst/>
          </a:prstGeom>
          <a:noFill/>
          <a:ln/>
        </p:spPr>
        <p:txBody>
          <a:bodyPr wrap="square" lIns="0" tIns="0" rIns="0" bIns="0" rtlCol="0" anchor="t">
            <a:normAutofit/>
          </a:bodyPr>
          <a:lstStyle/>
          <a:p>
            <a:pPr algn="l" indent="0" marL="0">
              <a:lnSpc>
                <a:spcPts val="1400"/>
              </a:lnSpc>
              <a:buNone/>
            </a:pPr>
            <a:r>
              <a:rPr lang="en-US" sz="1000" b="1" dirty="0">
                <a:solidFill>
                  <a:srgbClr val="232323"/>
                </a:solidFill>
                <a:latin typeface="Nunito Sans" pitchFamily="34" charset="0"/>
                <a:ea typeface="Nunito Sans" pitchFamily="34" charset="-122"/>
                <a:cs typeface="Nunito Sans" pitchFamily="34" charset="-120"/>
              </a:rPr>
              <a:t>Status</a:t>
            </a:r>
            <a:endParaRPr lang="en-US" sz="1000" dirty="0"/>
          </a:p>
        </p:txBody>
      </p:sp>
      <p:sp>
        <p:nvSpPr>
          <p:cNvPr id="10" name="Shape 8"/>
          <p:cNvSpPr/>
          <p:nvPr/>
        </p:nvSpPr>
        <p:spPr>
          <a:xfrm>
            <a:off x="812800" y="2006501"/>
            <a:ext cx="10566400" cy="515541"/>
          </a:xfrm>
          <a:prstGeom prst="rect">
            <a:avLst/>
          </a:prstGeom>
          <a:solidFill>
            <a:srgbClr val="FFFFFF"/>
          </a:solidFill>
          <a:ln/>
        </p:spPr>
      </p:sp>
      <p:sp>
        <p:nvSpPr>
          <p:cNvPr id="11" name="Text 9"/>
          <p:cNvSpPr/>
          <p:nvPr/>
        </p:nvSpPr>
        <p:spPr>
          <a:xfrm>
            <a:off x="939800" y="2095401"/>
            <a:ext cx="2290708" cy="363141"/>
          </a:xfrm>
          <a:prstGeom prst="rect">
            <a:avLst/>
          </a:prstGeom>
          <a:noFill/>
          <a:ln/>
        </p:spPr>
        <p:txBody>
          <a:bodyPr wrap="square" lIns="0" tIns="0" rIns="0" bIns="0" rtlCol="0" anchor="t">
            <a:normAutofit/>
          </a:bodyPr>
          <a:lstStyle/>
          <a:p>
            <a:pPr algn="l" indent="0" marL="0">
              <a:lnSpc>
                <a:spcPts val="1330"/>
              </a:lnSpc>
              <a:buNone/>
            </a:pPr>
            <a:r>
              <a:rPr lang="en-US" sz="950" b="1" dirty="0">
                <a:solidFill>
                  <a:srgbClr val="232323"/>
                </a:solidFill>
                <a:latin typeface="Nunito Sans" pitchFamily="34" charset="0"/>
                <a:ea typeface="Nunito Sans" pitchFamily="34" charset="-122"/>
                <a:cs typeface="Nunito Sans" pitchFamily="34" charset="-120"/>
              </a:rPr>
              <a:t>Auto aim "blows up"</a:t>
            </a:r>
            <a:r>
              <a:rPr lang="en-US" sz="950" dirty="0">
                <a:solidFill>
                  <a:srgbClr val="232323"/>
                </a:solidFill>
                <a:latin typeface="Nunito Sans" pitchFamily="34" charset="0"/>
                <a:ea typeface="Nunito Sans" pitchFamily="34" charset="-122"/>
                <a:cs typeface="Nunito Sans" pitchFamily="34" charset="-120"/>
              </a:rPr>
              <a:t> — dot runs away, LINK_LOST</a:t>
            </a:r>
            <a:endParaRPr lang="en-US" sz="950" dirty="0"/>
          </a:p>
        </p:txBody>
      </p:sp>
      <p:sp>
        <p:nvSpPr>
          <p:cNvPr id="12" name="Text 10"/>
          <p:cNvSpPr/>
          <p:nvPr/>
        </p:nvSpPr>
        <p:spPr>
          <a:xfrm>
            <a:off x="3265388" y="2095401"/>
            <a:ext cx="6039232" cy="363141"/>
          </a:xfrm>
          <a:prstGeom prst="rect">
            <a:avLst/>
          </a:prstGeom>
          <a:noFill/>
          <a:ln/>
        </p:spPr>
        <p:txBody>
          <a:bodyPr wrap="square" lIns="0" tIns="0" rIns="0" bIns="0" rtlCol="0" anchor="t">
            <a:normAutofit/>
          </a:bodyPr>
          <a:lstStyle/>
          <a:p>
            <a:pPr algn="l"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Cause: error can reach ±2; rejected frames did not refresh link liveness. Fix: clamp error to ±1 in dots.py and Protocol.hpp; small working zone (60° pan, 30° tilt).</a:t>
            </a:r>
            <a:endParaRPr lang="en-US" sz="950" dirty="0"/>
          </a:p>
        </p:txBody>
      </p:sp>
      <p:sp>
        <p:nvSpPr>
          <p:cNvPr id="13" name="Text 11"/>
          <p:cNvSpPr/>
          <p:nvPr/>
        </p:nvSpPr>
        <p:spPr>
          <a:xfrm>
            <a:off x="9230320" y="2179836"/>
            <a:ext cx="2082536" cy="194270"/>
          </a:xfrm>
          <a:prstGeom prst="rect">
            <a:avLst/>
          </a:prstGeom>
          <a:noFill/>
          <a:ln/>
        </p:spPr>
        <p:txBody>
          <a:bodyPr wrap="square" lIns="0" tIns="0" rIns="0" bIns="0" rtlCol="0" anchor="t">
            <a:normAutofit/>
          </a:bodyPr>
          <a:lstStyle/>
          <a:p>
            <a:pPr algn="l"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Verify on rig</a:t>
            </a:r>
            <a:endParaRPr lang="en-US" sz="950" dirty="0"/>
          </a:p>
        </p:txBody>
      </p:sp>
      <p:sp>
        <p:nvSpPr>
          <p:cNvPr id="14" name="Shape 12"/>
          <p:cNvSpPr/>
          <p:nvPr/>
        </p:nvSpPr>
        <p:spPr>
          <a:xfrm>
            <a:off x="812800" y="2534741"/>
            <a:ext cx="10566400" cy="346670"/>
          </a:xfrm>
          <a:prstGeom prst="rect">
            <a:avLst/>
          </a:prstGeom>
          <a:solidFill>
            <a:srgbClr val="ECE7E2"/>
          </a:solidFill>
          <a:ln/>
        </p:spPr>
      </p:sp>
      <p:sp>
        <p:nvSpPr>
          <p:cNvPr id="15" name="Text 13"/>
          <p:cNvSpPr/>
          <p:nvPr/>
        </p:nvSpPr>
        <p:spPr>
          <a:xfrm>
            <a:off x="939800" y="2623641"/>
            <a:ext cx="2290708" cy="194270"/>
          </a:xfrm>
          <a:prstGeom prst="rect">
            <a:avLst/>
          </a:prstGeom>
          <a:noFill/>
          <a:ln/>
        </p:spPr>
        <p:txBody>
          <a:bodyPr wrap="square" lIns="0" tIns="0" rIns="0" bIns="0" rtlCol="0" anchor="t">
            <a:normAutofit/>
          </a:bodyPr>
          <a:lstStyle/>
          <a:p>
            <a:pPr algn="l" indent="0" marL="0">
              <a:lnSpc>
                <a:spcPts val="1330"/>
              </a:lnSpc>
              <a:buNone/>
            </a:pPr>
            <a:r>
              <a:rPr lang="en-US" sz="950" b="1" dirty="0">
                <a:solidFill>
                  <a:srgbClr val="232323"/>
                </a:solidFill>
                <a:latin typeface="Nunito Sans" pitchFamily="34" charset="0"/>
                <a:ea typeface="Nunito Sans" pitchFamily="34" charset="-122"/>
                <a:cs typeface="Nunito Sans" pitchFamily="34" charset="-120"/>
              </a:rPr>
              <a:t>Wrong MIN/MAX angles</a:t>
            </a:r>
            <a:endParaRPr lang="en-US" sz="950" dirty="0"/>
          </a:p>
        </p:txBody>
      </p:sp>
      <p:sp>
        <p:nvSpPr>
          <p:cNvPr id="16" name="Text 14"/>
          <p:cNvSpPr/>
          <p:nvPr/>
        </p:nvSpPr>
        <p:spPr>
          <a:xfrm>
            <a:off x="3265388" y="2623641"/>
            <a:ext cx="6039232" cy="194270"/>
          </a:xfrm>
          <a:prstGeom prst="rect">
            <a:avLst/>
          </a:prstGeom>
          <a:noFill/>
          <a:ln/>
        </p:spPr>
        <p:txBody>
          <a:bodyPr wrap="square" lIns="0" tIns="0" rIns="0" bIns="0" rtlCol="0" anchor="t">
            <a:normAutofit/>
          </a:bodyPr>
          <a:lstStyle/>
          <a:p>
            <a:pPr algn="l"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Fix: measured on the rig, direction flags set, static_assert added.</a:t>
            </a:r>
            <a:endParaRPr lang="en-US" sz="950" dirty="0"/>
          </a:p>
        </p:txBody>
      </p:sp>
      <p:sp>
        <p:nvSpPr>
          <p:cNvPr id="17" name="Text 15"/>
          <p:cNvSpPr/>
          <p:nvPr/>
        </p:nvSpPr>
        <p:spPr>
          <a:xfrm>
            <a:off x="9230320" y="2623641"/>
            <a:ext cx="2082536" cy="194270"/>
          </a:xfrm>
          <a:prstGeom prst="rect">
            <a:avLst/>
          </a:prstGeom>
          <a:noFill/>
          <a:ln/>
        </p:spPr>
        <p:txBody>
          <a:bodyPr wrap="square" lIns="0" tIns="0" rIns="0" bIns="0" rtlCol="0" anchor="t">
            <a:normAutofit/>
          </a:bodyPr>
          <a:lstStyle/>
          <a:p>
            <a:pPr algn="l"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Add measured limits</a:t>
            </a:r>
            <a:endParaRPr lang="en-US" sz="950" dirty="0"/>
          </a:p>
        </p:txBody>
      </p:sp>
      <p:sp>
        <p:nvSpPr>
          <p:cNvPr id="18" name="Shape 16"/>
          <p:cNvSpPr/>
          <p:nvPr/>
        </p:nvSpPr>
        <p:spPr>
          <a:xfrm>
            <a:off x="812800" y="2894112"/>
            <a:ext cx="10566400" cy="413941"/>
          </a:xfrm>
          <a:prstGeom prst="rect">
            <a:avLst/>
          </a:prstGeom>
          <a:solidFill>
            <a:srgbClr val="FFFFFF"/>
          </a:solidFill>
          <a:ln/>
        </p:spPr>
      </p:sp>
      <p:sp>
        <p:nvSpPr>
          <p:cNvPr id="19" name="Text 17"/>
          <p:cNvSpPr/>
          <p:nvPr/>
        </p:nvSpPr>
        <p:spPr>
          <a:xfrm>
            <a:off x="939800" y="3016647"/>
            <a:ext cx="2290708" cy="194270"/>
          </a:xfrm>
          <a:prstGeom prst="rect">
            <a:avLst/>
          </a:prstGeom>
          <a:noFill/>
          <a:ln/>
        </p:spPr>
        <p:txBody>
          <a:bodyPr wrap="square" lIns="0" tIns="0" rIns="0" bIns="0" rtlCol="0" anchor="t">
            <a:normAutofit/>
          </a:bodyPr>
          <a:lstStyle/>
          <a:p>
            <a:pPr algn="l" indent="0" marL="0">
              <a:lnSpc>
                <a:spcPts val="1330"/>
              </a:lnSpc>
              <a:buNone/>
            </a:pPr>
            <a:r>
              <a:rPr lang="en-US" sz="950" b="1" dirty="0">
                <a:solidFill>
                  <a:srgbClr val="232323"/>
                </a:solidFill>
                <a:latin typeface="Nunito Sans" pitchFamily="34" charset="0"/>
                <a:ea typeface="Nunito Sans" pitchFamily="34" charset="-122"/>
                <a:cs typeface="Nunito Sans" pitchFamily="34" charset="-120"/>
              </a:rPr>
              <a:t>Laser blinks at startup</a:t>
            </a:r>
            <a:endParaRPr lang="en-US" sz="950" dirty="0"/>
          </a:p>
        </p:txBody>
      </p:sp>
      <p:sp>
        <p:nvSpPr>
          <p:cNvPr id="20" name="Shape 18"/>
          <p:cNvSpPr/>
          <p:nvPr/>
        </p:nvSpPr>
        <p:spPr>
          <a:xfrm>
            <a:off x="3265388" y="2983012"/>
            <a:ext cx="1157684" cy="236141"/>
          </a:xfrm>
          <a:prstGeom prst="roundRect">
            <a:avLst>
              <a:gd name="adj" fmla="val 37647"/>
            </a:avLst>
          </a:prstGeom>
          <a:solidFill>
            <a:srgbClr val="FCF2B5"/>
          </a:solidFill>
          <a:ln/>
        </p:spPr>
      </p:sp>
      <p:sp>
        <p:nvSpPr>
          <p:cNvPr id="21" name="Text 19"/>
          <p:cNvSpPr/>
          <p:nvPr/>
        </p:nvSpPr>
        <p:spPr>
          <a:xfrm>
            <a:off x="3366988" y="3021112"/>
            <a:ext cx="1005284" cy="185341"/>
          </a:xfrm>
          <a:prstGeom prst="rect">
            <a:avLst/>
          </a:prstGeom>
          <a:noFill/>
          <a:ln/>
        </p:spPr>
        <p:txBody>
          <a:bodyPr wrap="square" lIns="0" tIns="0" rIns="0" bIns="0" rtlCol="0" anchor="t">
            <a:normAutofit/>
          </a:bodyPr>
          <a:lstStyle/>
          <a:p>
            <a:pPr algn="l" indent="0" marL="0">
              <a:lnSpc>
                <a:spcPts val="1260"/>
              </a:lnSpc>
              <a:buNone/>
            </a:pPr>
            <a:r>
              <a:rPr lang="en-US" sz="900" b="1" dirty="0">
                <a:solidFill>
                  <a:srgbClr val="232323"/>
                </a:solidFill>
                <a:latin typeface="Nunito Sans" pitchFamily="34" charset="0"/>
                <a:ea typeface="Nunito Sans" pitchFamily="34" charset="-122"/>
                <a:cs typeface="Nunito Sans" pitchFamily="34" charset="-120"/>
              </a:rPr>
              <a:t>TODO: cause + fix</a:t>
            </a:r>
            <a:endParaRPr lang="en-US" sz="900" dirty="0"/>
          </a:p>
        </p:txBody>
      </p:sp>
      <p:sp>
        <p:nvSpPr>
          <p:cNvPr id="22" name="Shape 20"/>
          <p:cNvSpPr/>
          <p:nvPr/>
        </p:nvSpPr>
        <p:spPr>
          <a:xfrm>
            <a:off x="9230320" y="2983012"/>
            <a:ext cx="535880" cy="236141"/>
          </a:xfrm>
          <a:prstGeom prst="roundRect">
            <a:avLst>
              <a:gd name="adj" fmla="val 37647"/>
            </a:avLst>
          </a:prstGeom>
          <a:solidFill>
            <a:srgbClr val="FCF2B5"/>
          </a:solidFill>
          <a:ln/>
        </p:spPr>
      </p:sp>
      <p:sp>
        <p:nvSpPr>
          <p:cNvPr id="23" name="Text 21"/>
          <p:cNvSpPr/>
          <p:nvPr/>
        </p:nvSpPr>
        <p:spPr>
          <a:xfrm>
            <a:off x="9331920" y="3021112"/>
            <a:ext cx="383480" cy="185341"/>
          </a:xfrm>
          <a:prstGeom prst="rect">
            <a:avLst/>
          </a:prstGeom>
          <a:noFill/>
          <a:ln/>
        </p:spPr>
        <p:txBody>
          <a:bodyPr wrap="square" lIns="0" tIns="0" rIns="0" bIns="0" rtlCol="0" anchor="t">
            <a:normAutofit/>
          </a:bodyPr>
          <a:lstStyle/>
          <a:p>
            <a:pPr algn="l" indent="0" marL="0">
              <a:lnSpc>
                <a:spcPts val="1260"/>
              </a:lnSpc>
              <a:buNone/>
            </a:pPr>
            <a:r>
              <a:rPr lang="en-US" sz="900" b="1" dirty="0">
                <a:solidFill>
                  <a:srgbClr val="232323"/>
                </a:solidFill>
                <a:latin typeface="Nunito Sans" pitchFamily="34" charset="0"/>
                <a:ea typeface="Nunito Sans" pitchFamily="34" charset="-122"/>
                <a:cs typeface="Nunito Sans" pitchFamily="34" charset="-120"/>
              </a:rPr>
              <a:t>TODO</a:t>
            </a:r>
            <a:endParaRPr lang="en-US" sz="900" dirty="0"/>
          </a:p>
        </p:txBody>
      </p:sp>
      <p:sp>
        <p:nvSpPr>
          <p:cNvPr id="24" name="Shape 22"/>
          <p:cNvSpPr/>
          <p:nvPr/>
        </p:nvSpPr>
        <p:spPr>
          <a:xfrm>
            <a:off x="812800" y="3320752"/>
            <a:ext cx="10566400" cy="413941"/>
          </a:xfrm>
          <a:prstGeom prst="rect">
            <a:avLst/>
          </a:prstGeom>
          <a:solidFill>
            <a:srgbClr val="ECE7E2"/>
          </a:solidFill>
          <a:ln/>
        </p:spPr>
      </p:sp>
      <p:sp>
        <p:nvSpPr>
          <p:cNvPr id="25" name="Text 23"/>
          <p:cNvSpPr/>
          <p:nvPr/>
        </p:nvSpPr>
        <p:spPr>
          <a:xfrm>
            <a:off x="939800" y="3443288"/>
            <a:ext cx="2290708" cy="194270"/>
          </a:xfrm>
          <a:prstGeom prst="rect">
            <a:avLst/>
          </a:prstGeom>
          <a:noFill/>
          <a:ln/>
        </p:spPr>
        <p:txBody>
          <a:bodyPr wrap="square" lIns="0" tIns="0" rIns="0" bIns="0" rtlCol="0" anchor="t">
            <a:normAutofit/>
          </a:bodyPr>
          <a:lstStyle/>
          <a:p>
            <a:pPr algn="l" indent="0" marL="0">
              <a:lnSpc>
                <a:spcPts val="1330"/>
              </a:lnSpc>
              <a:buNone/>
            </a:pPr>
            <a:r>
              <a:rPr lang="en-US" sz="950" b="1" dirty="0">
                <a:solidFill>
                  <a:srgbClr val="232323"/>
                </a:solidFill>
                <a:latin typeface="Nunito Sans" pitchFamily="34" charset="0"/>
                <a:ea typeface="Nunito Sans" pitchFamily="34" charset="-122"/>
                <a:cs typeface="Nunito Sans" pitchFamily="34" charset="-120"/>
              </a:rPr>
              <a:t>Data stops when PC window is resized</a:t>
            </a:r>
            <a:endParaRPr lang="en-US" sz="950" dirty="0"/>
          </a:p>
        </p:txBody>
      </p:sp>
      <p:sp>
        <p:nvSpPr>
          <p:cNvPr id="26" name="Shape 24"/>
          <p:cNvSpPr/>
          <p:nvPr/>
        </p:nvSpPr>
        <p:spPr>
          <a:xfrm>
            <a:off x="3265388" y="3409652"/>
            <a:ext cx="1157684" cy="236141"/>
          </a:xfrm>
          <a:prstGeom prst="roundRect">
            <a:avLst>
              <a:gd name="adj" fmla="val 37647"/>
            </a:avLst>
          </a:prstGeom>
          <a:solidFill>
            <a:srgbClr val="FCF2B5"/>
          </a:solidFill>
          <a:ln/>
        </p:spPr>
      </p:sp>
      <p:sp>
        <p:nvSpPr>
          <p:cNvPr id="27" name="Text 25"/>
          <p:cNvSpPr/>
          <p:nvPr/>
        </p:nvSpPr>
        <p:spPr>
          <a:xfrm>
            <a:off x="3366988" y="3447752"/>
            <a:ext cx="1005284" cy="185341"/>
          </a:xfrm>
          <a:prstGeom prst="rect">
            <a:avLst/>
          </a:prstGeom>
          <a:noFill/>
          <a:ln/>
        </p:spPr>
        <p:txBody>
          <a:bodyPr wrap="square" lIns="0" tIns="0" rIns="0" bIns="0" rtlCol="0" anchor="t">
            <a:normAutofit/>
          </a:bodyPr>
          <a:lstStyle/>
          <a:p>
            <a:pPr algn="l" indent="0" marL="0">
              <a:lnSpc>
                <a:spcPts val="1260"/>
              </a:lnSpc>
              <a:buNone/>
            </a:pPr>
            <a:r>
              <a:rPr lang="en-US" sz="900" b="1" dirty="0">
                <a:solidFill>
                  <a:srgbClr val="232323"/>
                </a:solidFill>
                <a:latin typeface="Nunito Sans" pitchFamily="34" charset="0"/>
                <a:ea typeface="Nunito Sans" pitchFamily="34" charset="-122"/>
                <a:cs typeface="Nunito Sans" pitchFamily="34" charset="-120"/>
              </a:rPr>
              <a:t>TODO: cause + fix</a:t>
            </a:r>
            <a:endParaRPr lang="en-US" sz="900" dirty="0"/>
          </a:p>
        </p:txBody>
      </p:sp>
      <p:sp>
        <p:nvSpPr>
          <p:cNvPr id="28" name="Shape 26"/>
          <p:cNvSpPr/>
          <p:nvPr/>
        </p:nvSpPr>
        <p:spPr>
          <a:xfrm>
            <a:off x="9230320" y="3409652"/>
            <a:ext cx="535880" cy="236141"/>
          </a:xfrm>
          <a:prstGeom prst="roundRect">
            <a:avLst>
              <a:gd name="adj" fmla="val 37647"/>
            </a:avLst>
          </a:prstGeom>
          <a:solidFill>
            <a:srgbClr val="FCF2B5"/>
          </a:solidFill>
          <a:ln/>
        </p:spPr>
      </p:sp>
      <p:sp>
        <p:nvSpPr>
          <p:cNvPr id="29" name="Text 27"/>
          <p:cNvSpPr/>
          <p:nvPr/>
        </p:nvSpPr>
        <p:spPr>
          <a:xfrm>
            <a:off x="9331920" y="3447752"/>
            <a:ext cx="383480" cy="185341"/>
          </a:xfrm>
          <a:prstGeom prst="rect">
            <a:avLst/>
          </a:prstGeom>
          <a:noFill/>
          <a:ln/>
        </p:spPr>
        <p:txBody>
          <a:bodyPr wrap="square" lIns="0" tIns="0" rIns="0" bIns="0" rtlCol="0" anchor="t">
            <a:normAutofit/>
          </a:bodyPr>
          <a:lstStyle/>
          <a:p>
            <a:pPr algn="l" indent="0" marL="0">
              <a:lnSpc>
                <a:spcPts val="1260"/>
              </a:lnSpc>
              <a:buNone/>
            </a:pPr>
            <a:r>
              <a:rPr lang="en-US" sz="900" b="1" dirty="0">
                <a:solidFill>
                  <a:srgbClr val="232323"/>
                </a:solidFill>
                <a:latin typeface="Nunito Sans" pitchFamily="34" charset="0"/>
                <a:ea typeface="Nunito Sans" pitchFamily="34" charset="-122"/>
                <a:cs typeface="Nunito Sans" pitchFamily="34" charset="-120"/>
              </a:rPr>
              <a:t>TODO</a:t>
            </a:r>
            <a:endParaRPr lang="en-US" sz="900" dirty="0"/>
          </a:p>
        </p:txBody>
      </p:sp>
      <p:sp>
        <p:nvSpPr>
          <p:cNvPr id="30" name="Shape 28"/>
          <p:cNvSpPr/>
          <p:nvPr/>
        </p:nvSpPr>
        <p:spPr>
          <a:xfrm>
            <a:off x="812800" y="3747393"/>
            <a:ext cx="10566400" cy="515541"/>
          </a:xfrm>
          <a:prstGeom prst="roundRect">
            <a:avLst>
              <a:gd name="adj" fmla="val 14781"/>
            </a:avLst>
          </a:prstGeom>
          <a:solidFill>
            <a:srgbClr val="FFFFFF"/>
          </a:solidFill>
          <a:ln/>
        </p:spPr>
      </p:sp>
      <p:sp>
        <p:nvSpPr>
          <p:cNvPr id="31" name="Text 29"/>
          <p:cNvSpPr/>
          <p:nvPr/>
        </p:nvSpPr>
        <p:spPr>
          <a:xfrm>
            <a:off x="939800" y="3836293"/>
            <a:ext cx="2290708" cy="363141"/>
          </a:xfrm>
          <a:prstGeom prst="rect">
            <a:avLst/>
          </a:prstGeom>
          <a:noFill/>
          <a:ln/>
        </p:spPr>
        <p:txBody>
          <a:bodyPr wrap="square" lIns="0" tIns="0" rIns="0" bIns="0" rtlCol="0" anchor="t">
            <a:normAutofit/>
          </a:bodyPr>
          <a:lstStyle/>
          <a:p>
            <a:pPr algn="l" indent="0" marL="0">
              <a:lnSpc>
                <a:spcPts val="1330"/>
              </a:lnSpc>
              <a:buNone/>
            </a:pPr>
            <a:r>
              <a:rPr lang="en-US" sz="950" b="1" dirty="0">
                <a:solidFill>
                  <a:srgbClr val="232323"/>
                </a:solidFill>
                <a:latin typeface="Nunito Sans" pitchFamily="34" charset="0"/>
                <a:ea typeface="Nunito Sans" pitchFamily="34" charset="-122"/>
                <a:cs typeface="Nunito Sans" pitchFamily="34" charset="-120"/>
              </a:rPr>
              <a:t>ESP32 resets when PC disconnects UART0</a:t>
            </a:r>
            <a:endParaRPr lang="en-US" sz="950" dirty="0"/>
          </a:p>
        </p:txBody>
      </p:sp>
      <p:sp>
        <p:nvSpPr>
          <p:cNvPr id="32" name="Text 30"/>
          <p:cNvSpPr/>
          <p:nvPr/>
        </p:nvSpPr>
        <p:spPr>
          <a:xfrm>
            <a:off x="3265388" y="3920728"/>
            <a:ext cx="6039232" cy="194270"/>
          </a:xfrm>
          <a:prstGeom prst="rect">
            <a:avLst/>
          </a:prstGeom>
          <a:noFill/>
          <a:ln/>
        </p:spPr>
        <p:txBody>
          <a:bodyPr wrap="square" lIns="0" tIns="0" rIns="0" bIns="0" rtlCol="0" anchor="t">
            <a:normAutofit/>
          </a:bodyPr>
          <a:lstStyle/>
          <a:p>
            <a:pPr algn="l"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Cause: DTR/RTS pulses the EN pin. Fix: serial_link.py forces dtr=False, rts=False.</a:t>
            </a:r>
            <a:endParaRPr lang="en-US" sz="950" dirty="0"/>
          </a:p>
        </p:txBody>
      </p:sp>
      <p:sp>
        <p:nvSpPr>
          <p:cNvPr id="33" name="Text 31"/>
          <p:cNvSpPr/>
          <p:nvPr/>
        </p:nvSpPr>
        <p:spPr>
          <a:xfrm>
            <a:off x="9230320" y="3920728"/>
            <a:ext cx="2082536" cy="194270"/>
          </a:xfrm>
          <a:prstGeom prst="rect">
            <a:avLst/>
          </a:prstGeom>
          <a:noFill/>
          <a:ln/>
        </p:spPr>
        <p:txBody>
          <a:bodyPr wrap="square" lIns="0" tIns="0" rIns="0" bIns="0" rtlCol="0" anchor="t">
            <a:normAutofit/>
          </a:bodyPr>
          <a:lstStyle/>
          <a:p>
            <a:pPr algn="l" indent="0" marL="0">
              <a:lnSpc>
                <a:spcPts val="1330"/>
              </a:lnSpc>
              <a:buNone/>
            </a:pPr>
            <a:r>
              <a:rPr lang="en-US" sz="950" dirty="0">
                <a:solidFill>
                  <a:srgbClr val="414C58"/>
                </a:solidFill>
                <a:latin typeface="Nunito Sans" pitchFamily="34" charset="0"/>
                <a:ea typeface="Nunito Sans" pitchFamily="34" charset="-122"/>
                <a:cs typeface="Nunito Sans" pitchFamily="34" charset="-120"/>
              </a:rPr>
              <a:t>Confirm</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6F5"/>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11</a:t>
            </a:r>
            <a:endParaRPr lang="en-US" sz="5600" dirty="0"/>
          </a:p>
        </p:txBody>
      </p:sp>
      <p:sp>
        <p:nvSpPr>
          <p:cNvPr id="3" name="Shape 1"/>
          <p:cNvSpPr/>
          <p:nvPr/>
        </p:nvSpPr>
        <p:spPr>
          <a:xfrm>
            <a:off x="812800" y="812800"/>
            <a:ext cx="1950145" cy="340320"/>
          </a:xfrm>
          <a:prstGeom prst="roundRect">
            <a:avLst>
              <a:gd name="adj" fmla="val 37318"/>
            </a:avLst>
          </a:prstGeom>
          <a:solidFill>
            <a:srgbClr val="DAE5F1"/>
          </a:solidFill>
          <a:ln/>
        </p:spPr>
      </p:sp>
      <p:sp>
        <p:nvSpPr>
          <p:cNvPr id="4" name="Text 2"/>
          <p:cNvSpPr/>
          <p:nvPr/>
        </p:nvSpPr>
        <p:spPr>
          <a:xfrm>
            <a:off x="952500" y="876300"/>
            <a:ext cx="172154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5 — RESULTS</a:t>
            </a:r>
            <a:endParaRPr lang="en-US" sz="1200" dirty="0"/>
          </a:p>
        </p:txBody>
      </p:sp>
      <p:sp>
        <p:nvSpPr>
          <p:cNvPr id="5" name="Text 3"/>
          <p:cNvSpPr/>
          <p:nvPr/>
        </p:nvSpPr>
        <p:spPr>
          <a:xfrm>
            <a:off x="812800" y="1330920"/>
            <a:ext cx="10883392" cy="332680"/>
          </a:xfrm>
          <a:prstGeom prst="rect">
            <a:avLst/>
          </a:prstGeom>
          <a:noFill/>
          <a:ln/>
        </p:spPr>
        <p:txBody>
          <a:bodyPr wrap="square" lIns="0" tIns="0" rIns="0" bIns="0" rtlCol="0" anchor="t">
            <a:normAutofit/>
          </a:bodyPr>
          <a:lstStyle/>
          <a:p>
            <a:pPr algn="l" indent="0" marL="0">
              <a:lnSpc>
                <a:spcPts val="2420"/>
              </a:lnSpc>
              <a:buNone/>
            </a:pPr>
            <a:r>
              <a:rPr lang="en-US" sz="2200" b="1" dirty="0">
                <a:solidFill>
                  <a:srgbClr val="232323"/>
                </a:solidFill>
                <a:latin typeface="Nunito Sans" pitchFamily="34" charset="0"/>
                <a:ea typeface="Nunito Sans" pitchFamily="34" charset="-122"/>
                <a:cs typeface="Nunito Sans" pitchFamily="34" charset="-120"/>
              </a:rPr>
              <a:t>Other problems from design</a:t>
            </a:r>
            <a:endParaRPr lang="en-US" sz="2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812800" y="1816001"/>
          <a:ext cx="10566400" cy="1915716"/>
        </p:xfrm>
        <a:graphic>
          <a:graphicData uri="http://schemas.openxmlformats.org/drawingml/2006/table">
            <a:tbl>
              <a:tblPr/>
              <a:tblGrid>
                <a:gridCol w="4649216"/>
                <a:gridCol w="5917184"/>
              </a:tblGrid>
              <a:tr h="319286">
                <a:tc>
                  <a:txBody>
                    <a:bodyPr/>
                    <a:lstStyle/>
                    <a:p>
                      <a:pPr indent="0" marL="0">
                        <a:lnSpc>
                          <a:spcPts val="1610"/>
                        </a:lnSpc>
                        <a:buNone/>
                      </a:pPr>
                      <a:r>
                        <a:rPr lang="en-US" sz="1150" b="1" dirty="0">
                          <a:solidFill>
                            <a:srgbClr val="232323"/>
                          </a:solidFill>
                          <a:latin typeface="Nunito Sans" pitchFamily="34" charset="0"/>
                          <a:ea typeface="Nunito Sans" pitchFamily="34" charset="-122"/>
                          <a:cs typeface="Nunito Sans" pitchFamily="34" charset="-120"/>
                        </a:rPr>
                        <a:t>Problem</a:t>
                      </a:r>
                      <a:endParaRPr lang="en-US" sz="1150" dirty="0">
                        <a:latin typeface="Nunito Sans" charset="0"/>
                        <a:ea typeface="Nunito Sans" charset="0"/>
                        <a:cs typeface="Nunito Sans" charset="0"/>
                      </a:endParaRPr>
                    </a:p>
                  </a:txBody>
                  <a:tcPr marL="51117" marR="51117" marT="51117" marB="51117"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C5D6E9"/>
                    </a:solidFill>
                  </a:tcPr>
                </a:tc>
                <a:tc>
                  <a:txBody>
                    <a:bodyPr/>
                    <a:lstStyle/>
                    <a:p>
                      <a:pPr indent="0" marL="0">
                        <a:lnSpc>
                          <a:spcPts val="1610"/>
                        </a:lnSpc>
                        <a:buNone/>
                      </a:pPr>
                      <a:r>
                        <a:rPr lang="en-US" sz="1150" b="1" dirty="0">
                          <a:solidFill>
                            <a:srgbClr val="232323"/>
                          </a:solidFill>
                          <a:latin typeface="Nunito Sans" pitchFamily="34" charset="0"/>
                          <a:ea typeface="Nunito Sans" pitchFamily="34" charset="-122"/>
                          <a:cs typeface="Nunito Sans" pitchFamily="34" charset="-120"/>
                        </a:rPr>
                        <a:t>What we did</a:t>
                      </a:r>
                      <a:endParaRPr lang="en-US" sz="1150" dirty="0">
                        <a:latin typeface="Nunito Sans" charset="0"/>
                        <a:ea typeface="Nunito Sans" charset="0"/>
                        <a:cs typeface="Nunito Sans" charset="0"/>
                      </a:endParaRPr>
                    </a:p>
                  </a:txBody>
                  <a:tcPr marL="51117" marR="51117" marT="51117" marB="51117"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C5D6E9"/>
                    </a:solidFill>
                  </a:tcPr>
                </a:tc>
              </a:tr>
              <a:tr h="319286">
                <a:tc>
                  <a:txBody>
                    <a:bodyPr/>
                    <a:lstStyle/>
                    <a:p>
                      <a:pPr indent="0" marL="0">
                        <a:lnSpc>
                          <a:spcPts val="1610"/>
                        </a:lnSpc>
                        <a:buNone/>
                      </a:pPr>
                      <a:r>
                        <a:rPr lang="en-US" sz="1150" dirty="0">
                          <a:solidFill>
                            <a:srgbClr val="232323"/>
                          </a:solidFill>
                          <a:latin typeface="Nunito Sans" pitchFamily="34" charset="0"/>
                          <a:ea typeface="Nunito Sans" pitchFamily="34" charset="-122"/>
                          <a:cs typeface="Nunito Sans" pitchFamily="34" charset="-120"/>
                        </a:rPr>
                        <a:t>Logs and data shared UART0; a line starting with "F" could fire</a:t>
                      </a:r>
                      <a:endParaRPr lang="en-US" sz="1150" dirty="0">
                        <a:latin typeface="Nunito Sans" charset="0"/>
                        <a:ea typeface="Nunito Sans" charset="0"/>
                        <a:cs typeface="Nunito Sans" charset="0"/>
                      </a:endParaRPr>
                    </a:p>
                  </a:txBody>
                  <a:tcPr marL="51117" marR="51117" marT="51117" marB="51117"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610"/>
                        </a:lnSpc>
                        <a:buNone/>
                      </a:pPr>
                      <a:r>
                        <a:rPr lang="en-US" sz="1150" dirty="0">
                          <a:solidFill>
                            <a:srgbClr val="232323"/>
                          </a:solidFill>
                          <a:latin typeface="Nunito Sans" pitchFamily="34" charset="0"/>
                          <a:ea typeface="Nunito Sans" pitchFamily="34" charset="-122"/>
                          <a:cs typeface="Nunito Sans" pitchFamily="34" charset="-120"/>
                        </a:rPr>
                        <a:t>Data moved to UART1. UART0 is console only. Fire command hardened</a:t>
                      </a:r>
                      <a:endParaRPr lang="en-US" sz="1150" dirty="0">
                        <a:latin typeface="Nunito Sans" charset="0"/>
                        <a:ea typeface="Nunito Sans" charset="0"/>
                        <a:cs typeface="Nunito Sans" charset="0"/>
                      </a:endParaRPr>
                    </a:p>
                  </a:txBody>
                  <a:tcPr marL="51117" marR="51117" marT="51117" marB="51117"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r>
              <a:tr h="319286">
                <a:tc>
                  <a:txBody>
                    <a:bodyPr/>
                    <a:lstStyle/>
                    <a:p>
                      <a:pPr indent="0" marL="0">
                        <a:lnSpc>
                          <a:spcPts val="1610"/>
                        </a:lnSpc>
                        <a:buNone/>
                      </a:pPr>
                      <a:r>
                        <a:rPr lang="en-US" sz="1150" dirty="0">
                          <a:solidFill>
                            <a:srgbClr val="232323"/>
                          </a:solidFill>
                          <a:latin typeface="Nunito Sans" pitchFamily="34" charset="0"/>
                          <a:ea typeface="Nunito Sans" pitchFamily="34" charset="-122"/>
                          <a:cs typeface="Nunito Sans" pitchFamily="34" charset="-120"/>
                        </a:rPr>
                        <a:t>Relay laser lit at power-on (pin floats)</a:t>
                      </a:r>
                      <a:endParaRPr lang="en-US" sz="1150" dirty="0">
                        <a:latin typeface="Nunito Sans" charset="0"/>
                        <a:ea typeface="Nunito Sans" charset="0"/>
                        <a:cs typeface="Nunito Sans" charset="0"/>
                      </a:endParaRPr>
                    </a:p>
                  </a:txBody>
                  <a:tcPr marL="51117" marR="51117" marT="51117" marB="51117"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c>
                  <a:txBody>
                    <a:bodyPr/>
                    <a:lstStyle/>
                    <a:p>
                      <a:pPr indent="0" marL="0">
                        <a:lnSpc>
                          <a:spcPts val="1610"/>
                        </a:lnSpc>
                        <a:buNone/>
                      </a:pPr>
                      <a:r>
                        <a:rPr lang="en-US" sz="1150" dirty="0">
                          <a:solidFill>
                            <a:srgbClr val="232323"/>
                          </a:solidFill>
                          <a:latin typeface="Nunito Sans" pitchFamily="34" charset="0"/>
                          <a:ea typeface="Nunito Sans" pitchFamily="34" charset="-122"/>
                          <a:cs typeface="Nunito Sans" pitchFamily="34" charset="-120"/>
                        </a:rPr>
                        <a:t>Set level before output, add pull-up</a:t>
                      </a:r>
                      <a:endParaRPr lang="en-US" sz="1150" dirty="0">
                        <a:latin typeface="Nunito Sans" charset="0"/>
                        <a:ea typeface="Nunito Sans" charset="0"/>
                        <a:cs typeface="Nunito Sans" charset="0"/>
                      </a:endParaRPr>
                    </a:p>
                  </a:txBody>
                  <a:tcPr marL="51117" marR="51117" marT="51117" marB="51117"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r>
              <a:tr h="319286">
                <a:tc>
                  <a:txBody>
                    <a:bodyPr/>
                    <a:lstStyle/>
                    <a:p>
                      <a:pPr indent="0" marL="0">
                        <a:lnSpc>
                          <a:spcPts val="1610"/>
                        </a:lnSpc>
                        <a:buNone/>
                      </a:pPr>
                      <a:r>
                        <a:rPr lang="en-US" sz="1150" dirty="0">
                          <a:solidFill>
                            <a:srgbClr val="232323"/>
                          </a:solidFill>
                          <a:latin typeface="Nunito Sans" pitchFamily="34" charset="0"/>
                          <a:ea typeface="Nunito Sans" pitchFamily="34" charset="-122"/>
                          <a:cs typeface="Nunito Sans" pitchFamily="34" charset="-120"/>
                        </a:rPr>
                        <a:t>SD card stalls a write for 100–250 ms</a:t>
                      </a:r>
                      <a:endParaRPr lang="en-US" sz="1150" dirty="0">
                        <a:latin typeface="Nunito Sans" charset="0"/>
                        <a:ea typeface="Nunito Sans" charset="0"/>
                        <a:cs typeface="Nunito Sans" charset="0"/>
                      </a:endParaRPr>
                    </a:p>
                  </a:txBody>
                  <a:tcPr marL="51117" marR="51117" marT="51117" marB="51117"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610"/>
                        </a:lnSpc>
                        <a:buNone/>
                      </a:pPr>
                      <a:r>
                        <a:rPr lang="en-US" sz="1150" dirty="0">
                          <a:solidFill>
                            <a:srgbClr val="232323"/>
                          </a:solidFill>
                          <a:latin typeface="Nunito Sans" pitchFamily="34" charset="0"/>
                          <a:ea typeface="Nunito Sans" pitchFamily="34" charset="-122"/>
                          <a:cs typeface="Nunito Sans" pitchFamily="34" charset="-120"/>
                        </a:rPr>
                        <a:t>Separate low-priority logger task, queue drops oldest</a:t>
                      </a:r>
                      <a:endParaRPr lang="en-US" sz="1150" dirty="0">
                        <a:latin typeface="Nunito Sans" charset="0"/>
                        <a:ea typeface="Nunito Sans" charset="0"/>
                        <a:cs typeface="Nunito Sans" charset="0"/>
                      </a:endParaRPr>
                    </a:p>
                  </a:txBody>
                  <a:tcPr marL="51117" marR="51117" marT="51117" marB="51117"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r>
              <a:tr h="319286">
                <a:tc>
                  <a:txBody>
                    <a:bodyPr/>
                    <a:lstStyle/>
                    <a:p>
                      <a:pPr indent="0" marL="0">
                        <a:lnSpc>
                          <a:spcPts val="1610"/>
                        </a:lnSpc>
                        <a:buNone/>
                      </a:pPr>
                      <a:r>
                        <a:rPr lang="en-US" sz="1150" dirty="0">
                          <a:solidFill>
                            <a:srgbClr val="232323"/>
                          </a:solidFill>
                          <a:latin typeface="Nunito Sans" pitchFamily="34" charset="0"/>
                          <a:ea typeface="Nunito Sans" pitchFamily="34" charset="-122"/>
                          <a:cs typeface="Nunito Sans" pitchFamily="34" charset="-120"/>
                        </a:rPr>
                        <a:t>Camera delay limits gain</a:t>
                      </a:r>
                      <a:endParaRPr lang="en-US" sz="1150" dirty="0">
                        <a:latin typeface="Nunito Sans" charset="0"/>
                        <a:ea typeface="Nunito Sans" charset="0"/>
                        <a:cs typeface="Nunito Sans" charset="0"/>
                      </a:endParaRPr>
                    </a:p>
                  </a:txBody>
                  <a:tcPr marL="51117" marR="51117" marT="51117" marB="51117"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c>
                  <a:txBody>
                    <a:bodyPr/>
                    <a:lstStyle/>
                    <a:p>
                      <a:pPr indent="0" marL="0">
                        <a:lnSpc>
                          <a:spcPts val="1610"/>
                        </a:lnSpc>
                        <a:buNone/>
                      </a:pPr>
                      <a:r>
                        <a:rPr lang="en-US" sz="1150" dirty="0">
                          <a:solidFill>
                            <a:srgbClr val="232323"/>
                          </a:solidFill>
                          <a:latin typeface="Nunito Sans" pitchFamily="34" charset="0"/>
                          <a:ea typeface="Nunito Sans" pitchFamily="34" charset="-122"/>
                          <a:cs typeface="Nunito Sans" pitchFamily="34" charset="-120"/>
                        </a:rPr>
                        <a:t>Low gains, velocity control, repeatable-nudge tuning</a:t>
                      </a:r>
                      <a:endParaRPr lang="en-US" sz="1150" dirty="0">
                        <a:latin typeface="Nunito Sans" charset="0"/>
                        <a:ea typeface="Nunito Sans" charset="0"/>
                        <a:cs typeface="Nunito Sans" charset="0"/>
                      </a:endParaRPr>
                    </a:p>
                  </a:txBody>
                  <a:tcPr marL="51117" marR="51117" marT="51117" marB="51117"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ECE7E2"/>
                    </a:solidFill>
                  </a:tcPr>
                </a:tc>
              </a:tr>
              <a:tr h="319286">
                <a:tc>
                  <a:txBody>
                    <a:bodyPr/>
                    <a:lstStyle/>
                    <a:p>
                      <a:pPr indent="0" marL="0">
                        <a:lnSpc>
                          <a:spcPts val="1610"/>
                        </a:lnSpc>
                        <a:buNone/>
                      </a:pPr>
                      <a:r>
                        <a:rPr lang="en-US" sz="1150" dirty="0">
                          <a:solidFill>
                            <a:srgbClr val="232323"/>
                          </a:solidFill>
                          <a:latin typeface="Nunito Sans" pitchFamily="34" charset="0"/>
                          <a:ea typeface="Nunito Sans" pitchFamily="34" charset="-122"/>
                          <a:cs typeface="Nunito Sans" pitchFamily="34" charset="-120"/>
                        </a:rPr>
                        <a:t>Servo deadband and backlash</a:t>
                      </a:r>
                      <a:endParaRPr lang="en-US" sz="1150" dirty="0">
                        <a:latin typeface="Nunito Sans" charset="0"/>
                        <a:ea typeface="Nunito Sans" charset="0"/>
                        <a:cs typeface="Nunito Sans" charset="0"/>
                      </a:endParaRPr>
                    </a:p>
                  </a:txBody>
                  <a:tcPr marL="51117" marR="51117" marT="51117" marB="51117"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c>
                  <a:txBody>
                    <a:bodyPr/>
                    <a:lstStyle/>
                    <a:p>
                      <a:pPr indent="0" marL="0">
                        <a:lnSpc>
                          <a:spcPts val="1610"/>
                        </a:lnSpc>
                        <a:buNone/>
                      </a:pPr>
                      <a:r>
                        <a:rPr lang="en-US" sz="1150" dirty="0">
                          <a:solidFill>
                            <a:srgbClr val="232323"/>
                          </a:solidFill>
                          <a:latin typeface="Nunito Sans" pitchFamily="34" charset="0"/>
                          <a:ea typeface="Nunito Sans" pitchFamily="34" charset="-122"/>
                          <a:cs typeface="Nunito Sans" pitchFamily="34" charset="-120"/>
                        </a:rPr>
                        <a:t>Camera feedback corrects them</a:t>
                      </a:r>
                      <a:endParaRPr lang="en-US" sz="1150" dirty="0">
                        <a:latin typeface="Nunito Sans" charset="0"/>
                        <a:ea typeface="Nunito Sans" charset="0"/>
                        <a:cs typeface="Nunito Sans" charset="0"/>
                      </a:endParaRPr>
                    </a:p>
                  </a:txBody>
                  <a:tcPr marL="51117" marR="51117" marT="51117" marB="51117" anchor="t">
                    <a:lnL w="12700" cap="flat" cmpd="sng" algn="ctr">
                      <a:solidFill>
                        <a:srgbClr val="C8C8C7"/>
                      </a:solidFill>
                      <a:prstDash val="solid"/>
                      <a:round/>
                      <a:headEnd type="none" w="med" len="med"/>
                      <a:tailEnd type="none" w="med" len="med"/>
                    </a:lnL>
                    <a:lnR w="12700" cap="flat" cmpd="sng" algn="ctr">
                      <a:solidFill>
                        <a:srgbClr val="C8C8C7"/>
                      </a:solidFill>
                      <a:prstDash val="solid"/>
                      <a:round/>
                      <a:headEnd type="none" w="med" len="med"/>
                      <a:tailEnd type="none" w="med" len="med"/>
                    </a:lnR>
                    <a:lnT w="12700" cap="flat" cmpd="sng" algn="ctr">
                      <a:solidFill>
                        <a:srgbClr val="C8C8C7"/>
                      </a:solidFill>
                      <a:prstDash val="solid"/>
                      <a:round/>
                      <a:headEnd type="none" w="med" len="med"/>
                      <a:tailEnd type="none" w="med" len="med"/>
                    </a:lnT>
                    <a:lnB w="12700" cap="flat" cmpd="sng" algn="ctr">
                      <a:solidFill>
                        <a:srgbClr val="C8C8C7"/>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6F5"/>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12</a:t>
            </a:r>
            <a:endParaRPr lang="en-US" sz="5600" dirty="0"/>
          </a:p>
        </p:txBody>
      </p:sp>
      <p:sp>
        <p:nvSpPr>
          <p:cNvPr id="3" name="Shape 1"/>
          <p:cNvSpPr/>
          <p:nvPr/>
        </p:nvSpPr>
        <p:spPr>
          <a:xfrm>
            <a:off x="812800" y="812800"/>
            <a:ext cx="1950145" cy="340320"/>
          </a:xfrm>
          <a:prstGeom prst="roundRect">
            <a:avLst>
              <a:gd name="adj" fmla="val 37318"/>
            </a:avLst>
          </a:prstGeom>
          <a:solidFill>
            <a:srgbClr val="DAE5F1"/>
          </a:solidFill>
          <a:ln/>
        </p:spPr>
      </p:sp>
      <p:sp>
        <p:nvSpPr>
          <p:cNvPr id="4" name="Text 2"/>
          <p:cNvSpPr/>
          <p:nvPr/>
        </p:nvSpPr>
        <p:spPr>
          <a:xfrm>
            <a:off x="952500" y="876300"/>
            <a:ext cx="172154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5 — RESULTS</a:t>
            </a:r>
            <a:endParaRPr lang="en-US" sz="1200" dirty="0"/>
          </a:p>
        </p:txBody>
      </p:sp>
      <p:sp>
        <p:nvSpPr>
          <p:cNvPr id="5" name="Text 3"/>
          <p:cNvSpPr/>
          <p:nvPr/>
        </p:nvSpPr>
        <p:spPr>
          <a:xfrm>
            <a:off x="812800" y="1280120"/>
            <a:ext cx="10883392"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232323"/>
                </a:solidFill>
                <a:latin typeface="Nunito Sans" pitchFamily="34" charset="0"/>
                <a:ea typeface="Nunito Sans" pitchFamily="34" charset="-122"/>
                <a:cs typeface="Nunito Sans" pitchFamily="34" charset="-120"/>
              </a:rPr>
              <a:t>Open issues</a:t>
            </a:r>
            <a:endParaRPr lang="en-US" sz="2400" dirty="0"/>
          </a:p>
        </p:txBody>
      </p:sp>
      <p:sp>
        <p:nvSpPr>
          <p:cNvPr id="6" name="Shape 4"/>
          <p:cNvSpPr/>
          <p:nvPr/>
        </p:nvSpPr>
        <p:spPr>
          <a:xfrm>
            <a:off x="812800" y="1742380"/>
            <a:ext cx="10566400" cy="398760"/>
          </a:xfrm>
          <a:prstGeom prst="roundRect">
            <a:avLst>
              <a:gd name="adj" fmla="val 19109"/>
            </a:avLst>
          </a:prstGeom>
          <a:solidFill>
            <a:srgbClr val="C5D6E9"/>
          </a:solidFill>
          <a:ln/>
        </p:spPr>
      </p:sp>
      <p:sp>
        <p:nvSpPr>
          <p:cNvPr id="7" name="Text 5"/>
          <p:cNvSpPr/>
          <p:nvPr/>
        </p:nvSpPr>
        <p:spPr>
          <a:xfrm>
            <a:off x="952500" y="1843980"/>
            <a:ext cx="4185920"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Issue</a:t>
            </a:r>
            <a:endParaRPr lang="en-US" sz="1100" dirty="0"/>
          </a:p>
        </p:txBody>
      </p:sp>
      <p:sp>
        <p:nvSpPr>
          <p:cNvPr id="8" name="Text 6"/>
          <p:cNvSpPr/>
          <p:nvPr/>
        </p:nvSpPr>
        <p:spPr>
          <a:xfrm>
            <a:off x="5143500" y="1843980"/>
            <a:ext cx="6278880"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State</a:t>
            </a:r>
            <a:endParaRPr lang="en-US" sz="1100" dirty="0"/>
          </a:p>
        </p:txBody>
      </p:sp>
      <p:sp>
        <p:nvSpPr>
          <p:cNvPr id="9" name="Shape 7"/>
          <p:cNvSpPr/>
          <p:nvPr/>
        </p:nvSpPr>
        <p:spPr>
          <a:xfrm>
            <a:off x="812800" y="2153841"/>
            <a:ext cx="10566400" cy="448270"/>
          </a:xfrm>
          <a:prstGeom prst="rect">
            <a:avLst/>
          </a:prstGeom>
          <a:solidFill>
            <a:srgbClr val="FFFFFF"/>
          </a:solidFill>
          <a:ln/>
        </p:spPr>
      </p:sp>
      <p:sp>
        <p:nvSpPr>
          <p:cNvPr id="10" name="Text 8"/>
          <p:cNvSpPr/>
          <p:nvPr/>
        </p:nvSpPr>
        <p:spPr>
          <a:xfrm>
            <a:off x="952500" y="2280146"/>
            <a:ext cx="418592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Relay power-on defect</a:t>
            </a:r>
            <a:endParaRPr lang="en-US" sz="1100" dirty="0"/>
          </a:p>
        </p:txBody>
      </p:sp>
      <p:sp>
        <p:nvSpPr>
          <p:cNvPr id="11" name="Text 9"/>
          <p:cNvSpPr/>
          <p:nvPr/>
        </p:nvSpPr>
        <p:spPr>
          <a:xfrm>
            <a:off x="5143500" y="2280146"/>
            <a:ext cx="1707852"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414C58"/>
                </a:solidFill>
                <a:latin typeface="Nunito Sans" pitchFamily="34" charset="0"/>
                <a:ea typeface="Nunito Sans" pitchFamily="34" charset="-122"/>
                <a:cs typeface="Nunito Sans" pitchFamily="34" charset="-120"/>
              </a:rPr>
              <a:t>Firmware fixed. Hardware:</a:t>
            </a:r>
            <a:endParaRPr lang="en-US" sz="1100" dirty="0"/>
          </a:p>
        </p:txBody>
      </p:sp>
      <p:sp>
        <p:nvSpPr>
          <p:cNvPr id="12" name="Shape 10"/>
          <p:cNvSpPr/>
          <p:nvPr/>
        </p:nvSpPr>
        <p:spPr>
          <a:xfrm>
            <a:off x="6889452" y="2255441"/>
            <a:ext cx="554335" cy="245070"/>
          </a:xfrm>
          <a:prstGeom prst="roundRect">
            <a:avLst>
              <a:gd name="adj" fmla="val 36275"/>
            </a:avLst>
          </a:prstGeom>
          <a:solidFill>
            <a:srgbClr val="FCF2B5"/>
          </a:solidFill>
          <a:ln/>
        </p:spPr>
      </p:sp>
      <p:sp>
        <p:nvSpPr>
          <p:cNvPr id="13" name="Text 11"/>
          <p:cNvSpPr/>
          <p:nvPr/>
        </p:nvSpPr>
        <p:spPr>
          <a:xfrm>
            <a:off x="6991052" y="2293541"/>
            <a:ext cx="401935" cy="194270"/>
          </a:xfrm>
          <a:prstGeom prst="rect">
            <a:avLst/>
          </a:prstGeom>
          <a:noFill/>
          <a:ln/>
        </p:spPr>
        <p:txBody>
          <a:bodyPr wrap="square" lIns="0" tIns="0" rIns="0" bIns="0" rtlCol="0" anchor="t">
            <a:normAutofit/>
          </a:bodyPr>
          <a:lstStyle/>
          <a:p>
            <a:pPr algn="l" indent="0" marL="0">
              <a:lnSpc>
                <a:spcPts val="1330"/>
              </a:lnSpc>
              <a:buNone/>
            </a:pPr>
            <a:r>
              <a:rPr lang="en-US" sz="950" b="1" dirty="0">
                <a:solidFill>
                  <a:srgbClr val="232323"/>
                </a:solidFill>
                <a:latin typeface="Nunito Sans" pitchFamily="34" charset="0"/>
                <a:ea typeface="Nunito Sans" pitchFamily="34" charset="-122"/>
                <a:cs typeface="Nunito Sans" pitchFamily="34" charset="-120"/>
              </a:rPr>
              <a:t>TODO</a:t>
            </a:r>
            <a:endParaRPr lang="en-US" sz="950" dirty="0"/>
          </a:p>
        </p:txBody>
      </p:sp>
      <p:sp>
        <p:nvSpPr>
          <p:cNvPr id="14" name="Shape 12"/>
          <p:cNvSpPr/>
          <p:nvPr/>
        </p:nvSpPr>
        <p:spPr>
          <a:xfrm>
            <a:off x="812800" y="2614811"/>
            <a:ext cx="10566400" cy="398760"/>
          </a:xfrm>
          <a:prstGeom prst="rect">
            <a:avLst/>
          </a:prstGeom>
          <a:solidFill>
            <a:srgbClr val="ECE7E2"/>
          </a:solidFill>
          <a:ln/>
        </p:spPr>
      </p:sp>
      <p:sp>
        <p:nvSpPr>
          <p:cNvPr id="15" name="Text 13"/>
          <p:cNvSpPr/>
          <p:nvPr/>
        </p:nvSpPr>
        <p:spPr>
          <a:xfrm>
            <a:off x="952500" y="2716411"/>
            <a:ext cx="418592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No wall clock; t_wall_iso empty</a:t>
            </a:r>
            <a:endParaRPr lang="en-US" sz="1100" dirty="0"/>
          </a:p>
        </p:txBody>
      </p:sp>
      <p:sp>
        <p:nvSpPr>
          <p:cNvPr id="16" name="Text 14"/>
          <p:cNvSpPr/>
          <p:nvPr/>
        </p:nvSpPr>
        <p:spPr>
          <a:xfrm>
            <a:off x="5143500" y="2716411"/>
            <a:ext cx="627888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414C58"/>
                </a:solidFill>
                <a:latin typeface="Nunito Sans" pitchFamily="34" charset="0"/>
                <a:ea typeface="Nunito Sans" pitchFamily="34" charset="-122"/>
                <a:cs typeface="Nunito Sans" pitchFamily="34" charset="-120"/>
              </a:rPr>
              <a:t>Time aligned offline with the BOOT record</a:t>
            </a:r>
            <a:endParaRPr lang="en-US" sz="1100" dirty="0"/>
          </a:p>
        </p:txBody>
      </p:sp>
      <p:sp>
        <p:nvSpPr>
          <p:cNvPr id="17" name="Shape 15"/>
          <p:cNvSpPr/>
          <p:nvPr/>
        </p:nvSpPr>
        <p:spPr>
          <a:xfrm>
            <a:off x="812800" y="3026271"/>
            <a:ext cx="10566400" cy="398760"/>
          </a:xfrm>
          <a:prstGeom prst="rect">
            <a:avLst/>
          </a:prstGeom>
          <a:solidFill>
            <a:srgbClr val="FFFFFF"/>
          </a:solidFill>
          <a:ln/>
        </p:spPr>
      </p:sp>
      <p:sp>
        <p:nvSpPr>
          <p:cNvPr id="18" name="Text 16"/>
          <p:cNvSpPr/>
          <p:nvPr/>
        </p:nvSpPr>
        <p:spPr>
          <a:xfrm>
            <a:off x="952500" y="3127871"/>
            <a:ext cx="418592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No deep sleep; idle is PARKED</a:t>
            </a:r>
            <a:endParaRPr lang="en-US" sz="1100" dirty="0"/>
          </a:p>
        </p:txBody>
      </p:sp>
      <p:sp>
        <p:nvSpPr>
          <p:cNvPr id="19" name="Text 17"/>
          <p:cNvSpPr/>
          <p:nvPr/>
        </p:nvSpPr>
        <p:spPr>
          <a:xfrm>
            <a:off x="5143500" y="3127871"/>
            <a:ext cx="627888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414C58"/>
                </a:solidFill>
                <a:latin typeface="Nunito Sans" pitchFamily="34" charset="0"/>
                <a:ea typeface="Nunito Sans" pitchFamily="34" charset="-122"/>
                <a:cs typeface="Nunito Sans" pitchFamily="34" charset="-120"/>
              </a:rPr>
              <a:t>ESP32-S3 cannot hold servos with PWM in sleep</a:t>
            </a:r>
            <a:endParaRPr lang="en-US" sz="1100" dirty="0"/>
          </a:p>
        </p:txBody>
      </p:sp>
      <p:sp>
        <p:nvSpPr>
          <p:cNvPr id="20" name="Shape 18"/>
          <p:cNvSpPr/>
          <p:nvPr/>
        </p:nvSpPr>
        <p:spPr>
          <a:xfrm>
            <a:off x="812800" y="3437731"/>
            <a:ext cx="10566400" cy="398760"/>
          </a:xfrm>
          <a:prstGeom prst="rect">
            <a:avLst/>
          </a:prstGeom>
          <a:solidFill>
            <a:srgbClr val="ECE7E2"/>
          </a:solidFill>
          <a:ln/>
        </p:spPr>
      </p:sp>
      <p:sp>
        <p:nvSpPr>
          <p:cNvPr id="21" name="Text 19"/>
          <p:cNvSpPr/>
          <p:nvPr/>
        </p:nvSpPr>
        <p:spPr>
          <a:xfrm>
            <a:off x="952500" y="3539331"/>
            <a:ext cx="418592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Only one link (UART)</a:t>
            </a:r>
            <a:endParaRPr lang="en-US" sz="1100" dirty="0"/>
          </a:p>
        </p:txBody>
      </p:sp>
      <p:sp>
        <p:nvSpPr>
          <p:cNvPr id="22" name="Text 20"/>
          <p:cNvSpPr/>
          <p:nvPr/>
        </p:nvSpPr>
        <p:spPr>
          <a:xfrm>
            <a:off x="5143500" y="3539331"/>
            <a:ext cx="627888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414C58"/>
                </a:solidFill>
                <a:latin typeface="Nunito Sans" pitchFamily="34" charset="0"/>
                <a:ea typeface="Nunito Sans" pitchFamily="34" charset="-122"/>
                <a:cs typeface="Nunito Sans" pitchFamily="34" charset="-120"/>
              </a:rPr>
              <a:t>Wireless is a later phase</a:t>
            </a:r>
            <a:endParaRPr lang="en-US" sz="1100" dirty="0"/>
          </a:p>
        </p:txBody>
      </p:sp>
      <p:sp>
        <p:nvSpPr>
          <p:cNvPr id="23" name="Shape 21"/>
          <p:cNvSpPr/>
          <p:nvPr/>
        </p:nvSpPr>
        <p:spPr>
          <a:xfrm>
            <a:off x="812800" y="3849191"/>
            <a:ext cx="10566400" cy="448270"/>
          </a:xfrm>
          <a:prstGeom prst="roundRect">
            <a:avLst>
              <a:gd name="adj" fmla="val 16999"/>
            </a:avLst>
          </a:prstGeom>
          <a:solidFill>
            <a:srgbClr val="FFFFFF"/>
          </a:solidFill>
          <a:ln/>
        </p:spPr>
      </p:sp>
      <p:sp>
        <p:nvSpPr>
          <p:cNvPr id="24" name="Text 22"/>
          <p:cNvSpPr/>
          <p:nvPr/>
        </p:nvSpPr>
        <p:spPr>
          <a:xfrm>
            <a:off x="952500" y="3975497"/>
            <a:ext cx="4185920" cy="220960"/>
          </a:xfrm>
          <a:prstGeom prst="rect">
            <a:avLst/>
          </a:prstGeom>
          <a:noFill/>
          <a:ln/>
        </p:spPr>
        <p:txBody>
          <a:bodyPr wrap="square" lIns="0" tIns="0" rIns="0" bIns="0" rtlCol="0" anchor="t">
            <a:normAutofit/>
          </a:bodyPr>
          <a:lstStyle/>
          <a:p>
            <a:pPr algn="l" indent="0" marL="0">
              <a:lnSpc>
                <a:spcPts val="1540"/>
              </a:lnSpc>
              <a:buNone/>
            </a:pPr>
            <a:r>
              <a:rPr lang="en-US" sz="1100" dirty="0">
                <a:solidFill>
                  <a:srgbClr val="232323"/>
                </a:solidFill>
                <a:latin typeface="Nunito Sans" pitchFamily="34" charset="0"/>
                <a:ea typeface="Nunito Sans" pitchFamily="34" charset="-122"/>
                <a:cs typeface="Nunito Sans" pitchFamily="34" charset="-120"/>
              </a:rPr>
              <a:t>Detector: threshold + shape only</a:t>
            </a:r>
            <a:endParaRPr lang="en-US" sz="1100" dirty="0"/>
          </a:p>
        </p:txBody>
      </p:sp>
      <p:sp>
        <p:nvSpPr>
          <p:cNvPr id="25" name="Shape 23"/>
          <p:cNvSpPr/>
          <p:nvPr/>
        </p:nvSpPr>
        <p:spPr>
          <a:xfrm>
            <a:off x="5143500" y="3950791"/>
            <a:ext cx="1172071" cy="245070"/>
          </a:xfrm>
          <a:prstGeom prst="roundRect">
            <a:avLst>
              <a:gd name="adj" fmla="val 36275"/>
            </a:avLst>
          </a:prstGeom>
          <a:solidFill>
            <a:srgbClr val="FCF2B5"/>
          </a:solidFill>
          <a:ln/>
        </p:spPr>
      </p:sp>
      <p:sp>
        <p:nvSpPr>
          <p:cNvPr id="26" name="Text 24"/>
          <p:cNvSpPr/>
          <p:nvPr/>
        </p:nvSpPr>
        <p:spPr>
          <a:xfrm>
            <a:off x="5245100" y="3988891"/>
            <a:ext cx="1019671" cy="194270"/>
          </a:xfrm>
          <a:prstGeom prst="rect">
            <a:avLst/>
          </a:prstGeom>
          <a:noFill/>
          <a:ln/>
        </p:spPr>
        <p:txBody>
          <a:bodyPr wrap="square" lIns="0" tIns="0" rIns="0" bIns="0" rtlCol="0" anchor="t">
            <a:normAutofit/>
          </a:bodyPr>
          <a:lstStyle/>
          <a:p>
            <a:pPr algn="l" indent="0" marL="0">
              <a:lnSpc>
                <a:spcPts val="1330"/>
              </a:lnSpc>
              <a:buNone/>
            </a:pPr>
            <a:r>
              <a:rPr lang="en-US" sz="950" b="1" dirty="0">
                <a:solidFill>
                  <a:srgbClr val="232323"/>
                </a:solidFill>
                <a:latin typeface="Nunito Sans" pitchFamily="34" charset="0"/>
                <a:ea typeface="Nunito Sans" pitchFamily="34" charset="-122"/>
                <a:cs typeface="Nunito Sans" pitchFamily="34" charset="-120"/>
              </a:rPr>
              <a:t>TODO: what fails</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6F5"/>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13</a:t>
            </a:r>
            <a:endParaRPr lang="en-US" sz="5600" dirty="0"/>
          </a:p>
        </p:txBody>
      </p:sp>
      <p:sp>
        <p:nvSpPr>
          <p:cNvPr id="3" name="Shape 1"/>
          <p:cNvSpPr/>
          <p:nvPr/>
        </p:nvSpPr>
        <p:spPr>
          <a:xfrm>
            <a:off x="812800" y="812800"/>
            <a:ext cx="1950145" cy="340320"/>
          </a:xfrm>
          <a:prstGeom prst="roundRect">
            <a:avLst>
              <a:gd name="adj" fmla="val 37318"/>
            </a:avLst>
          </a:prstGeom>
          <a:solidFill>
            <a:srgbClr val="DAE5F1"/>
          </a:solidFill>
          <a:ln/>
        </p:spPr>
      </p:sp>
      <p:sp>
        <p:nvSpPr>
          <p:cNvPr id="4" name="Text 2"/>
          <p:cNvSpPr/>
          <p:nvPr/>
        </p:nvSpPr>
        <p:spPr>
          <a:xfrm>
            <a:off x="952500" y="876300"/>
            <a:ext cx="1721545"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5 — RESULTS</a:t>
            </a:r>
            <a:endParaRPr lang="en-US" sz="1200" dirty="0"/>
          </a:p>
        </p:txBody>
      </p:sp>
      <p:sp>
        <p:nvSpPr>
          <p:cNvPr id="5" name="Text 3"/>
          <p:cNvSpPr/>
          <p:nvPr/>
        </p:nvSpPr>
        <p:spPr>
          <a:xfrm>
            <a:off x="812800" y="1305520"/>
            <a:ext cx="10883392" cy="360660"/>
          </a:xfrm>
          <a:prstGeom prst="rect">
            <a:avLst/>
          </a:prstGeom>
          <a:noFill/>
          <a:ln/>
        </p:spPr>
        <p:txBody>
          <a:bodyPr wrap="square" lIns="0" tIns="0" rIns="0" bIns="0" rtlCol="0" anchor="t">
            <a:normAutofit/>
          </a:bodyPr>
          <a:lstStyle/>
          <a:p>
            <a:pPr algn="l" indent="0" marL="0">
              <a:lnSpc>
                <a:spcPts val="2640"/>
              </a:lnSpc>
              <a:buNone/>
            </a:pPr>
            <a:r>
              <a:rPr lang="en-US" sz="2400" b="1" dirty="0">
                <a:solidFill>
                  <a:srgbClr val="232323"/>
                </a:solidFill>
                <a:latin typeface="Nunito Sans" pitchFamily="34" charset="0"/>
                <a:ea typeface="Nunito Sans" pitchFamily="34" charset="-122"/>
                <a:cs typeface="Nunito Sans" pitchFamily="34" charset="-120"/>
              </a:rPr>
              <a:t>Results</a:t>
            </a:r>
            <a:endParaRPr lang="en-US" sz="2400" dirty="0"/>
          </a:p>
        </p:txBody>
      </p:sp>
      <p:sp>
        <p:nvSpPr>
          <p:cNvPr id="6" name="Shape 4"/>
          <p:cNvSpPr/>
          <p:nvPr/>
        </p:nvSpPr>
        <p:spPr>
          <a:xfrm>
            <a:off x="812800" y="1793180"/>
            <a:ext cx="3420467" cy="1016000"/>
          </a:xfrm>
          <a:prstGeom prst="roundRect">
            <a:avLst>
              <a:gd name="adj" fmla="val 10000"/>
            </a:avLst>
          </a:prstGeom>
          <a:solidFill>
            <a:srgbClr val="C5D6E9"/>
          </a:solidFill>
          <a:ln/>
        </p:spPr>
      </p:sp>
      <p:sp>
        <p:nvSpPr>
          <p:cNvPr id="7" name="Text 5"/>
          <p:cNvSpPr/>
          <p:nvPr/>
        </p:nvSpPr>
        <p:spPr>
          <a:xfrm>
            <a:off x="990600" y="1970980"/>
            <a:ext cx="3156813" cy="457200"/>
          </a:xfrm>
          <a:prstGeom prst="rect">
            <a:avLst/>
          </a:prstGeom>
          <a:noFill/>
          <a:ln/>
        </p:spPr>
        <p:txBody>
          <a:bodyPr wrap="square" lIns="0" tIns="0" rIns="0" bIns="0" rtlCol="0" anchor="t">
            <a:normAutofit/>
          </a:bodyPr>
          <a:lstStyle/>
          <a:p>
            <a:pPr algn="l" indent="0" marL="0">
              <a:lnSpc>
                <a:spcPts val="3400"/>
              </a:lnSpc>
              <a:buNone/>
            </a:pPr>
            <a:r>
              <a:rPr lang="en-US" sz="3400" b="1" dirty="0">
                <a:solidFill>
                  <a:srgbClr val="232323"/>
                </a:solidFill>
                <a:latin typeface="Nunito Sans" pitchFamily="34" charset="0"/>
                <a:ea typeface="Nunito Sans" pitchFamily="34" charset="-122"/>
                <a:cs typeface="Nunito Sans" pitchFamily="34" charset="-120"/>
              </a:rPr>
              <a:t>20 ms</a:t>
            </a:r>
            <a:endParaRPr lang="en-US" sz="3400" dirty="0"/>
          </a:p>
        </p:txBody>
      </p:sp>
      <p:sp>
        <p:nvSpPr>
          <p:cNvPr id="8" name="Text 6"/>
          <p:cNvSpPr/>
          <p:nvPr/>
        </p:nvSpPr>
        <p:spPr>
          <a:xfrm>
            <a:off x="990600" y="2453580"/>
            <a:ext cx="3156813" cy="203200"/>
          </a:xfrm>
          <a:prstGeom prst="rect">
            <a:avLst/>
          </a:prstGeom>
          <a:noFill/>
          <a:ln/>
        </p:spPr>
        <p:txBody>
          <a:bodyPr wrap="square" lIns="0" tIns="0" rIns="0" bIns="0" rtlCol="0" anchor="t">
            <a:normAutofit/>
          </a:bodyPr>
          <a:lstStyle/>
          <a:p>
            <a:pPr algn="l" indent="0" marL="0">
              <a:lnSpc>
                <a:spcPts val="1400"/>
              </a:lnSpc>
              <a:buNone/>
            </a:pPr>
            <a:r>
              <a:rPr lang="en-US" sz="1000" dirty="0">
                <a:solidFill>
                  <a:srgbClr val="414C58"/>
                </a:solidFill>
                <a:latin typeface="Nunito Sans" pitchFamily="34" charset="0"/>
                <a:ea typeface="Nunito Sans" pitchFamily="34" charset="-122"/>
                <a:cs typeface="Nunito Sans" pitchFamily="34" charset="-120"/>
              </a:rPr>
              <a:t>Control step</a:t>
            </a:r>
            <a:endParaRPr lang="en-US" sz="1000" dirty="0"/>
          </a:p>
        </p:txBody>
      </p:sp>
      <p:sp>
        <p:nvSpPr>
          <p:cNvPr id="9" name="Shape 7"/>
          <p:cNvSpPr/>
          <p:nvPr/>
        </p:nvSpPr>
        <p:spPr>
          <a:xfrm>
            <a:off x="4385667" y="1793180"/>
            <a:ext cx="3420566" cy="1016000"/>
          </a:xfrm>
          <a:prstGeom prst="roundRect">
            <a:avLst>
              <a:gd name="adj" fmla="val 10000"/>
            </a:avLst>
          </a:prstGeom>
          <a:solidFill>
            <a:srgbClr val="C5D6E9"/>
          </a:solidFill>
          <a:ln/>
        </p:spPr>
      </p:sp>
      <p:sp>
        <p:nvSpPr>
          <p:cNvPr id="10" name="Text 8"/>
          <p:cNvSpPr/>
          <p:nvPr/>
        </p:nvSpPr>
        <p:spPr>
          <a:xfrm>
            <a:off x="4563467" y="1970980"/>
            <a:ext cx="3156915" cy="457200"/>
          </a:xfrm>
          <a:prstGeom prst="rect">
            <a:avLst/>
          </a:prstGeom>
          <a:noFill/>
          <a:ln/>
        </p:spPr>
        <p:txBody>
          <a:bodyPr wrap="square" lIns="0" tIns="0" rIns="0" bIns="0" rtlCol="0" anchor="t">
            <a:normAutofit/>
          </a:bodyPr>
          <a:lstStyle/>
          <a:p>
            <a:pPr algn="l" indent="0" marL="0">
              <a:lnSpc>
                <a:spcPts val="3400"/>
              </a:lnSpc>
              <a:buNone/>
            </a:pPr>
            <a:r>
              <a:rPr lang="en-US" sz="3400" b="1" dirty="0">
                <a:solidFill>
                  <a:srgbClr val="232323"/>
                </a:solidFill>
                <a:latin typeface="Nunito Sans" pitchFamily="34" charset="0"/>
                <a:ea typeface="Nunito Sans" pitchFamily="34" charset="-122"/>
                <a:cs typeface="Nunito Sans" pitchFamily="34" charset="-120"/>
              </a:rPr>
              <a:t>300 ms</a:t>
            </a:r>
            <a:endParaRPr lang="en-US" sz="3400" dirty="0"/>
          </a:p>
        </p:txBody>
      </p:sp>
      <p:sp>
        <p:nvSpPr>
          <p:cNvPr id="11" name="Text 9"/>
          <p:cNvSpPr/>
          <p:nvPr/>
        </p:nvSpPr>
        <p:spPr>
          <a:xfrm>
            <a:off x="4563467" y="2453580"/>
            <a:ext cx="3156915" cy="203200"/>
          </a:xfrm>
          <a:prstGeom prst="rect">
            <a:avLst/>
          </a:prstGeom>
          <a:noFill/>
          <a:ln/>
        </p:spPr>
        <p:txBody>
          <a:bodyPr wrap="square" lIns="0" tIns="0" rIns="0" bIns="0" rtlCol="0" anchor="t">
            <a:normAutofit/>
          </a:bodyPr>
          <a:lstStyle/>
          <a:p>
            <a:pPr algn="l" indent="0" marL="0">
              <a:lnSpc>
                <a:spcPts val="1400"/>
              </a:lnSpc>
              <a:buNone/>
            </a:pPr>
            <a:r>
              <a:rPr lang="en-US" sz="1000" dirty="0">
                <a:solidFill>
                  <a:srgbClr val="414C58"/>
                </a:solidFill>
                <a:latin typeface="Nunito Sans" pitchFamily="34" charset="0"/>
                <a:ea typeface="Nunito Sans" pitchFamily="34" charset="-122"/>
                <a:cs typeface="Nunito Sans" pitchFamily="34" charset="-120"/>
              </a:rPr>
              <a:t>Link timeout</a:t>
            </a:r>
            <a:endParaRPr lang="en-US" sz="1000" dirty="0"/>
          </a:p>
        </p:txBody>
      </p:sp>
      <p:sp>
        <p:nvSpPr>
          <p:cNvPr id="12" name="Shape 10"/>
          <p:cNvSpPr/>
          <p:nvPr/>
        </p:nvSpPr>
        <p:spPr>
          <a:xfrm>
            <a:off x="7958634" y="1793180"/>
            <a:ext cx="3420566" cy="1016000"/>
          </a:xfrm>
          <a:prstGeom prst="roundRect">
            <a:avLst>
              <a:gd name="adj" fmla="val 10000"/>
            </a:avLst>
          </a:prstGeom>
          <a:solidFill>
            <a:srgbClr val="ECE7E2"/>
          </a:solidFill>
          <a:ln/>
        </p:spPr>
      </p:sp>
      <p:sp>
        <p:nvSpPr>
          <p:cNvPr id="13" name="Shape 11"/>
          <p:cNvSpPr/>
          <p:nvPr/>
        </p:nvSpPr>
        <p:spPr>
          <a:xfrm>
            <a:off x="8136434" y="1970980"/>
            <a:ext cx="635198" cy="297160"/>
          </a:xfrm>
          <a:prstGeom prst="roundRect">
            <a:avLst>
              <a:gd name="adj" fmla="val 34190"/>
            </a:avLst>
          </a:prstGeom>
          <a:solidFill>
            <a:srgbClr val="FCF2B5"/>
          </a:solidFill>
          <a:ln/>
        </p:spPr>
      </p:sp>
      <p:sp>
        <p:nvSpPr>
          <p:cNvPr id="14" name="Text 12"/>
          <p:cNvSpPr/>
          <p:nvPr/>
        </p:nvSpPr>
        <p:spPr>
          <a:xfrm>
            <a:off x="8250734" y="2021780"/>
            <a:ext cx="457398"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TODO</a:t>
            </a:r>
            <a:endParaRPr lang="en-US" sz="1100" dirty="0"/>
          </a:p>
        </p:txBody>
      </p:sp>
      <p:sp>
        <p:nvSpPr>
          <p:cNvPr id="15" name="Text 13"/>
          <p:cNvSpPr/>
          <p:nvPr/>
        </p:nvSpPr>
        <p:spPr>
          <a:xfrm>
            <a:off x="8136434" y="2331641"/>
            <a:ext cx="3156915" cy="203200"/>
          </a:xfrm>
          <a:prstGeom prst="rect">
            <a:avLst/>
          </a:prstGeom>
          <a:noFill/>
          <a:ln/>
        </p:spPr>
        <p:txBody>
          <a:bodyPr wrap="square" lIns="0" tIns="0" rIns="0" bIns="0" rtlCol="0" anchor="t">
            <a:normAutofit/>
          </a:bodyPr>
          <a:lstStyle/>
          <a:p>
            <a:pPr algn="l" indent="0" marL="0">
              <a:lnSpc>
                <a:spcPts val="1400"/>
              </a:lnSpc>
              <a:buNone/>
            </a:pPr>
            <a:r>
              <a:rPr lang="en-US" sz="1000" dirty="0">
                <a:solidFill>
                  <a:srgbClr val="414C58"/>
                </a:solidFill>
                <a:latin typeface="Nunito Sans" pitchFamily="34" charset="0"/>
                <a:ea typeface="Nunito Sans" pitchFamily="34" charset="-122"/>
                <a:cs typeface="Nunito Sans" pitchFamily="34" charset="-120"/>
              </a:rPr>
              <a:t>Tracking error (px), steady</a:t>
            </a:r>
            <a:endParaRPr lang="en-US" sz="1000" dirty="0"/>
          </a:p>
        </p:txBody>
      </p:sp>
      <p:sp>
        <p:nvSpPr>
          <p:cNvPr id="16" name="Shape 14"/>
          <p:cNvSpPr/>
          <p:nvPr/>
        </p:nvSpPr>
        <p:spPr>
          <a:xfrm>
            <a:off x="812800" y="2961580"/>
            <a:ext cx="3420467" cy="894060"/>
          </a:xfrm>
          <a:prstGeom prst="roundRect">
            <a:avLst>
              <a:gd name="adj" fmla="val 11364"/>
            </a:avLst>
          </a:prstGeom>
          <a:solidFill>
            <a:srgbClr val="ECE7E2"/>
          </a:solidFill>
          <a:ln/>
        </p:spPr>
      </p:sp>
      <p:sp>
        <p:nvSpPr>
          <p:cNvPr id="17" name="Shape 15"/>
          <p:cNvSpPr/>
          <p:nvPr/>
        </p:nvSpPr>
        <p:spPr>
          <a:xfrm>
            <a:off x="990600" y="3139380"/>
            <a:ext cx="635198" cy="297160"/>
          </a:xfrm>
          <a:prstGeom prst="roundRect">
            <a:avLst>
              <a:gd name="adj" fmla="val 34190"/>
            </a:avLst>
          </a:prstGeom>
          <a:solidFill>
            <a:srgbClr val="FCF2B5"/>
          </a:solidFill>
          <a:ln/>
        </p:spPr>
      </p:sp>
      <p:sp>
        <p:nvSpPr>
          <p:cNvPr id="18" name="Text 16"/>
          <p:cNvSpPr/>
          <p:nvPr/>
        </p:nvSpPr>
        <p:spPr>
          <a:xfrm>
            <a:off x="1104900" y="3190180"/>
            <a:ext cx="457398"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TODO</a:t>
            </a:r>
            <a:endParaRPr lang="en-US" sz="1100" dirty="0"/>
          </a:p>
        </p:txBody>
      </p:sp>
      <p:sp>
        <p:nvSpPr>
          <p:cNvPr id="19" name="Text 17"/>
          <p:cNvSpPr/>
          <p:nvPr/>
        </p:nvSpPr>
        <p:spPr>
          <a:xfrm>
            <a:off x="990600" y="3500041"/>
            <a:ext cx="3156813" cy="203200"/>
          </a:xfrm>
          <a:prstGeom prst="rect">
            <a:avLst/>
          </a:prstGeom>
          <a:noFill/>
          <a:ln/>
        </p:spPr>
        <p:txBody>
          <a:bodyPr wrap="square" lIns="0" tIns="0" rIns="0" bIns="0" rtlCol="0" anchor="t">
            <a:normAutofit/>
          </a:bodyPr>
          <a:lstStyle/>
          <a:p>
            <a:pPr algn="l" indent="0" marL="0">
              <a:lnSpc>
                <a:spcPts val="1400"/>
              </a:lnSpc>
              <a:buNone/>
            </a:pPr>
            <a:r>
              <a:rPr lang="en-US" sz="1000" dirty="0">
                <a:solidFill>
                  <a:srgbClr val="414C58"/>
                </a:solidFill>
                <a:latin typeface="Nunito Sans" pitchFamily="34" charset="0"/>
                <a:ea typeface="Nunito Sans" pitchFamily="34" charset="-122"/>
                <a:cs typeface="Nunito Sans" pitchFamily="34" charset="-120"/>
              </a:rPr>
              <a:t>Settling time</a:t>
            </a:r>
            <a:endParaRPr lang="en-US" sz="1000" dirty="0"/>
          </a:p>
        </p:txBody>
      </p:sp>
      <p:sp>
        <p:nvSpPr>
          <p:cNvPr id="20" name="Shape 18"/>
          <p:cNvSpPr/>
          <p:nvPr/>
        </p:nvSpPr>
        <p:spPr>
          <a:xfrm>
            <a:off x="4385667" y="2961580"/>
            <a:ext cx="3420566" cy="894060"/>
          </a:xfrm>
          <a:prstGeom prst="roundRect">
            <a:avLst>
              <a:gd name="adj" fmla="val 11364"/>
            </a:avLst>
          </a:prstGeom>
          <a:solidFill>
            <a:srgbClr val="ECE7E2"/>
          </a:solidFill>
          <a:ln/>
        </p:spPr>
      </p:sp>
      <p:sp>
        <p:nvSpPr>
          <p:cNvPr id="21" name="Shape 19"/>
          <p:cNvSpPr/>
          <p:nvPr/>
        </p:nvSpPr>
        <p:spPr>
          <a:xfrm>
            <a:off x="4563467" y="3139380"/>
            <a:ext cx="635198" cy="297160"/>
          </a:xfrm>
          <a:prstGeom prst="roundRect">
            <a:avLst>
              <a:gd name="adj" fmla="val 34190"/>
            </a:avLst>
          </a:prstGeom>
          <a:solidFill>
            <a:srgbClr val="FCF2B5"/>
          </a:solidFill>
          <a:ln/>
        </p:spPr>
      </p:sp>
      <p:sp>
        <p:nvSpPr>
          <p:cNvPr id="22" name="Text 20"/>
          <p:cNvSpPr/>
          <p:nvPr/>
        </p:nvSpPr>
        <p:spPr>
          <a:xfrm>
            <a:off x="4677767" y="3190180"/>
            <a:ext cx="457398"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TODO</a:t>
            </a:r>
            <a:endParaRPr lang="en-US" sz="1100" dirty="0"/>
          </a:p>
        </p:txBody>
      </p:sp>
      <p:sp>
        <p:nvSpPr>
          <p:cNvPr id="23" name="Text 21"/>
          <p:cNvSpPr/>
          <p:nvPr/>
        </p:nvSpPr>
        <p:spPr>
          <a:xfrm>
            <a:off x="4563467" y="3500041"/>
            <a:ext cx="3156915" cy="203200"/>
          </a:xfrm>
          <a:prstGeom prst="rect">
            <a:avLst/>
          </a:prstGeom>
          <a:noFill/>
          <a:ln/>
        </p:spPr>
        <p:txBody>
          <a:bodyPr wrap="square" lIns="0" tIns="0" rIns="0" bIns="0" rtlCol="0" anchor="t">
            <a:normAutofit/>
          </a:bodyPr>
          <a:lstStyle/>
          <a:p>
            <a:pPr algn="l" indent="0" marL="0">
              <a:lnSpc>
                <a:spcPts val="1400"/>
              </a:lnSpc>
              <a:buNone/>
            </a:pPr>
            <a:r>
              <a:rPr lang="en-US" sz="1000" dirty="0">
                <a:solidFill>
                  <a:srgbClr val="414C58"/>
                </a:solidFill>
                <a:latin typeface="Nunito Sans" pitchFamily="34" charset="0"/>
                <a:ea typeface="Nunito Sans" pitchFamily="34" charset="-122"/>
                <a:cs typeface="Nunito Sans" pitchFamily="34" charset="-120"/>
              </a:rPr>
              <a:t>SD max write latency</a:t>
            </a:r>
            <a:endParaRPr lang="en-US" sz="1000" dirty="0"/>
          </a:p>
        </p:txBody>
      </p:sp>
      <p:sp>
        <p:nvSpPr>
          <p:cNvPr id="24" name="Shape 22"/>
          <p:cNvSpPr/>
          <p:nvPr/>
        </p:nvSpPr>
        <p:spPr>
          <a:xfrm>
            <a:off x="7958634" y="2961580"/>
            <a:ext cx="3420566" cy="894060"/>
          </a:xfrm>
          <a:prstGeom prst="roundRect">
            <a:avLst>
              <a:gd name="adj" fmla="val 11364"/>
            </a:avLst>
          </a:prstGeom>
          <a:solidFill>
            <a:srgbClr val="ECE7E2"/>
          </a:solidFill>
          <a:ln/>
        </p:spPr>
      </p:sp>
      <p:sp>
        <p:nvSpPr>
          <p:cNvPr id="25" name="Shape 23"/>
          <p:cNvSpPr/>
          <p:nvPr/>
        </p:nvSpPr>
        <p:spPr>
          <a:xfrm>
            <a:off x="8136434" y="3139380"/>
            <a:ext cx="635198" cy="297160"/>
          </a:xfrm>
          <a:prstGeom prst="roundRect">
            <a:avLst>
              <a:gd name="adj" fmla="val 34190"/>
            </a:avLst>
          </a:prstGeom>
          <a:solidFill>
            <a:srgbClr val="FCF2B5"/>
          </a:solidFill>
          <a:ln/>
        </p:spPr>
      </p:sp>
      <p:sp>
        <p:nvSpPr>
          <p:cNvPr id="26" name="Text 24"/>
          <p:cNvSpPr/>
          <p:nvPr/>
        </p:nvSpPr>
        <p:spPr>
          <a:xfrm>
            <a:off x="8250734" y="3190180"/>
            <a:ext cx="457398"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TODO</a:t>
            </a:r>
            <a:endParaRPr lang="en-US" sz="1100" dirty="0"/>
          </a:p>
        </p:txBody>
      </p:sp>
      <p:sp>
        <p:nvSpPr>
          <p:cNvPr id="27" name="Text 25"/>
          <p:cNvSpPr/>
          <p:nvPr/>
        </p:nvSpPr>
        <p:spPr>
          <a:xfrm>
            <a:off x="8136434" y="3500041"/>
            <a:ext cx="3156915" cy="203200"/>
          </a:xfrm>
          <a:prstGeom prst="rect">
            <a:avLst/>
          </a:prstGeom>
          <a:noFill/>
          <a:ln/>
        </p:spPr>
        <p:txBody>
          <a:bodyPr wrap="square" lIns="0" tIns="0" rIns="0" bIns="0" rtlCol="0" anchor="t">
            <a:normAutofit/>
          </a:bodyPr>
          <a:lstStyle/>
          <a:p>
            <a:pPr algn="l" indent="0" marL="0">
              <a:lnSpc>
                <a:spcPts val="1400"/>
              </a:lnSpc>
              <a:buNone/>
            </a:pPr>
            <a:r>
              <a:rPr lang="en-US" sz="1000" dirty="0">
                <a:solidFill>
                  <a:srgbClr val="414C58"/>
                </a:solidFill>
                <a:latin typeface="Nunito Sans" pitchFamily="34" charset="0"/>
                <a:ea typeface="Nunito Sans" pitchFamily="34" charset="-122"/>
                <a:cs typeface="Nunito Sans" pitchFamily="34" charset="-120"/>
              </a:rPr>
              <a:t>Soak run without fault</a:t>
            </a:r>
            <a:endParaRPr lang="en-US" sz="1000" dirty="0"/>
          </a:p>
        </p:txBody>
      </p:sp>
      <p:sp>
        <p:nvSpPr>
          <p:cNvPr id="28" name="Text 26"/>
          <p:cNvSpPr/>
          <p:nvPr/>
        </p:nvSpPr>
        <p:spPr>
          <a:xfrm>
            <a:off x="812800" y="4028380"/>
            <a:ext cx="842764" cy="238720"/>
          </a:xfrm>
          <a:prstGeom prst="rect">
            <a:avLst/>
          </a:prstGeom>
          <a:noFill/>
          <a:ln/>
        </p:spPr>
        <p:txBody>
          <a:bodyPr wrap="square" lIns="0" tIns="0" rIns="0" bIns="0" rtlCol="0" anchor="t">
            <a:normAutofit/>
          </a:bodyPr>
          <a:lstStyle/>
          <a:p>
            <a:pPr algn="l" indent="0" marL="0">
              <a:lnSpc>
                <a:spcPts val="1680"/>
              </a:lnSpc>
              <a:buNone/>
            </a:pPr>
            <a:r>
              <a:rPr lang="en-US" sz="1200" b="1" dirty="0">
                <a:solidFill>
                  <a:srgbClr val="232323"/>
                </a:solidFill>
                <a:latin typeface="Nunito Sans" pitchFamily="34" charset="0"/>
                <a:ea typeface="Nunito Sans" pitchFamily="34" charset="-122"/>
                <a:cs typeface="Nunito Sans" pitchFamily="34" charset="-120"/>
              </a:rPr>
              <a:t>Conditions:</a:t>
            </a:r>
            <a:endParaRPr lang="en-US" sz="1200" dirty="0"/>
          </a:p>
        </p:txBody>
      </p:sp>
      <p:sp>
        <p:nvSpPr>
          <p:cNvPr id="29" name="Shape 27"/>
          <p:cNvSpPr/>
          <p:nvPr/>
        </p:nvSpPr>
        <p:spPr>
          <a:xfrm>
            <a:off x="1693664" y="4008041"/>
            <a:ext cx="2323604" cy="254000"/>
          </a:xfrm>
          <a:prstGeom prst="roundRect">
            <a:avLst>
              <a:gd name="adj" fmla="val 35000"/>
            </a:avLst>
          </a:prstGeom>
          <a:solidFill>
            <a:srgbClr val="FCF2B5"/>
          </a:solidFill>
          <a:ln/>
        </p:spPr>
      </p:sp>
      <p:sp>
        <p:nvSpPr>
          <p:cNvPr id="30" name="Text 28"/>
          <p:cNvSpPr/>
          <p:nvPr/>
        </p:nvSpPr>
        <p:spPr>
          <a:xfrm>
            <a:off x="1795264" y="4046141"/>
            <a:ext cx="2184016" cy="203200"/>
          </a:xfrm>
          <a:prstGeom prst="rect">
            <a:avLst/>
          </a:prstGeom>
          <a:noFill/>
          <a:ln/>
        </p:spPr>
        <p:txBody>
          <a:bodyPr wrap="square" lIns="0" tIns="0" rIns="0" bIns="0" rtlCol="0" anchor="t">
            <a:normAutofit/>
          </a:bodyPr>
          <a:lstStyle/>
          <a:p>
            <a:pPr algn="l" indent="0" marL="0">
              <a:lnSpc>
                <a:spcPts val="1400"/>
              </a:lnSpc>
              <a:buNone/>
            </a:pPr>
            <a:r>
              <a:rPr lang="en-US" sz="1000" b="1" dirty="0">
                <a:solidFill>
                  <a:srgbClr val="232323"/>
                </a:solidFill>
                <a:latin typeface="Nunito Sans" pitchFamily="34" charset="0"/>
                <a:ea typeface="Nunito Sans" pitchFamily="34" charset="-122"/>
                <a:cs typeface="Nunito Sans" pitchFamily="34" charset="-120"/>
              </a:rPr>
              <a:t>TODO: hardware, load, temperature</a:t>
            </a:r>
            <a:endParaRPr lang="en-US" sz="1000" dirty="0"/>
          </a:p>
        </p:txBody>
      </p:sp>
      <p:sp>
        <p:nvSpPr>
          <p:cNvPr id="31" name="Shape 29"/>
          <p:cNvSpPr/>
          <p:nvPr/>
        </p:nvSpPr>
        <p:spPr>
          <a:xfrm>
            <a:off x="812800" y="4414441"/>
            <a:ext cx="5207000" cy="524470"/>
          </a:xfrm>
          <a:prstGeom prst="roundRect">
            <a:avLst>
              <a:gd name="adj" fmla="val 19372"/>
            </a:avLst>
          </a:prstGeom>
          <a:solidFill>
            <a:srgbClr val="ECE7E2"/>
          </a:solidFill>
          <a:ln/>
        </p:spPr>
      </p:sp>
      <p:sp>
        <p:nvSpPr>
          <p:cNvPr id="32" name="Text 30"/>
          <p:cNvSpPr/>
          <p:nvPr/>
        </p:nvSpPr>
        <p:spPr>
          <a:xfrm>
            <a:off x="952500" y="4578846"/>
            <a:ext cx="1133078"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Video + QR code</a:t>
            </a:r>
            <a:endParaRPr lang="en-US" sz="1100" dirty="0"/>
          </a:p>
        </p:txBody>
      </p:sp>
      <p:sp>
        <p:nvSpPr>
          <p:cNvPr id="33" name="Shape 31"/>
          <p:cNvSpPr/>
          <p:nvPr/>
        </p:nvSpPr>
        <p:spPr>
          <a:xfrm>
            <a:off x="2123678" y="4554141"/>
            <a:ext cx="554335" cy="245070"/>
          </a:xfrm>
          <a:prstGeom prst="roundRect">
            <a:avLst>
              <a:gd name="adj" fmla="val 36275"/>
            </a:avLst>
          </a:prstGeom>
          <a:solidFill>
            <a:srgbClr val="FCF2B5"/>
          </a:solidFill>
          <a:ln/>
        </p:spPr>
      </p:sp>
      <p:sp>
        <p:nvSpPr>
          <p:cNvPr id="34" name="Text 32"/>
          <p:cNvSpPr/>
          <p:nvPr/>
        </p:nvSpPr>
        <p:spPr>
          <a:xfrm>
            <a:off x="2225278" y="4592241"/>
            <a:ext cx="401935" cy="194270"/>
          </a:xfrm>
          <a:prstGeom prst="rect">
            <a:avLst/>
          </a:prstGeom>
          <a:noFill/>
          <a:ln/>
        </p:spPr>
        <p:txBody>
          <a:bodyPr wrap="square" lIns="0" tIns="0" rIns="0" bIns="0" rtlCol="0" anchor="t">
            <a:normAutofit/>
          </a:bodyPr>
          <a:lstStyle/>
          <a:p>
            <a:pPr algn="l" indent="0" marL="0">
              <a:lnSpc>
                <a:spcPts val="1330"/>
              </a:lnSpc>
              <a:buNone/>
            </a:pPr>
            <a:r>
              <a:rPr lang="en-US" sz="950" b="1" dirty="0">
                <a:solidFill>
                  <a:srgbClr val="232323"/>
                </a:solidFill>
                <a:latin typeface="Nunito Sans" pitchFamily="34" charset="0"/>
                <a:ea typeface="Nunito Sans" pitchFamily="34" charset="-122"/>
                <a:cs typeface="Nunito Sans" pitchFamily="34" charset="-120"/>
              </a:rPr>
              <a:t>TODO</a:t>
            </a:r>
            <a:endParaRPr lang="en-US" sz="950" dirty="0"/>
          </a:p>
        </p:txBody>
      </p:sp>
      <p:sp>
        <p:nvSpPr>
          <p:cNvPr id="35" name="Shape 33"/>
          <p:cNvSpPr/>
          <p:nvPr/>
        </p:nvSpPr>
        <p:spPr>
          <a:xfrm>
            <a:off x="6172200" y="4414441"/>
            <a:ext cx="5207000" cy="524470"/>
          </a:xfrm>
          <a:prstGeom prst="roundRect">
            <a:avLst>
              <a:gd name="adj" fmla="val 19372"/>
            </a:avLst>
          </a:prstGeom>
          <a:solidFill>
            <a:srgbClr val="ECE7E2"/>
          </a:solidFill>
          <a:ln/>
        </p:spPr>
      </p:sp>
      <p:sp>
        <p:nvSpPr>
          <p:cNvPr id="36" name="Text 34"/>
          <p:cNvSpPr/>
          <p:nvPr/>
        </p:nvSpPr>
        <p:spPr>
          <a:xfrm>
            <a:off x="6311900" y="4578846"/>
            <a:ext cx="2843074"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Graph — error vs. time, before/after tuning</a:t>
            </a:r>
            <a:endParaRPr lang="en-US" sz="1100" dirty="0"/>
          </a:p>
        </p:txBody>
      </p:sp>
      <p:sp>
        <p:nvSpPr>
          <p:cNvPr id="37" name="Shape 35"/>
          <p:cNvSpPr/>
          <p:nvPr/>
        </p:nvSpPr>
        <p:spPr>
          <a:xfrm>
            <a:off x="9161066" y="4554141"/>
            <a:ext cx="554335" cy="245070"/>
          </a:xfrm>
          <a:prstGeom prst="roundRect">
            <a:avLst>
              <a:gd name="adj" fmla="val 36275"/>
            </a:avLst>
          </a:prstGeom>
          <a:solidFill>
            <a:srgbClr val="FCF2B5"/>
          </a:solidFill>
          <a:ln/>
        </p:spPr>
      </p:sp>
      <p:sp>
        <p:nvSpPr>
          <p:cNvPr id="38" name="Text 36"/>
          <p:cNvSpPr/>
          <p:nvPr/>
        </p:nvSpPr>
        <p:spPr>
          <a:xfrm>
            <a:off x="9262666" y="4592241"/>
            <a:ext cx="401935" cy="194270"/>
          </a:xfrm>
          <a:prstGeom prst="rect">
            <a:avLst/>
          </a:prstGeom>
          <a:noFill/>
          <a:ln/>
        </p:spPr>
        <p:txBody>
          <a:bodyPr wrap="square" lIns="0" tIns="0" rIns="0" bIns="0" rtlCol="0" anchor="t">
            <a:normAutofit/>
          </a:bodyPr>
          <a:lstStyle/>
          <a:p>
            <a:pPr algn="l" indent="0" marL="0">
              <a:lnSpc>
                <a:spcPts val="1330"/>
              </a:lnSpc>
              <a:buNone/>
            </a:pPr>
            <a:r>
              <a:rPr lang="en-US" sz="950" b="1" dirty="0">
                <a:solidFill>
                  <a:srgbClr val="232323"/>
                </a:solidFill>
                <a:latin typeface="Nunito Sans" pitchFamily="34" charset="0"/>
                <a:ea typeface="Nunito Sans" pitchFamily="34" charset="-122"/>
                <a:cs typeface="Nunito Sans" pitchFamily="34" charset="-120"/>
              </a:rPr>
              <a:t>TODO</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6F5"/>
        </a:solidFill>
      </p:bgPr>
    </p:bg>
    <p:spTree>
      <p:nvGrpSpPr>
        <p:cNvPr id="1" name=""/>
        <p:cNvGrpSpPr/>
        <p:nvPr/>
      </p:nvGrpSpPr>
      <p:grpSpPr>
        <a:xfrm>
          <a:off x="0" y="0"/>
          <a:ext cx="0" cy="0"/>
          <a:chOff x="0" y="0"/>
          <a:chExt cx="0" cy="0"/>
        </a:xfrm>
      </p:grpSpPr>
      <p:sp>
        <p:nvSpPr>
          <p:cNvPr id="2" name="Text 0"/>
          <p:cNvSpPr/>
          <p:nvPr/>
        </p:nvSpPr>
        <p:spPr>
          <a:xfrm>
            <a:off x="10261600" y="406400"/>
            <a:ext cx="1320800" cy="736600"/>
          </a:xfrm>
          <a:prstGeom prst="rect">
            <a:avLst/>
          </a:prstGeom>
          <a:noFill/>
          <a:ln/>
        </p:spPr>
        <p:txBody>
          <a:bodyPr wrap="square" lIns="0" tIns="0" rIns="0" bIns="0" rtlCol="0" anchor="t">
            <a:normAutofit/>
          </a:bodyPr>
          <a:lstStyle/>
          <a:p>
            <a:pPr algn="r" indent="0" marL="0">
              <a:lnSpc>
                <a:spcPts val="5600"/>
              </a:lnSpc>
              <a:buNone/>
            </a:pPr>
            <a:r>
              <a:rPr lang="en-US" sz="5600" b="1" dirty="0">
                <a:solidFill>
                  <a:srgbClr val="D2CDC8"/>
                </a:solidFill>
                <a:latin typeface="Nunito Sans" pitchFamily="34" charset="0"/>
                <a:ea typeface="Nunito Sans" pitchFamily="34" charset="-122"/>
                <a:cs typeface="Nunito Sans" pitchFamily="34" charset="-120"/>
              </a:rPr>
              <a:t>14</a:t>
            </a:r>
            <a:endParaRPr lang="en-US" sz="5600" dirty="0"/>
          </a:p>
        </p:txBody>
      </p:sp>
      <p:sp>
        <p:nvSpPr>
          <p:cNvPr id="3" name="Shape 1"/>
          <p:cNvSpPr/>
          <p:nvPr/>
        </p:nvSpPr>
        <p:spPr>
          <a:xfrm>
            <a:off x="812800" y="812800"/>
            <a:ext cx="2245717" cy="340320"/>
          </a:xfrm>
          <a:prstGeom prst="roundRect">
            <a:avLst>
              <a:gd name="adj" fmla="val 37318"/>
            </a:avLst>
          </a:prstGeom>
          <a:solidFill>
            <a:srgbClr val="DAE5F1"/>
          </a:solidFill>
          <a:ln/>
        </p:spPr>
      </p:sp>
      <p:sp>
        <p:nvSpPr>
          <p:cNvPr id="4" name="Text 2"/>
          <p:cNvSpPr/>
          <p:nvPr/>
        </p:nvSpPr>
        <p:spPr>
          <a:xfrm>
            <a:off x="952500" y="876300"/>
            <a:ext cx="2025307" cy="238720"/>
          </a:xfrm>
          <a:prstGeom prst="rect">
            <a:avLst/>
          </a:prstGeom>
          <a:noFill/>
          <a:ln/>
        </p:spPr>
        <p:txBody>
          <a:bodyPr wrap="square" lIns="0" tIns="0" rIns="0" bIns="0" rtlCol="0" anchor="t">
            <a:normAutofit/>
          </a:bodyPr>
          <a:lstStyle/>
          <a:p>
            <a:pPr algn="l" indent="0" marL="0">
              <a:lnSpc>
                <a:spcPts val="1680"/>
              </a:lnSpc>
              <a:buNone/>
            </a:pPr>
            <a:r>
              <a:rPr lang="en-US" sz="1200" b="1" spc="100" kern="0" dirty="0">
                <a:solidFill>
                  <a:srgbClr val="414C58"/>
                </a:solidFill>
                <a:latin typeface="Nunito Sans" pitchFamily="34" charset="0"/>
                <a:ea typeface="Nunito Sans" pitchFamily="34" charset="-122"/>
                <a:cs typeface="Nunito Sans" pitchFamily="34" charset="-120"/>
              </a:rPr>
              <a:t>SLIDE 6 — WHAT NEXT</a:t>
            </a:r>
            <a:endParaRPr lang="en-US" sz="1200" dirty="0"/>
          </a:p>
        </p:txBody>
      </p:sp>
      <p:sp>
        <p:nvSpPr>
          <p:cNvPr id="5" name="Text 3"/>
          <p:cNvSpPr/>
          <p:nvPr/>
        </p:nvSpPr>
        <p:spPr>
          <a:xfrm>
            <a:off x="812800" y="1407120"/>
            <a:ext cx="10883392" cy="388541"/>
          </a:xfrm>
          <a:prstGeom prst="rect">
            <a:avLst/>
          </a:prstGeom>
          <a:noFill/>
          <a:ln/>
        </p:spPr>
        <p:txBody>
          <a:bodyPr wrap="square" lIns="0" tIns="0" rIns="0" bIns="0" rtlCol="0" anchor="t">
            <a:normAutofit/>
          </a:bodyPr>
          <a:lstStyle/>
          <a:p>
            <a:pPr algn="l" indent="0" marL="0">
              <a:lnSpc>
                <a:spcPts val="2860"/>
              </a:lnSpc>
              <a:buNone/>
            </a:pPr>
            <a:r>
              <a:rPr lang="en-US" sz="2600" b="1" dirty="0">
                <a:solidFill>
                  <a:srgbClr val="232323"/>
                </a:solidFill>
                <a:latin typeface="Nunito Sans" pitchFamily="34" charset="0"/>
                <a:ea typeface="Nunito Sans" pitchFamily="34" charset="-122"/>
                <a:cs typeface="Nunito Sans" pitchFamily="34" charset="-120"/>
              </a:rPr>
              <a:t>What next</a:t>
            </a:r>
            <a:endParaRPr lang="en-US" sz="2600" dirty="0"/>
          </a:p>
        </p:txBody>
      </p:sp>
      <p:sp>
        <p:nvSpPr>
          <p:cNvPr id="6" name="Shape 4"/>
          <p:cNvSpPr/>
          <p:nvPr/>
        </p:nvSpPr>
        <p:spPr>
          <a:xfrm>
            <a:off x="812800" y="2024261"/>
            <a:ext cx="3386634" cy="1785541"/>
          </a:xfrm>
          <a:prstGeom prst="roundRect">
            <a:avLst>
              <a:gd name="adj" fmla="val 7113"/>
            </a:avLst>
          </a:prstGeom>
          <a:solidFill>
            <a:srgbClr val="ECE7E2"/>
          </a:solidFill>
          <a:ln/>
        </p:spPr>
      </p:sp>
      <p:sp>
        <p:nvSpPr>
          <p:cNvPr id="7" name="Shape 5"/>
          <p:cNvSpPr/>
          <p:nvPr/>
        </p:nvSpPr>
        <p:spPr>
          <a:xfrm>
            <a:off x="1041400" y="2252861"/>
            <a:ext cx="406400" cy="406400"/>
          </a:xfrm>
          <a:prstGeom prst="roundRect">
            <a:avLst>
              <a:gd name="adj" fmla="val 50000"/>
            </a:avLst>
          </a:prstGeom>
          <a:solidFill>
            <a:srgbClr val="C5D6E9"/>
          </a:solidFill>
          <a:ln/>
        </p:spPr>
      </p:sp>
      <p:sp>
        <p:nvSpPr>
          <p:cNvPr id="8" name="Text 6"/>
          <p:cNvSpPr/>
          <p:nvPr/>
        </p:nvSpPr>
        <p:spPr>
          <a:xfrm>
            <a:off x="1187450" y="2322711"/>
            <a:ext cx="1651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32323"/>
                </a:solidFill>
                <a:latin typeface="Nunito Sans" pitchFamily="34" charset="0"/>
                <a:ea typeface="Nunito Sans" pitchFamily="34" charset="-122"/>
                <a:cs typeface="Nunito Sans" pitchFamily="34" charset="-120"/>
              </a:rPr>
              <a:t>1</a:t>
            </a:r>
            <a:endParaRPr lang="en-US" sz="1500" dirty="0"/>
          </a:p>
        </p:txBody>
      </p:sp>
      <p:sp>
        <p:nvSpPr>
          <p:cNvPr id="9" name="Text 7"/>
          <p:cNvSpPr/>
          <p:nvPr/>
        </p:nvSpPr>
        <p:spPr>
          <a:xfrm>
            <a:off x="1041400" y="2773561"/>
            <a:ext cx="3017317"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32323"/>
                </a:solidFill>
                <a:latin typeface="Nunito Sans" pitchFamily="34" charset="0"/>
                <a:ea typeface="Nunito Sans" pitchFamily="34" charset="-122"/>
                <a:cs typeface="Nunito Sans" pitchFamily="34" charset="-120"/>
              </a:rPr>
              <a:t>Now</a:t>
            </a:r>
            <a:endParaRPr lang="en-US" sz="1500" dirty="0"/>
          </a:p>
        </p:txBody>
      </p:sp>
      <p:sp>
        <p:nvSpPr>
          <p:cNvPr id="10" name="Text 8"/>
          <p:cNvSpPr/>
          <p:nvPr/>
        </p:nvSpPr>
        <p:spPr>
          <a:xfrm>
            <a:off x="1041400" y="3154561"/>
            <a:ext cx="301731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14C58"/>
                </a:solidFill>
                <a:latin typeface="Nunito Sans" pitchFamily="34" charset="0"/>
                <a:ea typeface="Nunito Sans" pitchFamily="34" charset="-122"/>
                <a:cs typeface="Nunito Sans" pitchFamily="34" charset="-120"/>
              </a:rPr>
              <a:t>Closed loop over one UART link, SD log, OLED, E-stop</a:t>
            </a:r>
            <a:endParaRPr lang="en-US" sz="1200" dirty="0"/>
          </a:p>
        </p:txBody>
      </p:sp>
      <p:sp>
        <p:nvSpPr>
          <p:cNvPr id="11" name="Shape 9"/>
          <p:cNvSpPr/>
          <p:nvPr/>
        </p:nvSpPr>
        <p:spPr>
          <a:xfrm>
            <a:off x="4402634" y="2024261"/>
            <a:ext cx="3386733" cy="1785541"/>
          </a:xfrm>
          <a:prstGeom prst="roundRect">
            <a:avLst>
              <a:gd name="adj" fmla="val 7113"/>
            </a:avLst>
          </a:prstGeom>
          <a:solidFill>
            <a:srgbClr val="ECE7E2"/>
          </a:solidFill>
          <a:ln/>
        </p:spPr>
      </p:sp>
      <p:sp>
        <p:nvSpPr>
          <p:cNvPr id="12" name="Shape 10"/>
          <p:cNvSpPr/>
          <p:nvPr/>
        </p:nvSpPr>
        <p:spPr>
          <a:xfrm>
            <a:off x="4631234" y="2252861"/>
            <a:ext cx="406400" cy="406400"/>
          </a:xfrm>
          <a:prstGeom prst="roundRect">
            <a:avLst>
              <a:gd name="adj" fmla="val 50000"/>
            </a:avLst>
          </a:prstGeom>
          <a:solidFill>
            <a:srgbClr val="C5D6E9"/>
          </a:solidFill>
          <a:ln/>
        </p:spPr>
      </p:sp>
      <p:sp>
        <p:nvSpPr>
          <p:cNvPr id="13" name="Text 11"/>
          <p:cNvSpPr/>
          <p:nvPr/>
        </p:nvSpPr>
        <p:spPr>
          <a:xfrm>
            <a:off x="4777284" y="2322711"/>
            <a:ext cx="1651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32323"/>
                </a:solidFill>
                <a:latin typeface="Nunito Sans" pitchFamily="34" charset="0"/>
                <a:ea typeface="Nunito Sans" pitchFamily="34" charset="-122"/>
                <a:cs typeface="Nunito Sans" pitchFamily="34" charset="-120"/>
              </a:rPr>
              <a:t>2</a:t>
            </a:r>
            <a:endParaRPr lang="en-US" sz="1500" dirty="0"/>
          </a:p>
        </p:txBody>
      </p:sp>
      <p:sp>
        <p:nvSpPr>
          <p:cNvPr id="14" name="Text 12"/>
          <p:cNvSpPr/>
          <p:nvPr/>
        </p:nvSpPr>
        <p:spPr>
          <a:xfrm>
            <a:off x="4631234" y="2773561"/>
            <a:ext cx="3017419"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32323"/>
                </a:solidFill>
                <a:latin typeface="Nunito Sans" pitchFamily="34" charset="0"/>
                <a:ea typeface="Nunito Sans" pitchFamily="34" charset="-122"/>
                <a:cs typeface="Nunito Sans" pitchFamily="34" charset="-120"/>
              </a:rPr>
              <a:t>Next</a:t>
            </a:r>
            <a:endParaRPr lang="en-US" sz="1500" dirty="0"/>
          </a:p>
        </p:txBody>
      </p:sp>
      <p:sp>
        <p:nvSpPr>
          <p:cNvPr id="15" name="Shape 13"/>
          <p:cNvSpPr/>
          <p:nvPr/>
        </p:nvSpPr>
        <p:spPr>
          <a:xfrm>
            <a:off x="4631234" y="3154561"/>
            <a:ext cx="1823145" cy="297160"/>
          </a:xfrm>
          <a:prstGeom prst="roundRect">
            <a:avLst>
              <a:gd name="adj" fmla="val 34190"/>
            </a:avLst>
          </a:prstGeom>
          <a:solidFill>
            <a:srgbClr val="FCF2B5"/>
          </a:solidFill>
          <a:ln/>
        </p:spPr>
      </p:sp>
      <p:sp>
        <p:nvSpPr>
          <p:cNvPr id="16" name="Text 14"/>
          <p:cNvSpPr/>
          <p:nvPr/>
        </p:nvSpPr>
        <p:spPr>
          <a:xfrm>
            <a:off x="4745534" y="3205361"/>
            <a:ext cx="1645345" cy="220960"/>
          </a:xfrm>
          <a:prstGeom prst="rect">
            <a:avLst/>
          </a:prstGeom>
          <a:noFill/>
          <a:ln/>
        </p:spPr>
        <p:txBody>
          <a:bodyPr wrap="square" lIns="0" tIns="0" rIns="0" bIns="0" rtlCol="0" anchor="t">
            <a:normAutofit/>
          </a:bodyPr>
          <a:lstStyle/>
          <a:p>
            <a:pPr algn="l" indent="0" marL="0">
              <a:lnSpc>
                <a:spcPts val="1540"/>
              </a:lnSpc>
              <a:buNone/>
            </a:pPr>
            <a:r>
              <a:rPr lang="en-US" sz="1100" b="1" dirty="0">
                <a:solidFill>
                  <a:srgbClr val="232323"/>
                </a:solidFill>
                <a:latin typeface="Nunito Sans" pitchFamily="34" charset="0"/>
                <a:ea typeface="Nunito Sans" pitchFamily="34" charset="-122"/>
                <a:cs typeface="Nunito Sans" pitchFamily="34" charset="-120"/>
              </a:rPr>
              <a:t>TODO: priority next step</a:t>
            </a:r>
            <a:endParaRPr lang="en-US" sz="1100" dirty="0"/>
          </a:p>
        </p:txBody>
      </p:sp>
      <p:sp>
        <p:nvSpPr>
          <p:cNvPr id="17" name="Shape 15"/>
          <p:cNvSpPr/>
          <p:nvPr/>
        </p:nvSpPr>
        <p:spPr>
          <a:xfrm>
            <a:off x="7992566" y="2024261"/>
            <a:ext cx="3386634" cy="1785541"/>
          </a:xfrm>
          <a:prstGeom prst="roundRect">
            <a:avLst>
              <a:gd name="adj" fmla="val 7113"/>
            </a:avLst>
          </a:prstGeom>
          <a:solidFill>
            <a:srgbClr val="ECE7E2"/>
          </a:solidFill>
          <a:ln/>
        </p:spPr>
      </p:sp>
      <p:sp>
        <p:nvSpPr>
          <p:cNvPr id="18" name="Shape 16"/>
          <p:cNvSpPr/>
          <p:nvPr/>
        </p:nvSpPr>
        <p:spPr>
          <a:xfrm>
            <a:off x="8221166" y="2252861"/>
            <a:ext cx="406400" cy="406400"/>
          </a:xfrm>
          <a:prstGeom prst="roundRect">
            <a:avLst>
              <a:gd name="adj" fmla="val 50000"/>
            </a:avLst>
          </a:prstGeom>
          <a:solidFill>
            <a:srgbClr val="C5D6E9"/>
          </a:solidFill>
          <a:ln/>
        </p:spPr>
      </p:sp>
      <p:sp>
        <p:nvSpPr>
          <p:cNvPr id="19" name="Text 17"/>
          <p:cNvSpPr/>
          <p:nvPr/>
        </p:nvSpPr>
        <p:spPr>
          <a:xfrm>
            <a:off x="8367216" y="2322711"/>
            <a:ext cx="165100"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32323"/>
                </a:solidFill>
                <a:latin typeface="Nunito Sans" pitchFamily="34" charset="0"/>
                <a:ea typeface="Nunito Sans" pitchFamily="34" charset="-122"/>
                <a:cs typeface="Nunito Sans" pitchFamily="34" charset="-120"/>
              </a:rPr>
              <a:t>3</a:t>
            </a:r>
            <a:endParaRPr lang="en-US" sz="1500" dirty="0"/>
          </a:p>
        </p:txBody>
      </p:sp>
      <p:sp>
        <p:nvSpPr>
          <p:cNvPr id="20" name="Text 18"/>
          <p:cNvSpPr/>
          <p:nvPr/>
        </p:nvSpPr>
        <p:spPr>
          <a:xfrm>
            <a:off x="8221166" y="2773561"/>
            <a:ext cx="3017317" cy="292100"/>
          </a:xfrm>
          <a:prstGeom prst="rect">
            <a:avLst/>
          </a:prstGeom>
          <a:noFill/>
          <a:ln/>
        </p:spPr>
        <p:txBody>
          <a:bodyPr wrap="square" lIns="0" tIns="0" rIns="0" bIns="0" rtlCol="0" anchor="t">
            <a:normAutofit/>
          </a:bodyPr>
          <a:lstStyle/>
          <a:p>
            <a:pPr algn="l" indent="0" marL="0">
              <a:lnSpc>
                <a:spcPts val="2100"/>
              </a:lnSpc>
              <a:buNone/>
            </a:pPr>
            <a:r>
              <a:rPr lang="en-US" sz="1500" b="1" dirty="0">
                <a:solidFill>
                  <a:srgbClr val="232323"/>
                </a:solidFill>
                <a:latin typeface="Nunito Sans" pitchFamily="34" charset="0"/>
                <a:ea typeface="Nunito Sans" pitchFamily="34" charset="-122"/>
                <a:cs typeface="Nunito Sans" pitchFamily="34" charset="-120"/>
              </a:rPr>
              <a:t>Later</a:t>
            </a:r>
            <a:endParaRPr lang="en-US" sz="1500" dirty="0"/>
          </a:p>
        </p:txBody>
      </p:sp>
      <p:sp>
        <p:nvSpPr>
          <p:cNvPr id="21" name="Text 19"/>
          <p:cNvSpPr/>
          <p:nvPr/>
        </p:nvSpPr>
        <p:spPr>
          <a:xfrm>
            <a:off x="8221166" y="3154561"/>
            <a:ext cx="3017317" cy="452041"/>
          </a:xfrm>
          <a:prstGeom prst="rect">
            <a:avLst/>
          </a:prstGeom>
          <a:noFill/>
          <a:ln/>
        </p:spPr>
        <p:txBody>
          <a:bodyPr wrap="square" lIns="0" tIns="0" rIns="0" bIns="0" rtlCol="0" anchor="t">
            <a:normAutofit/>
          </a:bodyPr>
          <a:lstStyle/>
          <a:p>
            <a:pPr algn="l" indent="0" marL="0">
              <a:lnSpc>
                <a:spcPts val="1680"/>
              </a:lnSpc>
              <a:buNone/>
            </a:pPr>
            <a:r>
              <a:rPr lang="en-US" sz="1200" dirty="0">
                <a:solidFill>
                  <a:srgbClr val="414C58"/>
                </a:solidFill>
                <a:latin typeface="Nunito Sans" pitchFamily="34" charset="0"/>
                <a:ea typeface="Nunito Sans" pitchFamily="34" charset="-122"/>
                <a:cs typeface="Nunito Sans" pitchFamily="34" charset="-120"/>
              </a:rPr>
              <a:t>Wireless remote (</a:t>
            </a:r>
            <a:r>
              <a:rPr lang="en-US" sz="1200" b="1" dirty="0">
                <a:solidFill>
                  <a:srgbClr val="414C58"/>
                </a:solidFill>
                <a:latin typeface="Nunito Sans" pitchFamily="34" charset="0"/>
                <a:ea typeface="Nunito Sans" pitchFamily="34" charset="-122"/>
                <a:cs typeface="Nunito Sans" pitchFamily="34" charset="-120"/>
              </a:rPr>
              <a:t>pilot</a:t>
            </a:r>
            <a:r>
              <a:rPr lang="en-US" sz="1200" dirty="0">
                <a:solidFill>
                  <a:srgbClr val="414C58"/>
                </a:solidFill>
                <a:latin typeface="Nunito Sans" pitchFamily="34" charset="0"/>
                <a:ea typeface="Nunito Sans" pitchFamily="34" charset="-122"/>
                <a:cs typeface="Nunito Sans" pitchFamily="34" charset="-120"/>
              </a:rPr>
              <a:t>, ESP32-C3), MQTT, storage node (</a:t>
            </a:r>
            <a:r>
              <a:rPr lang="en-US" sz="1200" b="1" dirty="0">
                <a:solidFill>
                  <a:srgbClr val="414C58"/>
                </a:solidFill>
                <a:latin typeface="Nunito Sans" pitchFamily="34" charset="0"/>
                <a:ea typeface="Nunito Sans" pitchFamily="34" charset="-122"/>
                <a:cs typeface="Nunito Sans" pitchFamily="34" charset="-120"/>
              </a:rPr>
              <a:t>vault</a:t>
            </a:r>
            <a:r>
              <a:rPr lang="en-US" sz="1200" dirty="0">
                <a:solidFill>
                  <a:srgbClr val="414C58"/>
                </a:solidFill>
                <a:latin typeface="Nunito Sans" pitchFamily="34" charset="0"/>
                <a:ea typeface="Nunito Sans" pitchFamily="34" charset="-122"/>
                <a:cs typeface="Nunito Sans" pitchFamily="34" charset="-120"/>
              </a:rPr>
              <a:t>, STM32)</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Laser Gimbal with Camera Tracking on ESP32-S3</dc:title>
  <dc:subject>PptxGenJS Presentation</dc:subject>
  <dc:creator>PptxGenJS</dc:creator>
  <cp:lastModifiedBy>PptxGenJS</cp:lastModifiedBy>
  <cp:revision>1</cp:revision>
  <dcterms:created xsi:type="dcterms:W3CDTF">2026-09-20T09:46:50Z</dcterms:created>
  <dcterms:modified xsi:type="dcterms:W3CDTF">2026-09-20T09:46:50Z</dcterms:modified>
</cp:coreProperties>
</file>