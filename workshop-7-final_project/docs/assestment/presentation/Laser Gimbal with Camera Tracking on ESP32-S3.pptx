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y="6858000" cx="12192000"/>
  <p:notesSz cx="6858000" cy="12192000"/>
  <p:embeddedFontLst>
    <p:embeddedFont>
      <p:font typeface="Nunito Sans"/>
      <p:regular r:id="rId20"/>
      <p:bold r:id="rId21"/>
      <p:italic r:id="rId22"/>
      <p:boldItalic r:id="rId2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4" roundtripDataSignature="AMtx7mgvVzOUB7THY6t5WQKYOg91dqgPI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E538C2C-0403-4DD1-BF6D-4BBF76AF478C}">
  <a:tblStyle styleId="{9E538C2C-0403-4DD1-BF6D-4BBF76AF478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font" Target="fonts/NunitoSans-regular.fntdata"/><Relationship Id="rId21" Type="http://schemas.openxmlformats.org/officeDocument/2006/relationships/font" Target="fonts/NunitoSans-bold.fntdata"/><Relationship Id="rId22" Type="http://schemas.openxmlformats.org/officeDocument/2006/relationships/font" Target="fonts/NunitoSans-italic.fntdata"/><Relationship Id="rId23" Type="http://schemas.openxmlformats.org/officeDocument/2006/relationships/font" Target="fonts/NunitoSans-boldItalic.fntdata"/><Relationship Id="rId24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Це титульний слайд. Назвіть проєкт один раз, чітко, і одразу переходьте до гачка. Не зачитуйте вголос поля студента, групи чи дати — аудиторія їх бачить.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" name="Google Shape;40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Пройдіться цією таблицею згори донизу. Рядок затримки — найважливіший, саме тому решта дизайну виглядає так, як виглядає. Закінчіть на обсязі, щоб аудиторія знала, що свідомо залишено поза межами.</a:t>
            </a:r>
            <a:endParaRPr/>
          </a:p>
        </p:txBody>
      </p:sp>
      <p:sp>
        <p:nvSpPr>
          <p:cNvPr id="41" name="Google Shape;41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" name="Google Shape;5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Камера — джерело істини, а не власний датчик кута сервопривода. Один канал UART на 115200 бод несе вектор похибки до AIM, який виконує два контури PID і керує гімбалом. Покажіть пунктирний контур: сервопривід рухає точку, камера бачить цей рух, і петля замикається.</a:t>
            </a:r>
            <a:endParaRPr/>
          </a:p>
        </p:txBody>
      </p:sp>
      <p:sp>
        <p:nvSpPr>
          <p:cNvPr id="51" name="Google Shape;51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" name="Google Shape;6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Головна ідея: ми задаємо швидкість, а не кут, і даємо прошивці інтегрувати швидкість у кут кожні 20 мілісекунд. Цей інтегратор означає, що зазвичай достатньо простого пропорційного регулятора — не треба вручну налаштовувати повний PID.</a:t>
            </a:r>
            <a:endParaRPr/>
          </a:p>
        </p:txBody>
      </p:sp>
      <p:sp>
        <p:nvSpPr>
          <p:cNvPr id="61" name="Google Shape;61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8" name="Google Shape;9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П'ять задач, розподілені між двома ядрами. E-stop і шлюз лазера виконуються з найвищим пріоритетом у задачі safety. Задача logger навмисно має найнижчий пріоритет — це єдина задача, якій дозволено блокуватися, тож зависання SD-картки ніколи не затримує контур керування.</a:t>
            </a:r>
            <a:endParaRPr/>
          </a:p>
        </p:txBody>
      </p:sp>
      <p:sp>
        <p:nvSpPr>
          <p:cNvPr id="99" name="Google Shape;99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0" name="Google Shape;11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Лазер може стріляти лише у двох станах, і лише коли всі умови в laserPermitted виконані одночасно. Тиша в каналі протягом 300 мс спричиняє LINK_LOST і зупиняє мотори. Шлях E-stop навмисно мінімальний — переривання лише сповіщає задачу safety і більше нічого не робить.</a:t>
            </a:r>
            <a:endParaRPr/>
          </a:p>
        </p:txBody>
      </p:sp>
      <p:sp>
        <p:nvSpPr>
          <p:cNvPr id="111" name="Google Shape;11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Шість невеликих рішень, які вберегли нас від більших проблем згодом. Варто затриматися на другому рядку: власне обмеження PID встановлене нижче жорсткої межі Gimbal, тож логіка anti-windup завжди бачить справжню межу — це перевіряється static_assert на етапі компіляції.</a:t>
            </a:r>
            <a:endParaRPr/>
          </a:p>
        </p:txBody>
      </p:sp>
      <p:sp>
        <p:nvSpPr>
          <p:cNvPr id="125" name="Google Shape;125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9" name="Google Shape;159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Покажіть один реальний фрагмент, десять-двадцять рядків, і поясніть одне неочевидне рішення в ньому — порядок обмежень або static_assert. Не гортайте весь файл.</a:t>
            </a:r>
            <a:endParaRPr/>
          </a:p>
        </p:txBody>
      </p:sp>
      <p:sp>
        <p:nvSpPr>
          <p:cNvPr id="160" name="Google Shape;160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9" name="Google Shape;169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Це реальні збої, з якими ми зіткнулися на стенді, а не гіпотетичні. Найстрашніший — зліт авто-наведення: пройдіться виправленням через обмеження уважно, це те, про що найімовірніше запитають.</a:t>
            </a:r>
            <a:endParaRPr/>
          </a:p>
        </p:txBody>
      </p:sp>
      <p:sp>
        <p:nvSpPr>
          <p:cNvPr id="170" name="Google Shape;170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6" name="Google Shape;196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Це прийшло з огляду проєкту, а не зі стенда — це режими відмов, які ми виявили, продумавши монтаж і протокол ще до того, як вони стали інцидентами на стенді.</a:t>
            </a:r>
            <a:endParaRPr/>
          </a:p>
        </p:txBody>
      </p:sp>
      <p:sp>
        <p:nvSpPr>
          <p:cNvPr id="197" name="Google Shape;197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6" name="Google Shape;206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Будьте відверті щодо цього — екзаменатор запитає щонайменше про одне з них. Рядки про бездротовий зв'язок і глибокий сон — це свідоме скорочення обсягу, а не недогляд; так і скажіть.</a:t>
            </a:r>
            <a:endParaRPr/>
          </a:p>
        </p:txBody>
      </p:sp>
      <p:sp>
        <p:nvSpPr>
          <p:cNvPr id="207" name="Google Shape;207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6" name="Google Shape;23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Почніть із двох чисел, які в нас справді є: крок керування 20 мс і таймаут зв'язку 300 мс. Чесно скажіть, що решта досі очікує вимірювання — не округлюйте і не вгадуйте вголос.</a:t>
            </a:r>
            <a:endParaRPr/>
          </a:p>
        </p:txBody>
      </p:sp>
      <p:sp>
        <p:nvSpPr>
          <p:cNvPr id="237" name="Google Shape;237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9" name="Google Shape;26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Не намагайтеся охопити все — дайте одну чітку лінію. Скажіть, що працює сьогодні, назвіть єдиний наступний крок, якому віддаєте пріоритет, і завершіть довгостроковим планом щодо бездротового зв'язку та зберігання, щоб аудиторія пішла з відчуттям напрямку.</a:t>
            </a:r>
            <a:endParaRPr/>
          </a:p>
        </p:txBody>
      </p:sp>
      <p:sp>
        <p:nvSpPr>
          <p:cNvPr id="270" name="Google Shape;270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github.com/melnikvitaly/workshops/blob/main/workshop-7-final_project/README.md#final-project--laser-gimbal-with-camera-tracking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hyperlink" Target="http://tracker.py" TargetMode="External"/><Relationship Id="rId4" Type="http://schemas.openxmlformats.org/officeDocument/2006/relationships/hyperlink" Target="https://github.com/melnikvitaly/workshops/blob/main/workshop-7-final_project/firmware/aim/src/main.cpp" TargetMode="External"/><Relationship Id="rId5" Type="http://schemas.openxmlformats.org/officeDocument/2006/relationships/hyperlink" Target="https://github.com/melnikvitaly/workshops/blob/main/workshop-7-final_project/firmware/aim/src/StateMachine.hpp" TargetMode="External"/><Relationship Id="rId6" Type="http://schemas.openxmlformats.org/officeDocument/2006/relationships/hyperlink" Target="https://github.com/melnikvitaly/workshops/blob/main/workshop-7-final_project/firmware/aim/src/tasks/Ctrl.hpp" TargetMode="External"/><Relationship Id="rId7" Type="http://schemas.openxmlformats.org/officeDocument/2006/relationships/hyperlink" Target="firmware/aim/src/parts/Gimbal.hpp" TargetMode="External"/><Relationship Id="rId8" Type="http://schemas.openxmlformats.org/officeDocument/2006/relationships/hyperlink" Target="https://github.com/melnikvitaly/workshops/blob/main/workshop-7-final_project/firmware/aim/src/tasks/Safety.hpp" TargetMode="External"/><Relationship Id="rId9" Type="http://schemas.openxmlformats.org/officeDocument/2006/relationships/hyperlink" Target="https://github.com/melnikvitaly/workshops/blob/main/workshop-7-final_project/firmware/aim/src/tasks/LinkUart.hpp" TargetMode="External"/><Relationship Id="rId10" Type="http://schemas.openxmlformats.org/officeDocument/2006/relationships/hyperlink" Target="firmware/aim/src/transport/Protocol.hpp" TargetMode="External"/><Relationship Id="rId11" Type="http://schemas.openxmlformats.org/officeDocument/2006/relationships/hyperlink" Target="https://github.com/melnikvitaly/workshops/blob/main/workshop-7-final_project/firmware/aim/src/tasks/Logger.hpp" TargetMode="External"/><Relationship Id="rId12" Type="http://schemas.openxmlformats.org/officeDocument/2006/relationships/hyperlink" Target="https://github.com/melnikvitaly/workshops/blob/main/workshop-7-final_project/firmware/aim/src/utils/Pid.hpp" TargetMode="External"/><Relationship Id="rId13" Type="http://schemas.openxmlformats.org/officeDocument/2006/relationships/hyperlink" Target="https://github.com/melnikvitaly/workshops/blob/main/workshop-7-final_project/firmware/aim/src/parts/AutoChannel.hpp" TargetMode="External"/><Relationship Id="rId14" Type="http://schemas.openxmlformats.org/officeDocument/2006/relationships/hyperlink" Target="https://github.com/melnikvitaly/workshops/blob/main/workshop-7-final_project/firmware/aim/src/parts/ManualChannel.hpp" TargetMode="External"/><Relationship Id="rId15" Type="http://schemas.openxmlformats.org/officeDocument/2006/relationships/hyperlink" Target="https://github.com/melnikvitaly/workshops/blob/main/workshop-7-final_project/eye/camera/tracker.py" TargetMode="External"/><Relationship Id="rId16" Type="http://schemas.openxmlformats.org/officeDocument/2006/relationships/hyperlink" Target="eye/camera/dots.py" TargetMode="External"/><Relationship Id="rId17" Type="http://schemas.openxmlformats.org/officeDocument/2006/relationships/hyperlink" Target="eye/camera/serial_link.py" TargetMode="External"/><Relationship Id="rId18" Type="http://schemas.openxmlformats.org/officeDocument/2006/relationships/hyperlink" Target="https://github.com/melnikvitaly/workshops/blob/main/workshop-7-final_project/eye/camera/dots.py" TargetMode="External"/><Relationship Id="rId19" Type="http://schemas.openxmlformats.org/officeDocument/2006/relationships/hyperlink" Target="https://github.com/melnikvitaly/workshops/blob/main/workshop-7-final_project/eye/camera/serial_link.py" TargetMode="External"/><Relationship Id="rId20" Type="http://schemas.openxmlformats.org/officeDocument/2006/relationships/hyperlink" Target="https://github.com/melnikvitaly/workshops/blob/main/workshop-7-final_project/eye/camera/recenter.py" TargetMode="External"/><Relationship Id="rId21" Type="http://schemas.openxmlformats.org/officeDocument/2006/relationships/hyperlink" Target="eye/camera/tracker.py" TargetMode="External"/><Relationship Id="rId22" Type="http://schemas.openxmlformats.org/officeDocument/2006/relationships/hyperlink" Target="https://github.com/melnikvitaly/workshops/blob/main/workshop-7-final_project/eye/camera/controls.py" TargetMode="External"/><Relationship Id="rId23" Type="http://schemas.openxmlformats.org/officeDocument/2006/relationships/hyperlink" Target="https://github.com/melnikvitaly/workshops/blob/main/workshop-7-final_project/eye/camera/app_window.py" TargetMode="External"/><Relationship Id="rId24" Type="http://schemas.openxmlformats.org/officeDocument/2006/relationships/hyperlink" Target="https://github.com/melnikvitaly/workshops/blob/main/workshop-7-final_project/eye/camera/speed.py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"/>
          <p:cNvSpPr/>
          <p:nvPr/>
        </p:nvSpPr>
        <p:spPr>
          <a:xfrm>
            <a:off x="812800" y="812800"/>
            <a:ext cx="3641219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lang="en-US" sz="1200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Захист </a:t>
            </a:r>
            <a:r>
              <a:rPr b="1" lang="en-US" sz="1200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проекту</a:t>
            </a:r>
            <a:r>
              <a:rPr b="1" lang="en-US" sz="1200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 з Embedded Development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812800" y="1203920"/>
            <a:ext cx="9156700" cy="5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3600"/>
              <a:buFont typeface="Nunito Sans"/>
              <a:buNone/>
            </a:pPr>
            <a:r>
              <a:rPr b="1" i="0" lang="en-US" sz="36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Лазерний гімбал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812800" y="1876321"/>
            <a:ext cx="10883392" cy="3098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600"/>
              <a:buFont typeface="Nunito Sans"/>
              <a:buNone/>
            </a:pPr>
            <a:r>
              <a:rPr b="0" i="0" lang="en-US" sz="16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FreeRTOS, PID, OpenCV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812800" y="2338581"/>
            <a:ext cx="6603900" cy="2712300"/>
          </a:xfrm>
          <a:prstGeom prst="roundRect">
            <a:avLst>
              <a:gd fmla="val 5619" name="adj"/>
            </a:avLst>
          </a:prstGeom>
          <a:solidFill>
            <a:srgbClr val="C5D6E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1"/>
          <p:cNvSpPr/>
          <p:nvPr/>
        </p:nvSpPr>
        <p:spPr>
          <a:xfrm>
            <a:off x="1168400" y="2694181"/>
            <a:ext cx="1701800" cy="27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400"/>
              <a:buFont typeface="Nunito Sans"/>
              <a:buNone/>
            </a:pPr>
            <a:r>
              <a:rPr b="1" i="0" lang="en-US" sz="1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Студент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2860750" y="2724643"/>
            <a:ext cx="1089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400"/>
              <a:buFont typeface="Nunito Sans"/>
              <a:buNone/>
            </a:pPr>
            <a:r>
              <a:rPr b="0" i="0" lang="en-US" sz="1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Vitaly Melnik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1168400" y="3115761"/>
            <a:ext cx="1701800" cy="27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400"/>
              <a:buFont typeface="Nunito Sans"/>
              <a:buNone/>
            </a:pPr>
            <a:r>
              <a:rPr b="1" i="0" lang="en-US" sz="1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Група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2870200" y="3133521"/>
            <a:ext cx="15774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00"/>
              <a:buFont typeface="Nunito Sans"/>
              <a:buNone/>
            </a:pPr>
            <a:r>
              <a:rPr b="1" lang="en-US" sz="1200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EMB_7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1168400" y="3537342"/>
            <a:ext cx="1701800" cy="27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400"/>
              <a:buFont typeface="Nunito Sans"/>
              <a:buNone/>
            </a:pPr>
            <a:r>
              <a:rPr b="1" i="0" lang="en-US" sz="1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Курс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2860750" y="3537330"/>
            <a:ext cx="2039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400"/>
              <a:buFont typeface="Nunito Sans"/>
              <a:buNone/>
            </a:pPr>
            <a:r>
              <a:rPr b="0" i="0" lang="en-US" sz="1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Embedded Development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1"/>
          <p:cNvSpPr/>
          <p:nvPr/>
        </p:nvSpPr>
        <p:spPr>
          <a:xfrm>
            <a:off x="1168400" y="3958922"/>
            <a:ext cx="1701800" cy="27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400"/>
              <a:buFont typeface="Nunito Sans"/>
              <a:buNone/>
            </a:pPr>
            <a:r>
              <a:rPr b="1" i="0" lang="en-US" sz="1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Дата захисту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1"/>
          <p:cNvSpPr/>
          <p:nvPr/>
        </p:nvSpPr>
        <p:spPr>
          <a:xfrm>
            <a:off x="2870200" y="3993207"/>
            <a:ext cx="15084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00"/>
              <a:buFont typeface="Nunito Sans"/>
              <a:buNone/>
            </a:pPr>
            <a:r>
              <a:rPr b="1" lang="en-US" sz="1200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СЬОГОДНІ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1168400" y="4413542"/>
            <a:ext cx="1701800" cy="27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400"/>
              <a:buFont typeface="Nunito Sans"/>
              <a:buNone/>
            </a:pPr>
            <a:r>
              <a:rPr b="1" i="0" lang="en-US" sz="1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GitHub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1"/>
          <p:cNvSpPr/>
          <p:nvPr/>
        </p:nvSpPr>
        <p:spPr>
          <a:xfrm>
            <a:off x="2860750" y="4431278"/>
            <a:ext cx="15963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00"/>
              <a:buFont typeface="Nunito Sans"/>
              <a:buNone/>
            </a:pPr>
            <a:r>
              <a:rPr b="1" lang="en-US" sz="1200" u="sng">
                <a:solidFill>
                  <a:schemeClr val="hlink"/>
                </a:solidFill>
                <a:latin typeface="Nunito Sans"/>
                <a:ea typeface="Nunito Sans"/>
                <a:cs typeface="Nunito Sans"/>
                <a:sym typeface="Nunito Sans"/>
                <a:hlinkClick r:id="rId3"/>
              </a:rPr>
              <a:t>README.md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3"/>
          <p:cNvSpPr/>
          <p:nvPr/>
        </p:nvSpPr>
        <p:spPr>
          <a:xfrm>
            <a:off x="812800" y="812800"/>
            <a:ext cx="1028656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" name="Google Shape;45;p3"/>
          <p:cNvSpPr/>
          <p:nvPr/>
        </p:nvSpPr>
        <p:spPr>
          <a:xfrm>
            <a:off x="952500" y="876300"/>
            <a:ext cx="801801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ПРОБЛЕМА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812800" y="1356320"/>
            <a:ext cx="10883392" cy="44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3000"/>
              <a:buFont typeface="Nunito Sans"/>
              <a:buNone/>
            </a:pPr>
            <a:r>
              <a:rPr b="1" i="0" lang="en-US" sz="3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Проблема: контекст і масштаб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47" name="Google Shape;47;p3"/>
          <p:cNvGraphicFramePr/>
          <p:nvPr/>
        </p:nvGraphicFramePr>
        <p:xfrm>
          <a:off x="812800" y="197862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{9E538C2C-0403-4DD1-BF6D-4BBF76AF478C}</a:tableStyleId>
              </a:tblPr>
              <a:tblGrid>
                <a:gridCol w="2324600"/>
                <a:gridCol w="8241800"/>
              </a:tblGrid>
              <a:tr h="385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Параметр</a:t>
                      </a:r>
                      <a:endParaRPr sz="14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cap="flat" cmpd="sng" w="12700">
                      <a:solidFill>
                        <a:srgbClr val="C8C8C7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8C8C7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8C8C7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8C8C7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Значення</a:t>
                      </a:r>
                      <a:endParaRPr sz="14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cap="flat" cmpd="sng" w="12700">
                      <a:solidFill>
                        <a:srgbClr val="C8C8C7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8C8C7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8C8C7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8C8C7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5D6E9"/>
                    </a:solidFill>
                  </a:tcPr>
                </a:tc>
              </a:tr>
              <a:tr h="385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lang="en-US" sz="14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Завдання</a:t>
                      </a:r>
                      <a:endParaRPr sz="14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cap="flat" cmpd="sng" w="12700">
                      <a:solidFill>
                        <a:srgbClr val="C8C8C7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8C8C7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8C8C7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8C8C7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lang="en-US" sz="14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Навести лазерну точку на ціль, використовуючи камеру як зворотний зв'язок</a:t>
                      </a:r>
                      <a:endParaRPr sz="14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cap="flat" cmpd="sng" w="12700">
                      <a:solidFill>
                        <a:srgbClr val="C8C8C7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8C8C7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8C8C7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8C8C7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85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lang="en-US" sz="14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Затримка</a:t>
                      </a:r>
                      <a:endParaRPr sz="14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cap="flat" cmpd="sng" w="12700">
                      <a:solidFill>
                        <a:srgbClr val="C8C8C7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8C8C7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8C8C7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8C8C7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lang="en-US" sz="14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Камера → розпізнавання → канал зв'язку займають 50–250 мс. Це обмежує підсилення</a:t>
                      </a:r>
                      <a:endParaRPr sz="14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cap="flat" cmpd="sng" w="12700">
                      <a:solidFill>
                        <a:srgbClr val="C8C8C7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8C8C7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8C8C7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8C8C7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7E2"/>
                    </a:solidFill>
                  </a:tcPr>
                </a:tc>
              </a:tr>
              <a:tr h="385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lang="en-US" sz="14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Сервоприводи</a:t>
                      </a:r>
                      <a:endParaRPr sz="14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cap="flat" cmpd="sng" w="12700">
                      <a:solidFill>
                        <a:srgbClr val="C8C8C7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8C8C7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8C8C7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8C8C7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lang="en-US" sz="14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Мертва зона, люфт, провисання під вагою</a:t>
                      </a:r>
                      <a:endParaRPr sz="14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cap="flat" cmpd="sng" w="12700">
                      <a:solidFill>
                        <a:srgbClr val="C8C8C7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8C8C7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8C8C7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8C8C7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85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lang="en-US" sz="14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Безпека</a:t>
                      </a:r>
                      <a:endParaRPr sz="14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cap="flat" cmpd="sng" w="12700">
                      <a:solidFill>
                        <a:srgbClr val="C8C8C7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8C8C7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8C8C7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8C8C7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lang="en-US" sz="14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Лазер не повинен вмикатися помилково</a:t>
                      </a:r>
                      <a:endParaRPr sz="14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cap="flat" cmpd="sng" w="12700">
                      <a:solidFill>
                        <a:srgbClr val="C8C8C7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8C8C7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8C8C7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8C8C7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7E2"/>
                    </a:solidFill>
                  </a:tcPr>
                </a:tc>
              </a:tr>
              <a:tr h="385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lang="en-US" sz="14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Обсяг</a:t>
                      </a:r>
                      <a:endParaRPr sz="14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cap="flat" cmpd="sng" w="12700">
                      <a:solidFill>
                        <a:srgbClr val="C8C8C7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8C8C7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8C8C7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8C8C7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lang="en-US" sz="14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Навчальний проєкт: один канал UART, розпізнавання виконує ПК, </a:t>
                      </a:r>
                      <a:r>
                        <a:rPr lang="en-US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лог пишеться на SD-картку</a:t>
                      </a:r>
                      <a:endParaRPr sz="14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cap="flat" cmpd="sng" w="12700">
                      <a:solidFill>
                        <a:srgbClr val="C8C8C7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8C8C7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8C8C7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8C8C7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4"/>
          <p:cNvSpPr/>
          <p:nvPr/>
        </p:nvSpPr>
        <p:spPr>
          <a:xfrm>
            <a:off x="812800" y="812800"/>
            <a:ext cx="2483157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4"/>
          <p:cNvSpPr/>
          <p:nvPr/>
        </p:nvSpPr>
        <p:spPr>
          <a:xfrm>
            <a:off x="952500" y="876300"/>
            <a:ext cx="2302767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РІШЕННЯ / АРХІТЕКТУРА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4"/>
          <p:cNvSpPr/>
          <p:nvPr/>
        </p:nvSpPr>
        <p:spPr>
          <a:xfrm>
            <a:off x="812800" y="1280120"/>
            <a:ext cx="10883392" cy="416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800"/>
              <a:buFont typeface="Nunito Sans"/>
              <a:buNone/>
            </a:pPr>
            <a:r>
              <a:rPr b="1" i="0" lang="en-US" sz="28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Рішення: загальна картина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7" name="Picture 56" descr="data-flo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" y="1984985"/>
            <a:ext cx="10566400" cy="392187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5"/>
          <p:cNvSpPr/>
          <p:nvPr/>
        </p:nvSpPr>
        <p:spPr>
          <a:xfrm>
            <a:off x="812800" y="812800"/>
            <a:ext cx="2483157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5"/>
          <p:cNvSpPr/>
          <p:nvPr/>
        </p:nvSpPr>
        <p:spPr>
          <a:xfrm>
            <a:off x="952500" y="876300"/>
            <a:ext cx="2302767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РІШЕННЯ / АРХІТЕКТУРА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5"/>
          <p:cNvSpPr/>
          <p:nvPr/>
        </p:nvSpPr>
        <p:spPr>
          <a:xfrm>
            <a:off x="812800" y="1305520"/>
            <a:ext cx="10883392" cy="3885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600"/>
              <a:buFont typeface="Nunito Sans"/>
              <a:buNone/>
            </a:pPr>
            <a:r>
              <a:rPr b="1" i="0" lang="en-US" sz="26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Чому швидкість, а не позиція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5"/>
          <p:cNvSpPr/>
          <p:nvPr/>
        </p:nvSpPr>
        <p:spPr>
          <a:xfrm>
            <a:off x="812800" y="1821061"/>
            <a:ext cx="1300163" cy="441920"/>
          </a:xfrm>
          <a:prstGeom prst="roundRect">
            <a:avLst>
              <a:gd fmla="val 20117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5"/>
          <p:cNvSpPr/>
          <p:nvPr/>
        </p:nvSpPr>
        <p:spPr>
          <a:xfrm>
            <a:off x="1263253" y="1935361"/>
            <a:ext cx="820000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похибка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rrow-right" id="69" name="Google Shape;69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01863" y="1965821"/>
            <a:ext cx="3048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5"/>
          <p:cNvSpPr/>
          <p:nvPr/>
        </p:nvSpPr>
        <p:spPr>
          <a:xfrm>
            <a:off x="2595563" y="1821061"/>
            <a:ext cx="1300262" cy="441920"/>
          </a:xfrm>
          <a:prstGeom prst="roundRect">
            <a:avLst>
              <a:gd fmla="val 20117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5"/>
          <p:cNvSpPr/>
          <p:nvPr/>
        </p:nvSpPr>
        <p:spPr>
          <a:xfrm>
            <a:off x="3091061" y="1935361"/>
            <a:ext cx="309166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PID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rrow-right" id="72" name="Google Shape;7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4724" y="1965821"/>
            <a:ext cx="3048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5"/>
          <p:cNvSpPr/>
          <p:nvPr/>
        </p:nvSpPr>
        <p:spPr>
          <a:xfrm>
            <a:off x="4378424" y="1821061"/>
            <a:ext cx="1300262" cy="441920"/>
          </a:xfrm>
          <a:prstGeom prst="roundRect">
            <a:avLst>
              <a:gd fmla="val 20117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5"/>
          <p:cNvSpPr/>
          <p:nvPr/>
        </p:nvSpPr>
        <p:spPr>
          <a:xfrm>
            <a:off x="4791869" y="1935361"/>
            <a:ext cx="850000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швидкість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rrow-right" id="75" name="Google Shape;75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67586" y="1965821"/>
            <a:ext cx="3048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5"/>
          <p:cNvSpPr/>
          <p:nvPr/>
        </p:nvSpPr>
        <p:spPr>
          <a:xfrm>
            <a:off x="6161286" y="1829891"/>
            <a:ext cx="1652191" cy="424160"/>
          </a:xfrm>
          <a:prstGeom prst="roundRect">
            <a:avLst>
              <a:gd fmla="val 20959" name="adj"/>
            </a:avLst>
          </a:prstGeom>
          <a:solidFill>
            <a:srgbClr val="C5D6E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" name="Google Shape;77;p5"/>
          <p:cNvSpPr/>
          <p:nvPr/>
        </p:nvSpPr>
        <p:spPr>
          <a:xfrm>
            <a:off x="6325493" y="1944191"/>
            <a:ext cx="1323777" cy="220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100"/>
              <a:buFont typeface="Nunito Sans"/>
              <a:buNone/>
            </a:pPr>
            <a:r>
              <a:rPr b="1" i="0" lang="en-US" sz="11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підсумовується кожні 20 мс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rrow-right" id="78" name="Google Shape;7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902377" y="1965821"/>
            <a:ext cx="3048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5"/>
          <p:cNvSpPr/>
          <p:nvPr/>
        </p:nvSpPr>
        <p:spPr>
          <a:xfrm>
            <a:off x="8296077" y="1821061"/>
            <a:ext cx="1300262" cy="441920"/>
          </a:xfrm>
          <a:prstGeom prst="roundRect">
            <a:avLst>
              <a:gd fmla="val 20117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5"/>
          <p:cNvSpPr/>
          <p:nvPr/>
        </p:nvSpPr>
        <p:spPr>
          <a:xfrm>
            <a:off x="8723213" y="1935361"/>
            <a:ext cx="445889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кут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rrow-right" id="81" name="Google Shape;81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685238" y="1965821"/>
            <a:ext cx="3048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5"/>
          <p:cNvSpPr/>
          <p:nvPr/>
        </p:nvSpPr>
        <p:spPr>
          <a:xfrm>
            <a:off x="10078938" y="1821061"/>
            <a:ext cx="1300262" cy="441920"/>
          </a:xfrm>
          <a:prstGeom prst="roundRect">
            <a:avLst>
              <a:gd fmla="val 20117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5"/>
          <p:cNvSpPr/>
          <p:nvPr/>
        </p:nvSpPr>
        <p:spPr>
          <a:xfrm>
            <a:off x="10509647" y="1935361"/>
            <a:ext cx="840000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сервопривід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5"/>
          <p:cNvSpPr/>
          <p:nvPr/>
        </p:nvSpPr>
        <p:spPr>
          <a:xfrm>
            <a:off x="812800" y="2799401"/>
            <a:ext cx="5181600" cy="1100000"/>
          </a:xfrm>
          <a:prstGeom prst="roundRect">
            <a:avLst>
              <a:gd fmla="val 10391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5"/>
          <p:cNvSpPr/>
          <p:nvPr/>
        </p:nvSpPr>
        <p:spPr>
          <a:xfrm>
            <a:off x="990600" y="2977201"/>
            <a:ext cx="4970780" cy="27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400"/>
              <a:buFont typeface="Nunito Sans"/>
              <a:buNone/>
            </a:pPr>
            <a:r>
              <a:rPr b="1" i="0" lang="en-US" sz="1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PID позиції (пряме керування)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5"/>
          <p:cNvSpPr/>
          <p:nvPr/>
        </p:nvSpPr>
        <p:spPr>
          <a:xfrm>
            <a:off x="990600" y="3302242"/>
            <a:ext cx="4970780" cy="5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100"/>
              <a:buFont typeface="Nunito Sans"/>
              <a:buNone/>
            </a:pPr>
            <a:r>
              <a:rPr b="0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Вихід PID стає кутом сервопривода напряму.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100"/>
              <a:buFont typeface="Nunito Sans"/>
              <a:buNone/>
            </a:pPr>
            <a:r>
              <a:rPr b="0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Кожен шумний кадр — це різкий стрибок позиції.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5"/>
          <p:cNvSpPr/>
          <p:nvPr/>
        </p:nvSpPr>
        <p:spPr>
          <a:xfrm>
            <a:off x="6197600" y="2799401"/>
            <a:ext cx="5181600" cy="1100000"/>
          </a:xfrm>
          <a:prstGeom prst="roundRect">
            <a:avLst>
              <a:gd fmla="val 10391" name="adj"/>
            </a:avLst>
          </a:prstGeom>
          <a:solidFill>
            <a:srgbClr val="C5D6E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5"/>
          <p:cNvSpPr/>
          <p:nvPr/>
        </p:nvSpPr>
        <p:spPr>
          <a:xfrm>
            <a:off x="6375400" y="2977201"/>
            <a:ext cx="4970780" cy="27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400"/>
              <a:buFont typeface="Nunito Sans"/>
              <a:buNone/>
            </a:pPr>
            <a:r>
              <a:rPr b="1" i="0" lang="en-US" sz="1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Команда швидкості (наш варіант)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5"/>
          <p:cNvSpPr/>
          <p:nvPr/>
        </p:nvSpPr>
        <p:spPr>
          <a:xfrm>
            <a:off x="6375400" y="3302242"/>
            <a:ext cx="4970780" cy="5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0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Вихід PID стає швидкістю; ESP32 інтегрує її в кут щотику.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0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Шум усереднюється, рух плавний і обмежений за швидкістю.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5"/>
          <p:cNvSpPr/>
          <p:nvPr/>
        </p:nvSpPr>
        <p:spPr>
          <a:xfrm>
            <a:off x="812800" y="4435821"/>
            <a:ext cx="10883392" cy="256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300"/>
              <a:buFont typeface="Nunito Sans"/>
              <a:buNone/>
            </a:pPr>
            <a:r>
              <a:rPr b="0" i="0" lang="en-US" sz="13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Наш випадок: камера рухається і шумить безперервно — саме для цього зроблена швидкісна форма.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5"/>
          <p:cNvSpPr/>
          <p:nvPr/>
        </p:nvSpPr>
        <p:spPr>
          <a:xfrm>
            <a:off x="812800" y="4752301"/>
            <a:ext cx="10883392" cy="256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300"/>
              <a:buFont typeface="Nunito Sans"/>
              <a:buNone/>
            </a:pPr>
            <a:r>
              <a:rPr b="1" i="0" lang="en-US" sz="13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Результат: плавний рух сервопривода, менше перерегулювання і ривків.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5"/>
          <p:cNvSpPr/>
          <p:nvPr/>
        </p:nvSpPr>
        <p:spPr>
          <a:xfrm>
            <a:off x="812800" y="5545201"/>
            <a:ext cx="10883392" cy="500000"/>
          </a:xfrm>
          <a:prstGeom prst="roundRect">
            <a:avLst>
              <a:gd fmla="val 21741" name="adj"/>
            </a:avLst>
          </a:prstGeom>
          <a:solidFill>
            <a:srgbClr val="FCF2B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5"/>
          <p:cNvSpPr/>
          <p:nvPr/>
        </p:nvSpPr>
        <p:spPr>
          <a:xfrm>
            <a:off x="990600" y="5675841"/>
            <a:ext cx="494308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TODO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5"/>
          <p:cNvSpPr/>
          <p:nvPr/>
        </p:nvSpPr>
        <p:spPr>
          <a:xfrm>
            <a:off x="1535708" y="5675841"/>
            <a:ext cx="2909705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00"/>
              <a:buFont typeface="Nunito Sans"/>
              <a:buNone/>
            </a:pPr>
            <a:r>
              <a:rPr b="0" i="0" lang="en-US" sz="12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Графік — похибка від часу, для різних коефіцієнтів підсилення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6"/>
          <p:cNvSpPr/>
          <p:nvPr/>
        </p:nvSpPr>
        <p:spPr>
          <a:xfrm>
            <a:off x="812800" y="812800"/>
            <a:ext cx="2483157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6"/>
          <p:cNvSpPr/>
          <p:nvPr/>
        </p:nvSpPr>
        <p:spPr>
          <a:xfrm>
            <a:off x="952500" y="876300"/>
            <a:ext cx="2302767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РІШЕННЯ / АРХІТЕКТУРА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6"/>
          <p:cNvSpPr/>
          <p:nvPr/>
        </p:nvSpPr>
        <p:spPr>
          <a:xfrm>
            <a:off x="812800" y="1254720"/>
            <a:ext cx="10883392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4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Архітектура: задачі FreeRTOS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6"/>
          <p:cNvSpPr/>
          <p:nvPr/>
        </p:nvSpPr>
        <p:spPr>
          <a:xfrm>
            <a:off x="812800" y="5647829"/>
            <a:ext cx="4630440" cy="364430"/>
          </a:xfrm>
          <a:prstGeom prst="roundRect">
            <a:avLst>
              <a:gd fmla="val 24394" name="adj"/>
            </a:avLst>
          </a:prstGeom>
          <a:solidFill>
            <a:srgbClr val="FCF2B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6"/>
          <p:cNvSpPr/>
          <p:nvPr/>
        </p:nvSpPr>
        <p:spPr>
          <a:xfrm>
            <a:off x="965200" y="5736729"/>
            <a:ext cx="4455409" cy="2120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050"/>
              <a:buFont typeface="Nunito Sans"/>
              <a:buNone/>
            </a:pPr>
            <a:r>
              <a:rPr b="0" i="0" lang="en-US" sz="105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Запис на SD-картку може зависнути на 100–250 мс. Це не повинно ніколи дійти до </a:t>
            </a:r>
            <a:r>
              <a:rPr b="1" i="0" lang="en-US" sz="105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ctrl</a:t>
            </a:r>
            <a:r>
              <a:rPr b="0" i="0" lang="en-US" sz="105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7" name="Picture 10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0000" y="1800000"/>
            <a:ext cx="8196805" cy="365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7"/>
          <p:cNvSpPr/>
          <p:nvPr/>
        </p:nvSpPr>
        <p:spPr>
          <a:xfrm>
            <a:off x="812800" y="812800"/>
            <a:ext cx="2483157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7"/>
          <p:cNvSpPr/>
          <p:nvPr/>
        </p:nvSpPr>
        <p:spPr>
          <a:xfrm>
            <a:off x="952500" y="876300"/>
            <a:ext cx="2302767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РІШЕННЯ / АРХІТЕКТУРА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7"/>
          <p:cNvSpPr/>
          <p:nvPr/>
        </p:nvSpPr>
        <p:spPr>
          <a:xfrm>
            <a:off x="812800" y="1280120"/>
            <a:ext cx="10883392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4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Стани системи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7"/>
          <p:cNvSpPr/>
          <p:nvPr/>
        </p:nvSpPr>
        <p:spPr>
          <a:xfrm>
            <a:off x="812800" y="5450000"/>
            <a:ext cx="10883392" cy="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50"/>
              <a:buFont typeface="Nunito Sans"/>
              <a:buNone/>
            </a:pPr>
            <a:r>
              <a:rPr b="0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Лазер дозволений лише в станах </a:t>
            </a:r>
            <a:r>
              <a:rPr b="1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ZONE_TOUR</a:t>
            </a:r>
            <a:r>
              <a:rPr b="0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 і </a:t>
            </a:r>
            <a:r>
              <a:rPr b="1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ARMED</a:t>
            </a:r>
            <a:r>
              <a:rPr b="0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7"/>
          <p:cNvSpPr/>
          <p:nvPr/>
        </p:nvSpPr>
        <p:spPr>
          <a:xfrm>
            <a:off x="812800" y="5660000"/>
            <a:ext cx="10883392" cy="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50"/>
              <a:buFont typeface="Nunito Sans"/>
              <a:buNone/>
            </a:pPr>
            <a:r>
              <a:rPr b="1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laserPermitted()</a:t>
            </a:r>
            <a:r>
              <a:rPr b="0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 вимагає виконання всіх умов: ARMED, свіжий зв'язок, watchdog OK, немає E-stop, запит променя.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7"/>
          <p:cNvSpPr/>
          <p:nvPr/>
        </p:nvSpPr>
        <p:spPr>
          <a:xfrm>
            <a:off x="812800" y="5870000"/>
            <a:ext cx="10883392" cy="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50"/>
              <a:buFont typeface="Nunito Sans"/>
              <a:buNone/>
            </a:pPr>
            <a:r>
              <a:rPr b="0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Немає даних 300 мс → </a:t>
            </a:r>
            <a:r>
              <a:rPr b="1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LINK_LOST</a:t>
            </a:r>
            <a:r>
              <a:rPr b="0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, мотори зупиняються.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7"/>
          <p:cNvSpPr/>
          <p:nvPr/>
        </p:nvSpPr>
        <p:spPr>
          <a:xfrm>
            <a:off x="812800" y="6080000"/>
            <a:ext cx="10883392" cy="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50"/>
              <a:buFont typeface="Nunito Sans"/>
              <a:buNone/>
            </a:pPr>
            <a:r>
              <a:rPr b="0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E-stop: ISR → сповіщення задачі → </a:t>
            </a:r>
            <a:r>
              <a:rPr b="1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safety</a:t>
            </a:r>
            <a:r>
              <a:rPr b="0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. Жодної роботи в ISR.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1" name="Picture 1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" y="1840000"/>
            <a:ext cx="10566400" cy="33569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8"/>
          <p:cNvSpPr/>
          <p:nvPr/>
        </p:nvSpPr>
        <p:spPr>
          <a:xfrm>
            <a:off x="812800" y="812800"/>
            <a:ext cx="1466499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8"/>
          <p:cNvSpPr/>
          <p:nvPr/>
        </p:nvSpPr>
        <p:spPr>
          <a:xfrm>
            <a:off x="952500" y="876300"/>
            <a:ext cx="1260528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РЕАЛІЗАЦІЯ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8"/>
          <p:cNvSpPr/>
          <p:nvPr/>
        </p:nvSpPr>
        <p:spPr>
          <a:xfrm>
            <a:off x="812800" y="1254720"/>
            <a:ext cx="10883392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4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Реалізація: ключові рішення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31" name="Table 130"/>
          <p:cNvGraphicFramePr>
            <a:graphicFrameLocks noGrp="1"/>
          </p:cNvGraphicFramePr>
          <p:nvPr/>
        </p:nvGraphicFramePr>
        <p:xfrm>
          <a:off x="812800" y="1691580"/>
          <a:ext cx="10566400" cy="27913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734020"/>
                <a:gridCol w="4650780"/>
                <a:gridCol w="5181600"/>
              </a:tblGrid>
              <a:tr h="398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#</a:t>
                      </a:r>
                    </a:p>
                  </a:txBody>
                  <a:tcPr marL="127000" marR="91440" marT="0" marB="0" anchor="ctr">
                    <a:solidFill>
                      <a:srgbClr val="C5D6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Рішення</a:t>
                      </a:r>
                    </a:p>
                  </a:txBody>
                  <a:tcPr marL="0" marR="91440" marT="0" marB="0" anchor="ctr">
                    <a:solidFill>
                      <a:srgbClr val="C5D6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Чому</a:t>
                      </a:r>
                    </a:p>
                  </a:txBody>
                  <a:tcPr marL="0" marR="91440" marT="0" marB="0" anchor="ctr">
                    <a:solidFill>
                      <a:srgbClr val="C5D6E9"/>
                    </a:solidFill>
                  </a:tcPr>
                </a:tc>
              </a:tr>
              <a:tr h="398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8998A9"/>
                          </a:solidFill>
                          <a:latin typeface="Nunito Sans"/>
                        </a:rPr>
                        <a:t>1</a:t>
                      </a:r>
                    </a:p>
                  </a:txBody>
                  <a:tcPr marL="127000" marR="9144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Лише один канал введення одночасно: </a:t>
                      </a:r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AUTO</a:t>
                      </a:r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 / </a:t>
                      </a:r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MANUAL</a:t>
                      </a:r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 / </a:t>
                      </a:r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NONE</a:t>
                      </a:r>
                    </a:p>
                  </a:txBody>
                  <a:tcPr marL="0" marR="9144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Без прихованого змішування</a:t>
                      </a:r>
                    </a:p>
                  </a:txBody>
                  <a:tcPr marL="0" marR="91440" marT="0" marB="0" anchor="ctr">
                    <a:solidFill>
                      <a:srgbClr val="FFFFFF"/>
                    </a:solidFill>
                  </a:tcPr>
                </a:tc>
              </a:tr>
              <a:tr h="398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8998A9"/>
                          </a:solidFill>
                          <a:latin typeface="Nunito Sans"/>
                        </a:rPr>
                        <a:t>2</a:t>
                      </a:r>
                    </a:p>
                  </a:txBody>
                  <a:tcPr marL="127000" marR="91440" marT="0" marB="0" anchor="ctr"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Два обмеження швидкості: жорстке — у </a:t>
                      </a:r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Gimbal</a:t>
                      </a:r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, обмеження PID — нижче нього</a:t>
                      </a:r>
                    </a:p>
                  </a:txBody>
                  <a:tcPr marL="0" marR="91440" marT="0" marB="0" anchor="ctr"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Anti-windup бачить справжню межу (static_assert)</a:t>
                      </a:r>
                    </a:p>
                  </a:txBody>
                  <a:tcPr marL="0" marR="91440" marT="0" marB="0" anchor="ctr">
                    <a:solidFill>
                      <a:srgbClr val="ECE7E2"/>
                    </a:solidFill>
                  </a:tcPr>
                </a:tc>
              </a:tr>
              <a:tr h="398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8998A9"/>
                          </a:solidFill>
                          <a:latin typeface="Nunito Sans"/>
                        </a:rPr>
                        <a:t>3</a:t>
                      </a:r>
                    </a:p>
                  </a:txBody>
                  <a:tcPr marL="127000" marR="9144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Черга логів відкидає найстаріше, ніколи не блокується</a:t>
                      </a:r>
                    </a:p>
                  </a:txBody>
                  <a:tcPr marL="0" marR="9144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Телеметрія може загубитися. Керування — ні</a:t>
                      </a:r>
                    </a:p>
                  </a:txBody>
                  <a:tcPr marL="0" marR="91440" marT="0" marB="0" anchor="ctr">
                    <a:solidFill>
                      <a:srgbClr val="FFFFFF"/>
                    </a:solidFill>
                  </a:tcPr>
                </a:tc>
              </a:tr>
              <a:tr h="398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8998A9"/>
                          </a:solidFill>
                          <a:latin typeface="Nunito Sans"/>
                        </a:rPr>
                        <a:t>4</a:t>
                      </a:r>
                    </a:p>
                  </a:txBody>
                  <a:tcPr marL="127000" marR="91440" marT="0" marB="0" anchor="ctr"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NDJSON + CRC-8, ліміт рядка 256 байт, </a:t>
                      </a:r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NaN</a:t>
                      </a:r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 відхиляється</a:t>
                      </a:r>
                    </a:p>
                  </a:txBody>
                  <a:tcPr marL="0" marR="91440" marT="0" marB="0" anchor="ctr"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NaN у PID зламав би інтегратор</a:t>
                      </a:r>
                    </a:p>
                  </a:txBody>
                  <a:tcPr marL="0" marR="91440" marT="0" marB="0" anchor="ctr">
                    <a:solidFill>
                      <a:srgbClr val="ECE7E2"/>
                    </a:solidFill>
                  </a:tcPr>
                </a:tc>
              </a:tr>
              <a:tr h="398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8998A9"/>
                          </a:solidFill>
                          <a:latin typeface="Nunito Sans"/>
                        </a:rPr>
                        <a:t>5</a:t>
                      </a:r>
                    </a:p>
                  </a:txBody>
                  <a:tcPr marL="127000" marR="9144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Обхід зони: лазер малює зону за годинниковою стрілкою</a:t>
                      </a:r>
                    </a:p>
                  </a:txBody>
                  <a:tcPr marL="0" marR="9144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Неправильний напрямок = неправильний прапорець осі, видно за 4 с</a:t>
                      </a:r>
                    </a:p>
                  </a:txBody>
                  <a:tcPr marL="0" marR="91440" marT="0" marB="0" anchor="ctr">
                    <a:solidFill>
                      <a:srgbClr val="FFFFFF"/>
                    </a:solidFill>
                  </a:tcPr>
                </a:tc>
              </a:tr>
              <a:tr h="398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8998A9"/>
                          </a:solidFill>
                          <a:latin typeface="Nunito Sans"/>
                        </a:rPr>
                        <a:t>6</a:t>
                      </a:r>
                    </a:p>
                  </a:txBody>
                  <a:tcPr marL="127000" marR="91440" marT="0" marB="0" anchor="ctr"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Розбір JSON: власний парсер замість </a:t>
                      </a:r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cJSON</a:t>
                      </a:r>
                    </a:p>
                  </a:txBody>
                  <a:tcPr marL="0" marR="91440" marT="0" marB="0" anchor="ctr"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cJSON виконує malloc на кожен розбір; проєкт забороняє купу після ініціалізації (coding.md)</a:t>
                      </a:r>
                    </a:p>
                  </a:txBody>
                  <a:tcPr marL="0" marR="91440" marT="0" marB="0" anchor="ctr">
                    <a:solidFill>
                      <a:srgbClr val="ECE7E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9"/>
          <p:cNvSpPr/>
          <p:nvPr/>
        </p:nvSpPr>
        <p:spPr>
          <a:xfrm>
            <a:off x="812800" y="812800"/>
            <a:ext cx="1466499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9"/>
          <p:cNvSpPr/>
          <p:nvPr/>
        </p:nvSpPr>
        <p:spPr>
          <a:xfrm>
            <a:off x="952500" y="876300"/>
            <a:ext cx="1260528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РЕАЛІЗАЦІЯ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9"/>
          <p:cNvSpPr/>
          <p:nvPr/>
        </p:nvSpPr>
        <p:spPr>
          <a:xfrm>
            <a:off x="812800" y="1305520"/>
            <a:ext cx="10883392" cy="3885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600"/>
              <a:buFont typeface="Nunito Sans"/>
              <a:buNone/>
            </a:pPr>
            <a:r>
              <a:rPr b="1" i="0" lang="en-US" sz="26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Реалізація: код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TextBox 165"/>
          <p:cNvSpPr txBox="1"/>
          <p:nvPr/>
        </p:nvSpPr>
        <p:spPr>
          <a:xfrm>
            <a:off x="812800" y="1784061"/>
            <a:ext cx="5340096" cy="27424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u="none">
                <a:solidFill>
                  <a:srgbClr val="232323"/>
                </a:solidFill>
                <a:latin typeface="Nunito Sans"/>
              </a:rPr>
              <a:t>AIM — ESP32-S3 (гімбал-контролер)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349096" y="1784061"/>
            <a:ext cx="5340096" cy="27424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u="none">
                <a:solidFill>
                  <a:srgbClr val="232323"/>
                </a:solidFill>
                <a:latin typeface="Nunito Sans"/>
              </a:rPr>
              <a:t>EYE — PC (оператор і зір)</a:t>
            </a:r>
          </a:p>
        </p:txBody>
      </p:sp>
      <p:graphicFrame>
        <p:nvGraphicFramePr>
          <p:cNvPr id="168" name="Table 167"/>
          <p:cNvGraphicFramePr>
            <a:graphicFrameLocks noGrp="1"/>
          </p:cNvGraphicFramePr>
          <p:nvPr/>
        </p:nvGraphicFramePr>
        <p:xfrm>
          <a:off x="812800" y="2098302"/>
          <a:ext cx="5340096" cy="3418641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850000"/>
                <a:gridCol w="3490096"/>
              </a:tblGrid>
              <a:tr h="298641">
                <a:tc>
                  <a:txBody>
                    <a:bodyPr wrap="square"/>
                    <a:lstStyle/>
                    <a:p>
                      <a:r>
                        <a:rPr sz="1100" b="1" u="none">
                          <a:solidFill>
                            <a:srgbClr val="232323"/>
                          </a:solidFill>
                          <a:latin typeface="Nunito Sans"/>
                        </a:rPr>
                        <a:t>Файл</a:t>
                      </a:r>
                    </a:p>
                  </a:txBody>
                  <a:tcPr marL="127000" marR="91440" marT="41910" marB="41910" anchor="ctr">
                    <a:solidFill>
                      <a:srgbClr val="C5D6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u="none">
                          <a:solidFill>
                            <a:srgbClr val="232323"/>
                          </a:solidFill>
                          <a:latin typeface="Nunito Sans"/>
                        </a:rPr>
                        <a:t>Опис</a:t>
                      </a:r>
                    </a:p>
                  </a:txBody>
                  <a:tcPr marL="0" marR="91440" marT="41910" marB="41910" anchor="ctr">
                    <a:solidFill>
                      <a:srgbClr val="C5D6E9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4"/>
                        </a:rPr>
                        <a:t>main.cpp</a:t>
                      </a:r>
                    </a:p>
                  </a:txBody>
                  <a:tcPr marL="127000" marR="91440" marT="41910" marB="4191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Точка входу: створює задачі, встановлює ISR E-stop, логує причину скидання.</a:t>
                      </a:r>
                    </a:p>
                  </a:txBody>
                  <a:tcPr marL="0" marR="91440" marT="41910" marB="41910" anchor="ctr">
                    <a:solidFill>
                      <a:srgbClr val="FFFFFF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5"/>
                        </a:rPr>
                        <a:t>StateMachine.hpp</a:t>
                      </a:r>
                    </a:p>
                  </a:txBody>
                  <a:tcPr marL="127000" marR="91440" marT="41910" marB="41910" anchor="ctr"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Стани: BOOT→SELFTEST→DISARMED→ARMED, ZONE_TOUR, LINK_LOST, FAULT.</a:t>
                      </a:r>
                    </a:p>
                  </a:txBody>
                  <a:tcPr marL="0" marR="91440" marT="41910" marB="41910" anchor="ctr">
                    <a:solidFill>
                      <a:srgbClr val="ECE7E2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6"/>
                        </a:rPr>
                        <a:t>tasks/Ctrl.hpp</a:t>
                      </a:r>
                    </a:p>
                  </a:txBody>
                  <a:tcPr marL="127000" marR="91440" marT="41910" marB="4191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Задача ctrl (20 мс): дренує cmd_q, крок ПІД.</a:t>
                      </a:r>
                    </a:p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→ керує </a:t>
                      </a:r>
                      <a:r>
                        <a:rPr sz="1050" b="0" u="sng">
                          <a:solidFill>
                            <a:srgbClr val="2A5C8F"/>
                          </a:solidFill>
                          <a:latin typeface="Nunito Sans"/>
                          <a:hlinkClick r:id="rId7"/>
                        </a:rPr>
                        <a:t>Gimbal.hpp</a:t>
                      </a:r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.</a:t>
                      </a:r>
                    </a:p>
                  </a:txBody>
                  <a:tcPr marL="0" marR="91440" marT="41910" marB="41910" anchor="ctr">
                    <a:solidFill>
                      <a:srgbClr val="FFFFFF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8"/>
                        </a:rPr>
                        <a:t>tasks/Safety.hpp</a:t>
                      </a:r>
                    </a:p>
                  </a:txBody>
                  <a:tcPr marL="127000" marR="91440" marT="41910" marB="41910" anchor="ctr"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Задача safety: laserPermitted() — єдиний шлюз дозволу лазера.</a:t>
                      </a:r>
                    </a:p>
                  </a:txBody>
                  <a:tcPr marL="0" marR="91440" marT="41910" marB="41910" anchor="ctr">
                    <a:solidFill>
                      <a:srgbClr val="ECE7E2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9"/>
                        </a:rPr>
                        <a:t>tasks/LinkUart.hpp</a:t>
                      </a:r>
                    </a:p>
                  </a:txBody>
                  <a:tcPr marL="127000" marR="91440" marT="41910" marB="4191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Задача link_uart: UART1 RX/TX, кадрування.</a:t>
                      </a:r>
                    </a:p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→ парсинг: </a:t>
                      </a:r>
                      <a:r>
                        <a:rPr sz="1050" b="0" u="sng">
                          <a:solidFill>
                            <a:srgbClr val="2A5C8F"/>
                          </a:solidFill>
                          <a:latin typeface="Nunito Sans"/>
                          <a:hlinkClick r:id="rId10"/>
                        </a:rPr>
                        <a:t>Protocol.hpp</a:t>
                      </a:r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.</a:t>
                      </a:r>
                    </a:p>
                  </a:txBody>
                  <a:tcPr marL="0" marR="91440" marT="41910" marB="41910" anchor="ctr">
                    <a:solidFill>
                      <a:srgbClr val="FFFFFF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11"/>
                        </a:rPr>
                        <a:t>tasks/Logger.hpp</a:t>
                      </a:r>
                    </a:p>
                  </a:txBody>
                  <a:tcPr marL="127000" marR="91440" marT="41910" marB="41910" anchor="ctr"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Задача logger: запис на SD, єдина з правом довго блокуватись.</a:t>
                      </a:r>
                    </a:p>
                  </a:txBody>
                  <a:tcPr marL="0" marR="91440" marT="41910" marB="41910" anchor="ctr">
                    <a:solidFill>
                      <a:srgbClr val="ECE7E2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12"/>
                        </a:rPr>
                        <a:t>utils/Pid.hpp</a:t>
                      </a:r>
                    </a:p>
                  </a:txBody>
                  <a:tcPr marL="127000" marR="91440" marT="41910" marB="4191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Швидкісна форма PID: вихід = швидкість, інтегрується в кут щотику.</a:t>
                      </a:r>
                    </a:p>
                  </a:txBody>
                  <a:tcPr marL="0" marR="91440" marT="41910" marB="41910" anchor="ctr">
                    <a:solidFill>
                      <a:srgbClr val="FFFFFF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13"/>
                        </a:rPr>
                        <a:t>AutoChannel.hpp</a:t>
                      </a:r>
                    </a:p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14"/>
                        </a:rPr>
                        <a:t>ManualChannel.hpp</a:t>
                      </a:r>
                    </a:p>
                  </a:txBody>
                  <a:tcPr marL="127000" marR="91440" marT="41910" marB="41910" anchor="ctr"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Авто-наведення за похибкою від EYE та ручне керування з ПК.</a:t>
                      </a:r>
                    </a:p>
                  </a:txBody>
                  <a:tcPr marL="0" marR="91440" marT="41910" marB="41910" anchor="ctr">
                    <a:solidFill>
                      <a:srgbClr val="ECE7E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9" name="Table 168"/>
          <p:cNvGraphicFramePr>
            <a:graphicFrameLocks noGrp="1"/>
          </p:cNvGraphicFramePr>
          <p:nvPr/>
        </p:nvGraphicFramePr>
        <p:xfrm>
          <a:off x="6349096" y="2098302"/>
          <a:ext cx="5340096" cy="2638641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850000"/>
                <a:gridCol w="3490096"/>
              </a:tblGrid>
              <a:tr h="298641">
                <a:tc>
                  <a:txBody>
                    <a:bodyPr wrap="square"/>
                    <a:lstStyle/>
                    <a:p>
                      <a:r>
                        <a:rPr sz="1100" b="1" u="none">
                          <a:solidFill>
                            <a:srgbClr val="232323"/>
                          </a:solidFill>
                          <a:latin typeface="Nunito Sans"/>
                        </a:rPr>
                        <a:t>Файл</a:t>
                      </a:r>
                    </a:p>
                  </a:txBody>
                  <a:tcPr marL="127000" marR="91440" marT="41910" marB="41910" anchor="ctr">
                    <a:solidFill>
                      <a:srgbClr val="C5D6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u="none">
                          <a:solidFill>
                            <a:srgbClr val="232323"/>
                          </a:solidFill>
                          <a:latin typeface="Nunito Sans"/>
                        </a:rPr>
                        <a:t>Опис</a:t>
                      </a:r>
                    </a:p>
                  </a:txBody>
                  <a:tcPr marL="0" marR="91440" marT="41910" marB="41910" anchor="ctr">
                    <a:solidFill>
                      <a:srgbClr val="C5D6E9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15"/>
                        </a:rPr>
                        <a:t>tracker.py</a:t>
                      </a:r>
                    </a:p>
                  </a:txBody>
                  <a:tcPr marL="127000" marR="91440" marT="41910" marB="4191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Головний цикл: захоплення кадру.</a:t>
                      </a:r>
                    </a:p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→ детекція: </a:t>
                      </a:r>
                      <a:r>
                        <a:rPr sz="1050" b="0" u="sng">
                          <a:solidFill>
                            <a:srgbClr val="2A5C8F"/>
                          </a:solidFill>
                          <a:latin typeface="Nunito Sans"/>
                          <a:hlinkClick r:id="rId16"/>
                        </a:rPr>
                        <a:t>dots.py</a:t>
                      </a:r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.</a:t>
                      </a:r>
                    </a:p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→ надсилання похибки: </a:t>
                      </a:r>
                      <a:r>
                        <a:rPr sz="1050" b="0" u="sng">
                          <a:solidFill>
                            <a:srgbClr val="2A5C8F"/>
                          </a:solidFill>
                          <a:latin typeface="Nunito Sans"/>
                          <a:hlinkClick r:id="rId17"/>
                        </a:rPr>
                        <a:t>serial_link.py</a:t>
                      </a:r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.</a:t>
                      </a:r>
                    </a:p>
                  </a:txBody>
                  <a:tcPr marL="0" marR="91440" marT="41910" marB="41910" anchor="ctr">
                    <a:solidFill>
                      <a:srgbClr val="FFFFFF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18"/>
                        </a:rPr>
                        <a:t>dots.py</a:t>
                      </a:r>
                    </a:p>
                  </a:txBody>
                  <a:tcPr marL="127000" marR="91440" marT="41910" marB="41910" anchor="ctr"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Детекція червоної/чорної точки (OpenCV), вектор похибки.</a:t>
                      </a:r>
                    </a:p>
                  </a:txBody>
                  <a:tcPr marL="0" marR="91440" marT="41910" marB="41910" anchor="ctr">
                    <a:solidFill>
                      <a:srgbClr val="ECE7E2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19"/>
                        </a:rPr>
                        <a:t>serial_link.py</a:t>
                      </a:r>
                    </a:p>
                  </a:txBody>
                  <a:tcPr marL="127000" marR="91440" marT="41910" marB="4191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Кадр E dx dy valid на UART1. Форсує dtr=False, rts=False.</a:t>
                      </a:r>
                    </a:p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→ на AIM читає </a:t>
                      </a:r>
                      <a:r>
                        <a:rPr sz="1050" b="0" u="sng">
                          <a:solidFill>
                            <a:srgbClr val="2A5C8F"/>
                          </a:solidFill>
                          <a:latin typeface="Nunito Sans"/>
                          <a:hlinkClick r:id="rId10"/>
                        </a:rPr>
                        <a:t>Protocol.hpp</a:t>
                      </a:r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.</a:t>
                      </a:r>
                    </a:p>
                  </a:txBody>
                  <a:tcPr marL="0" marR="91440" marT="41910" marB="41910" anchor="ctr">
                    <a:solidFill>
                      <a:srgbClr val="FFFFFF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20"/>
                        </a:rPr>
                        <a:t>recenter.py</a:t>
                      </a:r>
                    </a:p>
                  </a:txBody>
                  <a:tcPr marL="127000" marR="91440" marT="41910" marB="41910" anchor="ctr"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Повертає лазер у центр зони, якщо точку не видно; викликається з </a:t>
                      </a:r>
                      <a:r>
                        <a:rPr sz="1050" b="0" u="sng">
                          <a:solidFill>
                            <a:srgbClr val="2A5C8F"/>
                          </a:solidFill>
                          <a:latin typeface="Nunito Sans"/>
                          <a:hlinkClick r:id="rId21"/>
                        </a:rPr>
                        <a:t>tracker.py</a:t>
                      </a:r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.</a:t>
                      </a:r>
                    </a:p>
                  </a:txBody>
                  <a:tcPr marL="0" marR="91440" marT="41910" marB="41910" anchor="ctr">
                    <a:solidFill>
                      <a:srgbClr val="ECE7E2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22"/>
                        </a:rPr>
                        <a:t>controls.py</a:t>
                      </a:r>
                    </a:p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23"/>
                        </a:rPr>
                        <a:t>app_window.py</a:t>
                      </a:r>
                    </a:p>
                  </a:txBody>
                  <a:tcPr marL="127000" marR="91440" marT="41910" marB="4191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Панель оператора: підсилення, канал, телеметрія, кнопка вогню.</a:t>
                      </a:r>
                    </a:p>
                  </a:txBody>
                  <a:tcPr marL="0" marR="91440" marT="41910" marB="41910" anchor="ctr">
                    <a:solidFill>
                      <a:srgbClr val="FFFFFF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24"/>
                        </a:rPr>
                        <a:t>speed.py</a:t>
                      </a:r>
                    </a:p>
                  </a:txBody>
                  <a:tcPr marL="127000" marR="91440" marT="41910" marB="41910" anchor="ctr"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Live-підбір фокусу камери та швидкості наведення.</a:t>
                      </a:r>
                    </a:p>
                  </a:txBody>
                  <a:tcPr marL="0" marR="91440" marT="41910" marB="41910" anchor="ctr">
                    <a:solidFill>
                      <a:srgbClr val="ECE7E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0"/>
          <p:cNvSpPr/>
          <p:nvPr/>
        </p:nvSpPr>
        <p:spPr>
          <a:xfrm>
            <a:off x="812800" y="812800"/>
            <a:ext cx="1089372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0"/>
          <p:cNvSpPr/>
          <p:nvPr/>
        </p:nvSpPr>
        <p:spPr>
          <a:xfrm>
            <a:off x="952500" y="876300"/>
            <a:ext cx="860772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РЕЗУЛЬТАТИ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0"/>
          <p:cNvSpPr/>
          <p:nvPr/>
        </p:nvSpPr>
        <p:spPr>
          <a:xfrm>
            <a:off x="812800" y="1242020"/>
            <a:ext cx="10883400" cy="33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200"/>
              <a:buFont typeface="Nunito Sans"/>
              <a:buNone/>
            </a:pPr>
            <a:r>
              <a:rPr b="1" i="0" lang="en-US" sz="22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Проблеми, з якими зіткнулися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76" name="Table 175"/>
          <p:cNvGraphicFramePr>
            <a:graphicFrameLocks noGrp="1"/>
          </p:cNvGraphicFramePr>
          <p:nvPr/>
        </p:nvGraphicFramePr>
        <p:xfrm>
          <a:off x="812800" y="1638201"/>
          <a:ext cx="10566400" cy="3308641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600000"/>
                <a:gridCol w="5300000"/>
                <a:gridCol w="1666400"/>
              </a:tblGrid>
              <a:tr h="298641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Проблема</a:t>
                      </a:r>
                    </a:p>
                  </a:txBody>
                  <a:tcPr marL="127000" marR="91440" marT="45720" marB="45720" anchor="ctr">
                    <a:solidFill>
                      <a:srgbClr val="C5D6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Рішення</a:t>
                      </a:r>
                    </a:p>
                  </a:txBody>
                  <a:tcPr marL="0" marR="91440" marT="45720" marB="45720" anchor="ctr">
                    <a:solidFill>
                      <a:srgbClr val="C5D6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Статус</a:t>
                      </a:r>
                    </a:p>
                  </a:txBody>
                  <a:tcPr marL="0" marR="91440" marT="45720" marB="45720" anchor="ctr">
                    <a:solidFill>
                      <a:srgbClr val="C5D6E9"/>
                    </a:solidFill>
                  </a:tcPr>
                </a:tc>
              </a:tr>
              <a:tr h="43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Авто-наведення «злітає» → LINK_LOST</a:t>
                      </a:r>
                    </a:p>
                  </a:txBody>
                  <a:tcPr marL="12700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Похибку обмежено до ±1 (dots.py, Protocol.hpp), менша робоча зона 60°/30°.</a:t>
                      </a:r>
                    </a:p>
                  </a:txBody>
                  <a:tcPr marL="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32323"/>
                          </a:solidFill>
                          <a:latin typeface="Nunito Sans"/>
                        </a:rPr>
                        <a:t>Частково</a:t>
                      </a:r>
                    </a:p>
                  </a:txBody>
                  <a:tcPr marL="0" marR="91440" marT="45720" marB="45720" anchor="ctr">
                    <a:solidFill>
                      <a:srgbClr val="FFFFFF"/>
                    </a:solidFill>
                  </a:tcPr>
                </a:tc>
              </a:tr>
              <a:tr h="43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Неправильні кути MIN/MAX</a:t>
                      </a:r>
                    </a:p>
                  </a:txBody>
                  <a:tcPr marL="127000" marR="91440" marT="45720" marB="45720" anchor="ctr"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Виміряно на стенді, прапорці напряму, static_assert тримає зону в межах ходу серво.</a:t>
                      </a:r>
                    </a:p>
                  </a:txBody>
                  <a:tcPr marL="0" marR="91440" marT="45720" marB="45720" anchor="ctr"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414C58"/>
                          </a:solidFill>
                          <a:latin typeface="Nunito Sans"/>
                        </a:rPr>
                        <a:t>Виправлено</a:t>
                      </a:r>
                    </a:p>
                  </a:txBody>
                  <a:tcPr marL="0" marR="91440" marT="45720" marB="45720" anchor="ctr">
                    <a:solidFill>
                      <a:srgbClr val="ECE7E2"/>
                    </a:solidFill>
                  </a:tcPr>
                </a:tc>
              </a:tr>
              <a:tr h="43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Лазер блимає при запуску</a:t>
                      </a:r>
                    </a:p>
                  </a:txBody>
                  <a:tcPr marL="12700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TODO: причина й фікс.</a:t>
                      </a:r>
                    </a:p>
                  </a:txBody>
                  <a:tcPr marL="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32323"/>
                          </a:solidFill>
                          <a:latin typeface="Nunito Sans"/>
                        </a:rPr>
                        <a:t>Відкрито</a:t>
                      </a:r>
                    </a:p>
                  </a:txBody>
                  <a:tcPr marL="0" marR="91440" marT="45720" marB="45720" anchor="ctr">
                    <a:solidFill>
                      <a:srgbClr val="FFFFFF"/>
                    </a:solidFill>
                  </a:tcPr>
                </a:tc>
              </a:tr>
              <a:tr h="43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Дані не доходять до ESP32 при зміні розміру вікна ПК</a:t>
                      </a:r>
                    </a:p>
                  </a:txBody>
                  <a:tcPr marL="127000" marR="91440" marT="45720" marB="45720" anchor="ctr"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TODO: причина й фікс.</a:t>
                      </a:r>
                    </a:p>
                  </a:txBody>
                  <a:tcPr marL="0" marR="91440" marT="45720" marB="45720" anchor="ctr"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32323"/>
                          </a:solidFill>
                          <a:latin typeface="Nunito Sans"/>
                        </a:rPr>
                        <a:t>Відкрито</a:t>
                      </a:r>
                    </a:p>
                  </a:txBody>
                  <a:tcPr marL="0" marR="91440" marT="45720" marB="45720" anchor="ctr">
                    <a:solidFill>
                      <a:srgbClr val="ECE7E2"/>
                    </a:solidFill>
                  </a:tcPr>
                </a:tc>
              </a:tr>
              <a:tr h="43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ESP32 перезавантажується при від'єднанні UART0</a:t>
                      </a:r>
                    </a:p>
                  </a:txBody>
                  <a:tcPr marL="12700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DTR/RTS імпульсує пін EN; serial_link.py примусово ставить dtr=False, rts=False.</a:t>
                      </a:r>
                    </a:p>
                  </a:txBody>
                  <a:tcPr marL="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32323"/>
                          </a:solidFill>
                          <a:latin typeface="Nunito Sans"/>
                        </a:rPr>
                        <a:t>Частково</a:t>
                      </a:r>
                    </a:p>
                  </a:txBody>
                  <a:tcPr marL="0" marR="91440" marT="45720" marB="45720" anchor="ctr">
                    <a:solidFill>
                      <a:srgbClr val="FFFFFF"/>
                    </a:solidFill>
                  </a:tcPr>
                </a:tc>
              </a:tr>
              <a:tr h="43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Повільне наведення</a:t>
                      </a:r>
                    </a:p>
                  </a:txBody>
                  <a:tcPr marL="127000" marR="91440" marT="45720" marB="45720" anchor="ctr"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TODO: причина й фікс.</a:t>
                      </a:r>
                    </a:p>
                  </a:txBody>
                  <a:tcPr marL="0" marR="91440" marT="45720" marB="45720" anchor="ctr"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32323"/>
                          </a:solidFill>
                          <a:latin typeface="Nunito Sans"/>
                        </a:rPr>
                        <a:t>Відкрито</a:t>
                      </a:r>
                    </a:p>
                  </a:txBody>
                  <a:tcPr marL="0" marR="91440" marT="45720" marB="45720" anchor="ctr">
                    <a:solidFill>
                      <a:srgbClr val="ECE7E2"/>
                    </a:solidFill>
                  </a:tcPr>
                </a:tc>
              </a:tr>
              <a:tr h="43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Розпізнавання лазерної точки ненадійне (детектор губить точку на кілька кадрів)</a:t>
                      </a:r>
                    </a:p>
                  </a:txBody>
                  <a:tcPr marL="12700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Частково - підбір порогів OpenCV (tracker.py); TODO: утримання позиції, фільтр стрибків.</a:t>
                      </a:r>
                    </a:p>
                  </a:txBody>
                  <a:tcPr marL="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32323"/>
                          </a:solidFill>
                          <a:latin typeface="Nunito Sans"/>
                        </a:rPr>
                        <a:t>Частково</a:t>
                      </a:r>
                    </a:p>
                  </a:txBody>
                  <a:tcPr marL="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1"/>
          <p:cNvSpPr/>
          <p:nvPr/>
        </p:nvSpPr>
        <p:spPr>
          <a:xfrm>
            <a:off x="812800" y="812800"/>
            <a:ext cx="1089372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11"/>
          <p:cNvSpPr/>
          <p:nvPr/>
        </p:nvSpPr>
        <p:spPr>
          <a:xfrm>
            <a:off x="952500" y="876300"/>
            <a:ext cx="860772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РЕЗУЛЬТАТИ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11"/>
          <p:cNvSpPr/>
          <p:nvPr/>
        </p:nvSpPr>
        <p:spPr>
          <a:xfrm>
            <a:off x="812800" y="1330920"/>
            <a:ext cx="10883392" cy="332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200"/>
              <a:buFont typeface="Nunito Sans"/>
              <a:buNone/>
            </a:pPr>
            <a:r>
              <a:rPr b="1" i="0" lang="en-US" sz="22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Інші проблеми з проєктування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03" name="Table 202"/>
          <p:cNvGraphicFramePr>
            <a:graphicFrameLocks noGrp="1"/>
          </p:cNvGraphicFramePr>
          <p:nvPr/>
        </p:nvGraphicFramePr>
        <p:xfrm>
          <a:off x="812800" y="1816001"/>
          <a:ext cx="10566400" cy="4168641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600000"/>
                <a:gridCol w="5300000"/>
                <a:gridCol w="1666400"/>
              </a:tblGrid>
              <a:tr h="298641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Проблема</a:t>
                      </a:r>
                    </a:p>
                  </a:txBody>
                  <a:tcPr marL="127000" marR="91440" marT="45720" marB="45720" anchor="ctr">
                    <a:solidFill>
                      <a:srgbClr val="C5D6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Що ми зробили</a:t>
                      </a:r>
                    </a:p>
                  </a:txBody>
                  <a:tcPr marL="0" marR="91440" marT="45720" marB="45720" anchor="ctr">
                    <a:solidFill>
                      <a:srgbClr val="C5D6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Статус</a:t>
                      </a:r>
                    </a:p>
                  </a:txBody>
                  <a:tcPr marL="0" marR="91440" marT="45720" marB="45720" anchor="ctr">
                    <a:solidFill>
                      <a:srgbClr val="C5D6E9"/>
                    </a:solidFill>
                  </a:tcPr>
                </a:tc>
              </a:tr>
              <a:tr h="43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Логи й дані ділили UART0; рядок з «F» міг випадково спричинити постріл</a:t>
                      </a:r>
                    </a:p>
                  </a:txBody>
                  <a:tcPr marL="12700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Дані перенесено на UART1; UART0 - лише консоль, команда пострілу захищена.</a:t>
                      </a:r>
                    </a:p>
                  </a:txBody>
                  <a:tcPr marL="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414C58"/>
                          </a:solidFill>
                          <a:latin typeface="Nunito Sans"/>
                        </a:rPr>
                        <a:t>Виправлено</a:t>
                      </a:r>
                    </a:p>
                  </a:txBody>
                  <a:tcPr marL="0" marR="91440" marT="45720" marB="45720" anchor="ctr">
                    <a:solidFill>
                      <a:srgbClr val="FFFFFF"/>
                    </a:solidFill>
                  </a:tcPr>
                </a:tc>
              </a:tr>
              <a:tr h="43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Реле лазера вмикалося при подачі живлення (пін у стані float)</a:t>
                      </a:r>
                    </a:p>
                  </a:txBody>
                  <a:tcPr marL="127000" marR="91440" marT="45720" marB="45720" anchor="ctr"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Рівень встановлено на виводі, додано pull-up.</a:t>
                      </a:r>
                    </a:p>
                  </a:txBody>
                  <a:tcPr marL="0" marR="91440" marT="45720" marB="45720" anchor="ctr"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414C58"/>
                          </a:solidFill>
                          <a:latin typeface="Nunito Sans"/>
                        </a:rPr>
                        <a:t>Виправлено</a:t>
                      </a:r>
                    </a:p>
                  </a:txBody>
                  <a:tcPr marL="0" marR="91440" marT="45720" marB="45720" anchor="ctr">
                    <a:solidFill>
                      <a:srgbClr val="ECE7E2"/>
                    </a:solidFill>
                  </a:tcPr>
                </a:tc>
              </a:tr>
              <a:tr h="43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Запис на SD-картку може зависнути на 100-250 мс</a:t>
                      </a:r>
                    </a:p>
                  </a:txBody>
                  <a:tcPr marL="12700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Окрема задача logger з низьким пріоритетом; черга відкидає найстаріший запис.</a:t>
                      </a:r>
                    </a:p>
                  </a:txBody>
                  <a:tcPr marL="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414C58"/>
                          </a:solidFill>
                          <a:latin typeface="Nunito Sans"/>
                        </a:rPr>
                        <a:t>Виправлено</a:t>
                      </a:r>
                    </a:p>
                  </a:txBody>
                  <a:tcPr marL="0" marR="91440" marT="45720" marB="45720" anchor="ctr">
                    <a:solidFill>
                      <a:srgbClr val="FFFFFF"/>
                    </a:solidFill>
                  </a:tcPr>
                </a:tc>
              </a:tr>
              <a:tr h="43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Затримка камери обмежує підсилення PID</a:t>
                      </a:r>
                    </a:p>
                  </a:txBody>
                  <a:tcPr marL="127000" marR="91440" marT="45720" marB="45720" anchor="ctr"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TODO: причина й фікс.</a:t>
                      </a:r>
                    </a:p>
                  </a:txBody>
                  <a:tcPr marL="0" marR="91440" marT="45720" marB="45720" anchor="ctr"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32323"/>
                          </a:solidFill>
                          <a:latin typeface="Nunito Sans"/>
                        </a:rPr>
                        <a:t>Відкрито</a:t>
                      </a:r>
                    </a:p>
                  </a:txBody>
                  <a:tcPr marL="0" marR="91440" marT="45720" marB="45720" anchor="ctr">
                    <a:solidFill>
                      <a:srgbClr val="ECE7E2"/>
                    </a:solidFill>
                  </a:tcPr>
                </a:tc>
              </a:tr>
              <a:tr h="43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Мертва зона й люфт сервоприводів</a:t>
                      </a:r>
                    </a:p>
                  </a:txBody>
                  <a:tcPr marL="12700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Компенсує зворотний зв'язок з камери.</a:t>
                      </a:r>
                    </a:p>
                  </a:txBody>
                  <a:tcPr marL="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414C58"/>
                          </a:solidFill>
                          <a:latin typeface="Nunito Sans"/>
                        </a:rPr>
                        <a:t>Виправлено</a:t>
                      </a:r>
                    </a:p>
                  </a:txBody>
                  <a:tcPr marL="0" marR="91440" marT="45720" marB="45720" anchor="ctr">
                    <a:solidFill>
                      <a:srgbClr val="FFFFFF"/>
                    </a:solidFill>
                  </a:tcPr>
                </a:tc>
              </a:tr>
              <a:tr h="43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Зависання каналу зв'язку через однопотоковий UI-застосунок</a:t>
                      </a:r>
                    </a:p>
                  </a:txBody>
                  <a:tcPr marL="127000" marR="91440" marT="45720" marB="45720" anchor="ctr"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Обмін даними з ESP перенесено у фоновий потік.</a:t>
                      </a:r>
                    </a:p>
                  </a:txBody>
                  <a:tcPr marL="0" marR="91440" marT="45720" marB="45720" anchor="ctr"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414C58"/>
                          </a:solidFill>
                          <a:latin typeface="Nunito Sans"/>
                        </a:rPr>
                        <a:t>Виправлено</a:t>
                      </a:r>
                    </a:p>
                  </a:txBody>
                  <a:tcPr marL="0" marR="91440" marT="45720" marB="45720" anchor="ctr">
                    <a:solidFill>
                      <a:srgbClr val="ECE7E2"/>
                    </a:solidFill>
                  </a:tcPr>
                </a:tc>
              </a:tr>
              <a:tr h="43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Нелінійна залежність між позиціями на стіні та кутами серво</a:t>
                      </a:r>
                    </a:p>
                  </a:txBody>
                  <a:tcPr marL="12700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TODO: причина й фікс.</a:t>
                      </a:r>
                    </a:p>
                  </a:txBody>
                  <a:tcPr marL="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32323"/>
                          </a:solidFill>
                          <a:latin typeface="Nunito Sans"/>
                        </a:rPr>
                        <a:t>Відкрито</a:t>
                      </a:r>
                    </a:p>
                  </a:txBody>
                  <a:tcPr marL="0" marR="91440" marT="45720" marB="45720" anchor="ctr">
                    <a:solidFill>
                      <a:srgbClr val="FFFFFF"/>
                    </a:solidFill>
                  </a:tcPr>
                </a:tc>
              </a:tr>
              <a:tr h="43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Лазер виходить за межі зони видимості камери</a:t>
                      </a:r>
                    </a:p>
                  </a:txBody>
                  <a:tcPr marL="127000" marR="91440" marT="45720" marB="45720" anchor="ctr"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recenter.py: якщо точку не видно протягом --recenter-ms (типово 1500 мс), гімбал рухається P-кроками до центру зони; стоп при повторному виявленні.</a:t>
                      </a:r>
                    </a:p>
                  </a:txBody>
                  <a:tcPr marL="0" marR="91440" marT="45720" marB="45720" anchor="ctr"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32323"/>
                          </a:solidFill>
                          <a:latin typeface="Nunito Sans"/>
                        </a:rPr>
                        <a:t>Частково</a:t>
                      </a:r>
                    </a:p>
                  </a:txBody>
                  <a:tcPr marL="0" marR="91440" marT="45720" marB="45720" anchor="ctr">
                    <a:solidFill>
                      <a:srgbClr val="ECE7E2"/>
                    </a:solidFill>
                  </a:tcPr>
                </a:tc>
              </a:tr>
              <a:tr h="43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Автофокус камери знижує стабільність детекції</a:t>
                      </a:r>
                    </a:p>
                  </a:txBody>
                  <a:tcPr marL="12700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Автофокус вимкнено, фіксована позиція лінзи (--focus=130); live-підбір у speed.py.</a:t>
                      </a:r>
                    </a:p>
                  </a:txBody>
                  <a:tcPr marL="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32323"/>
                          </a:solidFill>
                          <a:latin typeface="Nunito Sans"/>
                        </a:rPr>
                        <a:t>Частково</a:t>
                      </a:r>
                    </a:p>
                  </a:txBody>
                  <a:tcPr marL="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2"/>
          <p:cNvSpPr/>
          <p:nvPr/>
        </p:nvSpPr>
        <p:spPr>
          <a:xfrm>
            <a:off x="812800" y="812800"/>
            <a:ext cx="1089372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12"/>
          <p:cNvSpPr/>
          <p:nvPr/>
        </p:nvSpPr>
        <p:spPr>
          <a:xfrm>
            <a:off x="952500" y="876300"/>
            <a:ext cx="860772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РЕЗУЛЬТАТИ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2"/>
          <p:cNvSpPr/>
          <p:nvPr/>
        </p:nvSpPr>
        <p:spPr>
          <a:xfrm>
            <a:off x="812800" y="1280120"/>
            <a:ext cx="10883392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4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Відкриті питання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13" name="Table 212"/>
          <p:cNvGraphicFramePr>
            <a:graphicFrameLocks noGrp="1"/>
          </p:cNvGraphicFramePr>
          <p:nvPr/>
        </p:nvGraphicFramePr>
        <p:xfrm>
          <a:off x="812800" y="1742380"/>
          <a:ext cx="10566400" cy="239256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4330700"/>
                <a:gridCol w="6235700"/>
              </a:tblGrid>
              <a:tr h="398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Питання</a:t>
                      </a:r>
                    </a:p>
                  </a:txBody>
                  <a:tcPr marL="127000" marR="91440" marT="0" marB="0" anchor="ctr">
                    <a:solidFill>
                      <a:srgbClr val="C5D6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Стан</a:t>
                      </a:r>
                    </a:p>
                  </a:txBody>
                  <a:tcPr marL="0" marR="91440" marT="0" marB="0" anchor="ctr">
                    <a:solidFill>
                      <a:srgbClr val="C5D6E9"/>
                    </a:solidFill>
                  </a:tcPr>
                </a:tc>
              </a:tr>
              <a:tr h="398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Дефект реле при увімкненні</a:t>
                      </a:r>
                    </a:p>
                  </a:txBody>
                  <a:tcPr marL="127000" marR="9144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Прошивку виправлено. Апаратно: </a:t>
                      </a:r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TODO</a:t>
                      </a:r>
                    </a:p>
                  </a:txBody>
                  <a:tcPr marL="0" marR="91440" marT="0" marB="0" anchor="ctr">
                    <a:solidFill>
                      <a:srgbClr val="FFFFFF"/>
                    </a:solidFill>
                  </a:tcPr>
                </a:tc>
              </a:tr>
              <a:tr h="398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Немає годинника реального часу; t_wall_iso порожнє</a:t>
                      </a:r>
                    </a:p>
                  </a:txBody>
                  <a:tcPr marL="127000" marR="91440" marT="0" marB="0" anchor="ctr"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Час вирівнюється офлайн за записом BOOT</a:t>
                      </a:r>
                    </a:p>
                  </a:txBody>
                  <a:tcPr marL="0" marR="91440" marT="0" marB="0" anchor="ctr">
                    <a:solidFill>
                      <a:srgbClr val="ECE7E2"/>
                    </a:solidFill>
                  </a:tcPr>
                </a:tc>
              </a:tr>
              <a:tr h="398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Немає глибокого сну; режим очікування — PARKED</a:t>
                      </a:r>
                    </a:p>
                  </a:txBody>
                  <a:tcPr marL="127000" marR="9144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ESP32-S3 не може утримувати сервоприводи через PWM у режимі сну</a:t>
                      </a:r>
                    </a:p>
                  </a:txBody>
                  <a:tcPr marL="0" marR="91440" marT="0" marB="0" anchor="ctr">
                    <a:solidFill>
                      <a:srgbClr val="FFFFFF"/>
                    </a:solidFill>
                  </a:tcPr>
                </a:tc>
              </a:tr>
              <a:tr h="398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Лише один канал зв'язку (UART)</a:t>
                      </a:r>
                    </a:p>
                  </a:txBody>
                  <a:tcPr marL="127000" marR="91440" marT="0" marB="0" anchor="ctr"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Бездротовий зв'язок — наступний етап</a:t>
                      </a:r>
                    </a:p>
                  </a:txBody>
                  <a:tcPr marL="0" marR="91440" marT="0" marB="0" anchor="ctr">
                    <a:solidFill>
                      <a:srgbClr val="ECE7E2"/>
                    </a:solidFill>
                  </a:tcPr>
                </a:tc>
              </a:tr>
              <a:tr h="398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Детектор: лише поріг + форма</a:t>
                      </a:r>
                    </a:p>
                  </a:txBody>
                  <a:tcPr marL="127000" marR="9144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TODO: що не працює</a:t>
                      </a:r>
                    </a:p>
                  </a:txBody>
                  <a:tcPr marL="0" marR="91440" marT="0" marB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3"/>
          <p:cNvSpPr/>
          <p:nvPr/>
        </p:nvSpPr>
        <p:spPr>
          <a:xfrm>
            <a:off x="812800" y="812800"/>
            <a:ext cx="1089372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13"/>
          <p:cNvSpPr/>
          <p:nvPr/>
        </p:nvSpPr>
        <p:spPr>
          <a:xfrm>
            <a:off x="952500" y="876300"/>
            <a:ext cx="860772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РЕЗУЛЬТАТИ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3"/>
          <p:cNvSpPr/>
          <p:nvPr/>
        </p:nvSpPr>
        <p:spPr>
          <a:xfrm>
            <a:off x="812800" y="1305520"/>
            <a:ext cx="10883392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4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Результати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3"/>
          <p:cNvSpPr/>
          <p:nvPr/>
        </p:nvSpPr>
        <p:spPr>
          <a:xfrm>
            <a:off x="7958634" y="1793180"/>
            <a:ext cx="3420566" cy="1016000"/>
          </a:xfrm>
          <a:prstGeom prst="roundRect">
            <a:avLst>
              <a:gd fmla="val 10000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13"/>
          <p:cNvSpPr/>
          <p:nvPr/>
        </p:nvSpPr>
        <p:spPr>
          <a:xfrm>
            <a:off x="8136434" y="1970980"/>
            <a:ext cx="635198" cy="297160"/>
          </a:xfrm>
          <a:prstGeom prst="roundRect">
            <a:avLst>
              <a:gd fmla="val 34190" name="adj"/>
            </a:avLst>
          </a:prstGeom>
          <a:solidFill>
            <a:srgbClr val="FCF2B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13"/>
          <p:cNvSpPr/>
          <p:nvPr/>
        </p:nvSpPr>
        <p:spPr>
          <a:xfrm>
            <a:off x="8250734" y="2021780"/>
            <a:ext cx="457398" cy="220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100"/>
              <a:buFont typeface="Nunito Sans"/>
              <a:buNone/>
            </a:pPr>
            <a:r>
              <a:rPr b="1" i="0" lang="en-US" sz="11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TODO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3"/>
          <p:cNvSpPr/>
          <p:nvPr/>
        </p:nvSpPr>
        <p:spPr>
          <a:xfrm>
            <a:off x="8136434" y="2331641"/>
            <a:ext cx="3156915" cy="2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000"/>
              <a:buFont typeface="Nunito Sans"/>
              <a:buNone/>
            </a:pPr>
            <a:r>
              <a:rPr b="0" i="0" lang="en-US" sz="10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Похибка відстеження (px), усталена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13"/>
          <p:cNvSpPr/>
          <p:nvPr/>
        </p:nvSpPr>
        <p:spPr>
          <a:xfrm>
            <a:off x="812800" y="2961580"/>
            <a:ext cx="3420467" cy="894060"/>
          </a:xfrm>
          <a:prstGeom prst="roundRect">
            <a:avLst>
              <a:gd fmla="val 11364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13"/>
          <p:cNvSpPr/>
          <p:nvPr/>
        </p:nvSpPr>
        <p:spPr>
          <a:xfrm>
            <a:off x="990600" y="3139380"/>
            <a:ext cx="635198" cy="297160"/>
          </a:xfrm>
          <a:prstGeom prst="roundRect">
            <a:avLst>
              <a:gd fmla="val 34190" name="adj"/>
            </a:avLst>
          </a:prstGeom>
          <a:solidFill>
            <a:srgbClr val="FCF2B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9" name="Google Shape;249;p13"/>
          <p:cNvSpPr/>
          <p:nvPr/>
        </p:nvSpPr>
        <p:spPr>
          <a:xfrm>
            <a:off x="1104900" y="3190180"/>
            <a:ext cx="457398" cy="220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100"/>
              <a:buFont typeface="Nunito Sans"/>
              <a:buNone/>
            </a:pPr>
            <a:r>
              <a:rPr b="1" i="0" lang="en-US" sz="11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TODO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13"/>
          <p:cNvSpPr/>
          <p:nvPr/>
        </p:nvSpPr>
        <p:spPr>
          <a:xfrm>
            <a:off x="990600" y="3500041"/>
            <a:ext cx="3156813" cy="2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000"/>
              <a:buFont typeface="Nunito Sans"/>
              <a:buNone/>
            </a:pPr>
            <a:r>
              <a:rPr b="0" i="0" lang="en-US" sz="10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Час встановлення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3"/>
          <p:cNvSpPr/>
          <p:nvPr/>
        </p:nvSpPr>
        <p:spPr>
          <a:xfrm>
            <a:off x="4385667" y="2961580"/>
            <a:ext cx="3420566" cy="894060"/>
          </a:xfrm>
          <a:prstGeom prst="roundRect">
            <a:avLst>
              <a:gd fmla="val 11364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13"/>
          <p:cNvSpPr/>
          <p:nvPr/>
        </p:nvSpPr>
        <p:spPr>
          <a:xfrm>
            <a:off x="4563467" y="3139380"/>
            <a:ext cx="635198" cy="297160"/>
          </a:xfrm>
          <a:prstGeom prst="roundRect">
            <a:avLst>
              <a:gd fmla="val 34190" name="adj"/>
            </a:avLst>
          </a:prstGeom>
          <a:solidFill>
            <a:srgbClr val="FCF2B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13"/>
          <p:cNvSpPr/>
          <p:nvPr/>
        </p:nvSpPr>
        <p:spPr>
          <a:xfrm>
            <a:off x="4677767" y="3190180"/>
            <a:ext cx="457398" cy="220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100"/>
              <a:buFont typeface="Nunito Sans"/>
              <a:buNone/>
            </a:pPr>
            <a:r>
              <a:rPr b="1" i="0" lang="en-US" sz="11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TODO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13"/>
          <p:cNvSpPr/>
          <p:nvPr/>
        </p:nvSpPr>
        <p:spPr>
          <a:xfrm>
            <a:off x="4563467" y="3500041"/>
            <a:ext cx="3156915" cy="2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000"/>
              <a:buFont typeface="Nunito Sans"/>
              <a:buNone/>
            </a:pPr>
            <a:r>
              <a:rPr b="0" i="0" lang="en-US" sz="10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Макс. затримка запису на SD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13"/>
          <p:cNvSpPr/>
          <p:nvPr/>
        </p:nvSpPr>
        <p:spPr>
          <a:xfrm>
            <a:off x="7958634" y="2961580"/>
            <a:ext cx="3420566" cy="894060"/>
          </a:xfrm>
          <a:prstGeom prst="roundRect">
            <a:avLst>
              <a:gd fmla="val 11364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13"/>
          <p:cNvSpPr/>
          <p:nvPr/>
        </p:nvSpPr>
        <p:spPr>
          <a:xfrm>
            <a:off x="8136434" y="3139380"/>
            <a:ext cx="635198" cy="297160"/>
          </a:xfrm>
          <a:prstGeom prst="roundRect">
            <a:avLst>
              <a:gd fmla="val 34190" name="adj"/>
            </a:avLst>
          </a:prstGeom>
          <a:solidFill>
            <a:srgbClr val="FCF2B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p13"/>
          <p:cNvSpPr/>
          <p:nvPr/>
        </p:nvSpPr>
        <p:spPr>
          <a:xfrm>
            <a:off x="8250734" y="3190180"/>
            <a:ext cx="457398" cy="220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100"/>
              <a:buFont typeface="Nunito Sans"/>
              <a:buNone/>
            </a:pPr>
            <a:r>
              <a:rPr b="1" i="0" lang="en-US" sz="11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TODO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13"/>
          <p:cNvSpPr/>
          <p:nvPr/>
        </p:nvSpPr>
        <p:spPr>
          <a:xfrm>
            <a:off x="8136434" y="3500041"/>
            <a:ext cx="3156915" cy="2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000"/>
              <a:buFont typeface="Nunito Sans"/>
              <a:buNone/>
            </a:pPr>
            <a:r>
              <a:rPr b="0" i="0" lang="en-US" sz="10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Тривалий прогін без збоїв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13"/>
          <p:cNvSpPr/>
          <p:nvPr/>
        </p:nvSpPr>
        <p:spPr>
          <a:xfrm>
            <a:off x="812800" y="4414441"/>
            <a:ext cx="5207000" cy="524470"/>
          </a:xfrm>
          <a:prstGeom prst="roundRect">
            <a:avLst>
              <a:gd fmla="val 19372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13"/>
          <p:cNvSpPr/>
          <p:nvPr/>
        </p:nvSpPr>
        <p:spPr>
          <a:xfrm>
            <a:off x="952500" y="4578846"/>
            <a:ext cx="1133078" cy="220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100"/>
              <a:buFont typeface="Nunito Sans"/>
              <a:buNone/>
            </a:pPr>
            <a:r>
              <a:rPr b="1" i="0" lang="en-US" sz="11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Відео + QR-код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13"/>
          <p:cNvSpPr/>
          <p:nvPr/>
        </p:nvSpPr>
        <p:spPr>
          <a:xfrm>
            <a:off x="2123678" y="4554141"/>
            <a:ext cx="554335" cy="245070"/>
          </a:xfrm>
          <a:prstGeom prst="roundRect">
            <a:avLst>
              <a:gd fmla="val 36275" name="adj"/>
            </a:avLst>
          </a:prstGeom>
          <a:solidFill>
            <a:srgbClr val="FCF2B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13"/>
          <p:cNvSpPr/>
          <p:nvPr/>
        </p:nvSpPr>
        <p:spPr>
          <a:xfrm>
            <a:off x="2225278" y="4592241"/>
            <a:ext cx="401935" cy="1942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950"/>
              <a:buFont typeface="Nunito Sans"/>
              <a:buNone/>
            </a:pPr>
            <a:r>
              <a:rPr b="1" i="0" lang="en-US" sz="95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TODO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3"/>
          <p:cNvSpPr/>
          <p:nvPr/>
        </p:nvSpPr>
        <p:spPr>
          <a:xfrm>
            <a:off x="6172200" y="4414441"/>
            <a:ext cx="5207000" cy="524470"/>
          </a:xfrm>
          <a:prstGeom prst="roundRect">
            <a:avLst>
              <a:gd fmla="val 19372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13"/>
          <p:cNvSpPr/>
          <p:nvPr/>
        </p:nvSpPr>
        <p:spPr>
          <a:xfrm>
            <a:off x="6311900" y="4578846"/>
            <a:ext cx="2843074" cy="220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100"/>
              <a:buFont typeface="Nunito Sans"/>
              <a:buNone/>
            </a:pPr>
            <a:r>
              <a:rPr b="1" i="0" lang="en-US" sz="11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Графік — похибка від часу, до/після налаштування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13"/>
          <p:cNvSpPr/>
          <p:nvPr/>
        </p:nvSpPr>
        <p:spPr>
          <a:xfrm>
            <a:off x="9161066" y="4554141"/>
            <a:ext cx="554335" cy="245070"/>
          </a:xfrm>
          <a:prstGeom prst="roundRect">
            <a:avLst>
              <a:gd fmla="val 36275" name="adj"/>
            </a:avLst>
          </a:prstGeom>
          <a:solidFill>
            <a:srgbClr val="FCF2B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13"/>
          <p:cNvSpPr/>
          <p:nvPr/>
        </p:nvSpPr>
        <p:spPr>
          <a:xfrm>
            <a:off x="9262666" y="4592241"/>
            <a:ext cx="401935" cy="1942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950"/>
              <a:buFont typeface="Nunito Sans"/>
              <a:buNone/>
            </a:pPr>
            <a:r>
              <a:rPr b="1" i="0" lang="en-US" sz="95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TODO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14"/>
          <p:cNvSpPr/>
          <p:nvPr/>
        </p:nvSpPr>
        <p:spPr>
          <a:xfrm>
            <a:off x="812800" y="812800"/>
            <a:ext cx="1054359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" name="Google Shape;274;p14"/>
          <p:cNvSpPr/>
          <p:nvPr/>
        </p:nvSpPr>
        <p:spPr>
          <a:xfrm>
            <a:off x="952500" y="876300"/>
            <a:ext cx="833949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ЩО ДАЛІ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14"/>
          <p:cNvSpPr/>
          <p:nvPr/>
        </p:nvSpPr>
        <p:spPr>
          <a:xfrm>
            <a:off x="812800" y="1407120"/>
            <a:ext cx="10883392" cy="3885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600"/>
              <a:buFont typeface="Nunito Sans"/>
              <a:buNone/>
            </a:pPr>
            <a:r>
              <a:rPr b="1" i="0" lang="en-US" sz="26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Що далі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14"/>
          <p:cNvSpPr/>
          <p:nvPr/>
        </p:nvSpPr>
        <p:spPr>
          <a:xfrm>
            <a:off x="812800" y="2024246"/>
            <a:ext cx="3386700" cy="2431800"/>
          </a:xfrm>
          <a:prstGeom prst="roundRect">
            <a:avLst>
              <a:gd fmla="val 7113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14"/>
          <p:cNvSpPr/>
          <p:nvPr/>
        </p:nvSpPr>
        <p:spPr>
          <a:xfrm>
            <a:off x="1041400" y="2252861"/>
            <a:ext cx="406400" cy="406400"/>
          </a:xfrm>
          <a:prstGeom prst="roundRect">
            <a:avLst>
              <a:gd fmla="val 50000" name="adj"/>
            </a:avLst>
          </a:prstGeom>
          <a:solidFill>
            <a:srgbClr val="C5D6E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8" name="Google Shape;278;p14"/>
          <p:cNvSpPr/>
          <p:nvPr/>
        </p:nvSpPr>
        <p:spPr>
          <a:xfrm>
            <a:off x="1187450" y="2322711"/>
            <a:ext cx="165100" cy="2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500"/>
              <a:buFont typeface="Nunito Sans"/>
              <a:buNone/>
            </a:pPr>
            <a:r>
              <a:rPr b="1" i="0" lang="en-US" sz="15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1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4"/>
          <p:cNvSpPr/>
          <p:nvPr/>
        </p:nvSpPr>
        <p:spPr>
          <a:xfrm>
            <a:off x="1041400" y="2773561"/>
            <a:ext cx="3017317" cy="2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500"/>
              <a:buFont typeface="Nunito Sans"/>
              <a:buNone/>
            </a:pPr>
            <a:r>
              <a:rPr b="1" i="0" lang="en-US" sz="15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Зараз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14"/>
          <p:cNvSpPr/>
          <p:nvPr/>
        </p:nvSpPr>
        <p:spPr>
          <a:xfrm>
            <a:off x="1041400" y="3154561"/>
            <a:ext cx="3017317" cy="4520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0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Замкнутий контур через один канал UART, лог на SD, OLED, E-stop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4"/>
          <p:cNvSpPr/>
          <p:nvPr/>
        </p:nvSpPr>
        <p:spPr>
          <a:xfrm>
            <a:off x="4402750" y="2024246"/>
            <a:ext cx="3386700" cy="2431800"/>
          </a:xfrm>
          <a:prstGeom prst="roundRect">
            <a:avLst>
              <a:gd fmla="val 7113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14"/>
          <p:cNvSpPr/>
          <p:nvPr/>
        </p:nvSpPr>
        <p:spPr>
          <a:xfrm>
            <a:off x="4631234" y="2252861"/>
            <a:ext cx="406400" cy="406400"/>
          </a:xfrm>
          <a:prstGeom prst="roundRect">
            <a:avLst>
              <a:gd fmla="val 50000" name="adj"/>
            </a:avLst>
          </a:prstGeom>
          <a:solidFill>
            <a:srgbClr val="C5D6E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14"/>
          <p:cNvSpPr/>
          <p:nvPr/>
        </p:nvSpPr>
        <p:spPr>
          <a:xfrm>
            <a:off x="4777284" y="2322711"/>
            <a:ext cx="165100" cy="2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500"/>
              <a:buFont typeface="Nunito Sans"/>
              <a:buNone/>
            </a:pPr>
            <a:r>
              <a:rPr b="1" i="0" lang="en-US" sz="15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2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4"/>
          <p:cNvSpPr/>
          <p:nvPr/>
        </p:nvSpPr>
        <p:spPr>
          <a:xfrm>
            <a:off x="4631234" y="2773561"/>
            <a:ext cx="3017419" cy="2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500"/>
              <a:buFont typeface="Nunito Sans"/>
              <a:buNone/>
            </a:pPr>
            <a:r>
              <a:rPr b="1" i="0" lang="en-US" sz="15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Наступне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4"/>
          <p:cNvSpPr/>
          <p:nvPr/>
        </p:nvSpPr>
        <p:spPr>
          <a:xfrm>
            <a:off x="7992575" y="2024246"/>
            <a:ext cx="3386700" cy="2431800"/>
          </a:xfrm>
          <a:prstGeom prst="roundRect">
            <a:avLst>
              <a:gd fmla="val 7113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" name="Google Shape;286;p14"/>
          <p:cNvSpPr/>
          <p:nvPr/>
        </p:nvSpPr>
        <p:spPr>
          <a:xfrm>
            <a:off x="8221166" y="2252861"/>
            <a:ext cx="406400" cy="406400"/>
          </a:xfrm>
          <a:prstGeom prst="roundRect">
            <a:avLst>
              <a:gd fmla="val 50000" name="adj"/>
            </a:avLst>
          </a:prstGeom>
          <a:solidFill>
            <a:srgbClr val="C5D6E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p14"/>
          <p:cNvSpPr/>
          <p:nvPr/>
        </p:nvSpPr>
        <p:spPr>
          <a:xfrm>
            <a:off x="8367216" y="2322711"/>
            <a:ext cx="165100" cy="2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500"/>
              <a:buFont typeface="Nunito Sans"/>
              <a:buNone/>
            </a:pPr>
            <a:r>
              <a:rPr b="1" i="0" lang="en-US" sz="15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3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4"/>
          <p:cNvSpPr/>
          <p:nvPr/>
        </p:nvSpPr>
        <p:spPr>
          <a:xfrm>
            <a:off x="8221166" y="2773561"/>
            <a:ext cx="3017317" cy="2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500"/>
              <a:buFont typeface="Nunito Sans"/>
              <a:buNone/>
            </a:pPr>
            <a:r>
              <a:rPr b="1" i="0" lang="en-US" sz="15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Пізніше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14"/>
          <p:cNvSpPr/>
          <p:nvPr/>
        </p:nvSpPr>
        <p:spPr>
          <a:xfrm>
            <a:off x="8221166" y="3154561"/>
            <a:ext cx="3017317" cy="4520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0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Бездротовий пульт (</a:t>
            </a: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pilot</a:t>
            </a:r>
            <a:r>
              <a:rPr b="0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, ESP32-C3), MQTT, вузол зберігання (</a:t>
            </a: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vault</a:t>
            </a:r>
            <a:r>
              <a:rPr b="0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, STM32)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14"/>
          <p:cNvSpPr txBox="1"/>
          <p:nvPr/>
        </p:nvSpPr>
        <p:spPr>
          <a:xfrm>
            <a:off x="4675900" y="3116450"/>
            <a:ext cx="30174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-US"/>
              <a:t>Покращити монтаж проводки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-US"/>
              <a:t>Єдине джерело живлення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-US"/>
              <a:t>TBD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2026-09-20T09:46:50Z</dcterms:created>
  <dc:creator>PptxGenJS</dc:creator>
</cp:coreProperties>
</file>