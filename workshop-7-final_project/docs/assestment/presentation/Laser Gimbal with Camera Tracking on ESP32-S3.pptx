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1" r:id="rId26"/>
    <p:sldId id="270" r:id="rId25"/>
    <p:sldId id="269" r:id="rId19"/>
  </p:sldIdLst>
  <p:sldSz cy="6858000" cx="12192000"/>
  <p:notesSz cx="6858000" cy="12192000"/>
  <p:embeddedFontLst>
    <p:embeddedFont>
      <p:font typeface="Nunito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vVzOUB7THY6t5WQKYOg91dqgP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E538C2C-0403-4DD1-BF6D-4BBF76AF478C}">
  <a:tblStyle styleId="{9E538C2C-0403-4DD1-BF6D-4BBF76AF478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4.xml"/><Relationship Id="rId20" Type="http://schemas.openxmlformats.org/officeDocument/2006/relationships/font" Target="fonts/NunitoSans-regular.fntdata"/><Relationship Id="rId21" Type="http://schemas.openxmlformats.org/officeDocument/2006/relationships/font" Target="fonts/NunitoSans-bold.fntdata"/><Relationship Id="rId22" Type="http://schemas.openxmlformats.org/officeDocument/2006/relationships/font" Target="fonts/NunitoSans-italic.fntdata"/><Relationship Id="rId23" Type="http://schemas.openxmlformats.org/officeDocument/2006/relationships/font" Target="fonts/NunitoSans-boldItalic.fntdata"/><Relationship Id="rId24" Type="http://customschemas.google.com/relationships/presentationmetadata" Target="metadata"/><Relationship Id="rId25" Type="http://schemas.openxmlformats.org/officeDocument/2006/relationships/slide" Target="slides/slide13.xml"/><Relationship Id="rId26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 титульний слайд. Назвіть проєкт один раз, чітко, і одразу переходьте до гачка. Не зачитуйте вголос поля студента, групи чи дати — аудиторія їх бачить.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Пройдіться цією таблицею згори донизу. Рядок затримки — найважливіший, саме тому решта дизайну виглядає так, як виглядає. Закінчіть на обсязі, щоб аудиторія знала, що свідомо залишено поза межами.</a:t>
            </a:r>
            <a:endParaRPr/>
          </a:p>
        </p:txBody>
      </p:sp>
      <p:sp>
        <p:nvSpPr>
          <p:cNvPr id="41" name="Google Shape;4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Камера — джерело істини, а не власний датчик кута сервопривода. Один канал UART на 115200 бод несе вектор похибки до AIM, який виконує два контури PID і керує гімбалом. Покажіть пунктирний контур: сервопривід рухає точку, камера бачить цей рух, і петля замикається.</a:t>
            </a:r>
            <a:endParaRPr/>
          </a:p>
        </p:txBody>
      </p:sp>
      <p:sp>
        <p:nvSpPr>
          <p:cNvPr id="51" name="Google Shape;5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Головна ідея: ми задаємо швидкість, а не кут, і даємо прошивці інтегрувати швидкість у кут кожні 20 мілісекунд. Цей інтегратор означає, що зазвичай достатньо простого пропорційного регулятора — не треба вручну налаштовувати повний PID.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Пастка з назвами: клас PositionalPid насправді видає швидкість (рампа/інтегратор), а клас VelocityEquationPid видає приріст кута напряму — назви класів навпаки тому, що PositionalPid зберігає позиційну форму рівняння (Kp*e + явний інтеграл), просто трактує вихід як швидкість. Обидва канали реалізовані й порівнювані (AUTO_POSITIONAL за замовчуванням, AUTO_VELOCITYEQUATION — для порівняння/точкового наведення), докладніше — docs/servo-control-strategies.md.</a:t>
            </a:r>
            <a:endParaRPr/>
          </a:p>
        </p:txBody>
      </p:sp>
      <p:sp>
        <p:nvSpPr>
          <p:cNvPr id="61" name="Google Shape;6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П'ять задач, розподілені між двома ядрами. E-stop і шлюз лазера виконуються з найвищим пріоритетом у задачі safety. Задача logger навмисно має найнижчий пріоритет — це єдина задача, якій дозволено блокуватися, тож зависання SD-картки ніколи не затримує контур керування.</a:t>
            </a:r>
            <a:endParaRPr/>
          </a:p>
        </p:txBody>
      </p:sp>
      <p:sp>
        <p:nvSpPr>
          <p:cNvPr id="99" name="Google Shape;9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Лазер може стріляти лише у двох станах, і лише коли всі умови в laserPermitted виконані одночасно. Тиша в каналі протягом 300 мс спричиняє LINK_LOST і зупиняє мотори. Шлях E-stop навмисно мінімальний — переривання лише сповіщає задачу safety і більше нічого не робить.</a:t>
            </a:r>
            <a:endParaRPr/>
          </a:p>
        </p:txBody>
      </p:sp>
      <p:sp>
        <p:nvSpPr>
          <p:cNvPr id="111" name="Google Shape;11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Шість невеликих рішень, які вберегли нас від більших проблем згодом. Варто затриматися на другому рядку: власне обмеження PID встановлене нижче жорсткої межі Gimbal, тож логіка anti-windup завжди бачить справжню межу — це перевіряється static_assert на етапі компіляції.</a:t>
            </a:r>
            <a:endParaRPr/>
          </a:p>
        </p:txBody>
      </p:sp>
      <p:sp>
        <p:nvSpPr>
          <p:cNvPr id="125" name="Google Shape;12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Покажіть один реальний фрагмент, десять-двадцять рядків, і поясніть одне неочевидне рішення в ньому — порядок обмежень або static_assert. Не гортайте весь файл.</a:t>
            </a:r>
            <a:endParaRPr/>
          </a:p>
        </p:txBody>
      </p:sp>
      <p:sp>
        <p:nvSpPr>
          <p:cNvPr id="160" name="Google Shape;16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 реальні збої, з якими ми зіткнулися на стенді, а не гіпотетичні. Найстрашніший — зліт авто-наведення: пройдіться виправленням через обмеження уважно, це те, про що найімовірніше запитають.</a:t>
            </a:r>
            <a:endParaRPr/>
          </a:p>
        </p:txBody>
      </p:sp>
      <p:sp>
        <p:nvSpPr>
          <p:cNvPr id="170" name="Google Shape;17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 прийшло з огляду проєкту, а не зі стенда — це режими відмов, які ми виявили, продумавши монтаж і протокол ще до того, як вони стали інцидентами на стенді.</a:t>
            </a:r>
            <a:endParaRPr/>
          </a:p>
        </p:txBody>
      </p:sp>
      <p:sp>
        <p:nvSpPr>
          <p:cNvPr id="197" name="Google Shape;19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Будьте відверті щодо цього — екзаменатор запитає щонайменше про одне з них. Рядки про бездротовий зв'язок і глибокий сон — це свідоме скорочення обсягу, а не недогляд; так і скажіть.</a:t>
            </a:r>
            <a:endParaRPr/>
          </a:p>
        </p:txBody>
      </p:sp>
      <p:sp>
        <p:nvSpPr>
          <p:cNvPr id="207" name="Google Shape;20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Почніть із двох чисел, які в нас справді є: крок керування 20 мс і таймаут зв'язку 300 мс. Чесно скажіть, що решта досі очікує вимірювання — не округлюйте і не вгадуйте вголос.</a:t>
            </a:r>
            <a:endParaRPr/>
          </a:p>
        </p:txBody>
      </p:sp>
      <p:sp>
        <p:nvSpPr>
          <p:cNvPr id="237" name="Google Shape;23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Не намагайтеся охопити все — дайте одну чітку лінію. Скажіть, що працює сьогодні, назвіть єдиний наступний крок, якому віддаєте пріоритет, і завершіть довгостроковим планом щодо бездротового зв'язку та зберігання, щоб аудиторія пішла з відчуттям напрямку.</a:t>
            </a:r>
            <a:endParaRPr/>
          </a:p>
        </p:txBody>
      </p:sp>
      <p:sp>
        <p:nvSpPr>
          <p:cNvPr id="270" name="Google Shape;27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;p15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Google Shape;3;p15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Ці 5 графіків — крок цілі (одноразове зміщення) на стенді для двох режимів (AUTO_POSITIONAL, AUTO_VELOCITYEQUATION) і кількох PID. Вісь X — час у мс від старту логування (не з нуля), вісь Y — похибка, нормована приблизно в межах ±1. “Час до цілі” тут — час від стрибка похибки до входу в межу ≈5% амплітуди й утримання в ній. “Овершут” — перехід через нуль у протилежний бік більший за цю межу. Дані виміряні по пікселях графіків (error_graph.py), не з сирих логів — це оцінка, а не точний вимір. Головне: канал pan не овершутить ні в одному режимі, канал tilt — овершутить завжди на ~30%; збільшення I з 10 до 100 у VELOCITYEQUATION різко скорочує час до цілі.</a:t>
            </a:r>
            <a:endParaRPr/>
          </a:p>
        </p:txBody>
      </p:sp>
      <p:sp>
        <p:nvSpPr>
          <p:cNvPr id="4" name="Google Shape;4;p15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melnikvitaly/workshops/blob/main/workshop-7-final_project/README.md#final-project--laser-gimbal-with-camera-tracking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melnikvitaly/workshops/blob/main/workshop-7-final_project/README.md#about-the-project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hyperlink" Target="https://github.com/melnikvitaly/workshops/blob/main/workshop-7-final_project/docs/architecture.md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hyperlink" Target="https://github.com/melnikvitaly/workshops/blob/main/workshop-7-final_project/docs/servo-control-strategies.md" TargetMode="External"/><Relationship Id="rId5" Type="http://schemas.openxmlformats.org/officeDocument/2006/relationships/hyperlink" Target="https://github.com/melnikvitaly/workshops/blob/main/workshop-7-final_project/docs/pid_controller_equations_positional_vs_velocity.md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hyperlink" Target="https://github.com/melnikvitaly/workshops/blob/main/workshop-7-final_project/docs/diagrams/freertos-tasks.md" TargetMode="External"/><Relationship Id="rId5" Type="http://schemas.openxmlformats.org/officeDocument/2006/relationships/hyperlink" Target="https://github.com/melnikvitaly/workshops/tree/main/workshop-7-final_project/firmware/aim/src/tasks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hyperlink" Target="https://github.com/melnikvitaly/workshops/blob/main/workshop-7-final_project/docs/diagrams/aim-states.md" TargetMode="External"/><Relationship Id="rId5" Type="http://schemas.openxmlformats.org/officeDocument/2006/relationships/hyperlink" Target="https://github.com/melnikvitaly/workshops/blob/main/workshop-7-final_project/firmware/aim/src/StateMachine.hpp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melnikvitaly/workshops/blob/main/workshop-7-final_project/docs/coding.md" TargetMode="External"/><Relationship Id="rId4" Type="http://schemas.openxmlformats.org/officeDocument/2006/relationships/hyperlink" Target="https://github.com/melnikvitaly/workshops/blob/main/workshop-7-final_project/docs/interfaces.md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tracker.py" TargetMode="External"/><Relationship Id="rId4" Type="http://schemas.openxmlformats.org/officeDocument/2006/relationships/hyperlink" Target="https://github.com/melnikvitaly/workshops/blob/main/workshop-7-final_project/firmware/aim/src/main.cpp" TargetMode="External"/><Relationship Id="rId5" Type="http://schemas.openxmlformats.org/officeDocument/2006/relationships/hyperlink" Target="https://github.com/melnikvitaly/workshops/blob/main/workshop-7-final_project/firmware/aim/src/StateMachine.hpp" TargetMode="External"/><Relationship Id="rId6" Type="http://schemas.openxmlformats.org/officeDocument/2006/relationships/hyperlink" Target="https://github.com/melnikvitaly/workshops/blob/main/workshop-7-final_project/firmware/aim/src/tasks/Ctrl.hpp" TargetMode="External"/><Relationship Id="rId7" Type="http://schemas.openxmlformats.org/officeDocument/2006/relationships/hyperlink" Target="firmware/aim/src/parts/Gimbal.hpp" TargetMode="External"/><Relationship Id="rId8" Type="http://schemas.openxmlformats.org/officeDocument/2006/relationships/hyperlink" Target="https://github.com/melnikvitaly/workshops/blob/main/workshop-7-final_project/firmware/aim/src/tasks/Safety.hpp" TargetMode="External"/><Relationship Id="rId9" Type="http://schemas.openxmlformats.org/officeDocument/2006/relationships/hyperlink" Target="https://github.com/melnikvitaly/workshops/blob/main/workshop-7-final_project/firmware/aim/src/tasks/LinkUart.hpp" TargetMode="External"/><Relationship Id="rId10" Type="http://schemas.openxmlformats.org/officeDocument/2006/relationships/hyperlink" Target="firmware/aim/src/transport/Protocol.hpp" TargetMode="External"/><Relationship Id="rId11" Type="http://schemas.openxmlformats.org/officeDocument/2006/relationships/hyperlink" Target="https://github.com/melnikvitaly/workshops/blob/main/workshop-7-final_project/firmware/aim/src/tasks/Logger.hpp" TargetMode="External"/><Relationship Id="rId12" Type="http://schemas.openxmlformats.org/officeDocument/2006/relationships/hyperlink" Target="https://github.com/melnikvitaly/workshops/blob/main/workshop-7-final_project/firmware/aim/src/utils/Pid.hpp" TargetMode="External"/><Relationship Id="rId13" Type="http://schemas.openxmlformats.org/officeDocument/2006/relationships/hyperlink" Target="https://github.com/melnikvitaly/workshops/blob/main/workshop-7-final_project/firmware/aim/src/parts/AutoChannel.hpp" TargetMode="External"/><Relationship Id="rId14" Type="http://schemas.openxmlformats.org/officeDocument/2006/relationships/hyperlink" Target="https://github.com/melnikvitaly/workshops/blob/main/workshop-7-final_project/firmware/aim/src/parts/ManualChannel.hpp" TargetMode="External"/><Relationship Id="rId15" Type="http://schemas.openxmlformats.org/officeDocument/2006/relationships/hyperlink" Target="https://github.com/melnikvitaly/workshops/blob/main/workshop-7-final_project/eye/camera/tracker.py" TargetMode="External"/><Relationship Id="rId16" Type="http://schemas.openxmlformats.org/officeDocument/2006/relationships/hyperlink" Target="eye/camera/dots.py" TargetMode="External"/><Relationship Id="rId17" Type="http://schemas.openxmlformats.org/officeDocument/2006/relationships/hyperlink" Target="eye/camera/serial_link.py" TargetMode="External"/><Relationship Id="rId18" Type="http://schemas.openxmlformats.org/officeDocument/2006/relationships/hyperlink" Target="https://github.com/melnikvitaly/workshops/blob/main/workshop-7-final_project/eye/camera/dots.py" TargetMode="External"/><Relationship Id="rId19" Type="http://schemas.openxmlformats.org/officeDocument/2006/relationships/hyperlink" Target="https://github.com/melnikvitaly/workshops/blob/main/workshop-7-final_project/eye/camera/serial_link.py" TargetMode="External"/><Relationship Id="rId20" Type="http://schemas.openxmlformats.org/officeDocument/2006/relationships/hyperlink" Target="https://github.com/melnikvitaly/workshops/blob/main/workshop-7-final_project/eye/camera/recenter.py" TargetMode="External"/><Relationship Id="rId21" Type="http://schemas.openxmlformats.org/officeDocument/2006/relationships/hyperlink" Target="eye/camera/tracker.py" TargetMode="External"/><Relationship Id="rId22" Type="http://schemas.openxmlformats.org/officeDocument/2006/relationships/hyperlink" Target="https://github.com/melnikvitaly/workshops/blob/main/workshop-7-final_project/eye/camera/controls.py" TargetMode="External"/><Relationship Id="rId23" Type="http://schemas.openxmlformats.org/officeDocument/2006/relationships/hyperlink" Target="https://github.com/melnikvitaly/workshops/blob/main/workshop-7-final_project/eye/camera/app_window.py" TargetMode="External"/><Relationship Id="rId24" Type="http://schemas.openxmlformats.org/officeDocument/2006/relationships/hyperlink" Target="https://github.com/melnikvitaly/workshops/blob/main/workshop-7-final_project/eye/camera/speed.py" TargetMode="External"/><Relationship Id="rId25" Type="http://schemas.openxmlformats.org/officeDocument/2006/relationships/hyperlink" Target="https://github.com/melnikvitaly/workshops/tree/main/workshop-7-final_project/firmware/aim/src/" TargetMode="External"/><Relationship Id="rId26" Type="http://schemas.openxmlformats.org/officeDocument/2006/relationships/hyperlink" Target="https://github.com/melnikvitaly/workshops/tree/main/workshop-7-final_project/eye/camera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melnikvitaly/workshops/blob/main/workshop-7-final_project/docs/protocol.md" TargetMode="External"/><Relationship Id="rId4" Type="http://schemas.openxmlformats.org/officeDocument/2006/relationships/hyperlink" Target="https://github.com/melnikvitaly/workshops/blob/main/workshop-7-final_project/firmware/aim/src/tasks/LinkUart.hpp" TargetMode="External"/><Relationship Id="rId5" Type="http://schemas.openxmlformats.org/officeDocument/2006/relationships/hyperlink" Target="https://github.com/melnikvitaly/workshops/blob/main/workshop-7-final_project/eye/camera/serial_link.py" TargetMode="External"/><Relationship Id="rId6" Type="http://schemas.openxmlformats.org/officeDocument/2006/relationships/hyperlink" Target="https://github.com/melnikvitaly/workshops/blob/main/workshop-7-final_project/eye/camera/tracker.py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melnikvitaly/workshops/blob/main/workshop-7-final_project/firmware/aim/src/parts/Laser.hpp" TargetMode="External"/><Relationship Id="rId4" Type="http://schemas.openxmlformats.org/officeDocument/2006/relationships/hyperlink" Target="https://github.com/melnikvitaly/workshops/blob/main/workshop-7-final_project/firmware/aim/src/tasks/Logger.hpp" TargetMode="External"/><Relationship Id="rId5" Type="http://schemas.openxmlformats.org/officeDocument/2006/relationships/hyperlink" Target="https://github.com/melnikvitaly/workshops/blob/main/workshop-7-final_project/eye/camera/app_window.py" TargetMode="External"/><Relationship Id="rId6" Type="http://schemas.openxmlformats.org/officeDocument/2006/relationships/hyperlink" Target="https://github.com/melnikvitaly/workshops/blob/main/workshop-7-final_project/eye/camera/recenter.py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melnikvitaly/workshops/blob/main/workshop-7-final_project/firmware/aim/src/parts/Laser.hpp" TargetMode="External"/><Relationship Id="rId4" Type="http://schemas.openxmlformats.org/officeDocument/2006/relationships/hyperlink" Target="https://github.com/melnikvitaly/workshops/blob/main/workshop-7-final_project/firmware/aim/src/StateMachine.hpp" TargetMode="External"/><Relationship Id="rId5" Type="http://schemas.openxmlformats.org/officeDocument/2006/relationships/hyperlink" Target="https://github.com/melnikvitaly/workshops/blob/main/workshop-7-final_project/eye/camera/tracker.py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melnikvitaly/workshops/blob/main/workshop-7-final_project/docs/assestment/verification/README.md" TargetMode="External"/><Relationship Id="rId4" Type="http://schemas.openxmlformats.org/officeDocument/2006/relationships/hyperlink" Target="https://github.com/melnikvitaly/workshops/blob/main/workshop-7-final_project/eye/camera/error_graph.py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hyperlink" Target="https://github.com/melnikvitaly/workshops/tree/main/workshop-7-final_project/images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melnikvitaly/workshops/blob/main/workshop-7-final_project/README.md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graph_v_i10.png"/><Relationship Id="rId3" Type="http://schemas.openxmlformats.org/officeDocument/2006/relationships/image" Target="../media/image_graph_v_i50.png"/><Relationship Id="rId4" Type="http://schemas.openxmlformats.org/officeDocument/2006/relationships/image" Target="../media/image_graph_v_i100.png"/><Relationship Id="rId5" Type="http://schemas.openxmlformats.org/officeDocument/2006/relationships/image" Target="../media/image_graph_p_low.png"/><Relationship Id="rId6" Type="http://schemas.openxmlformats.org/officeDocument/2006/relationships/image" Target="../media/image_graph_p_high.png"/><Relationship Id="rId7" Type="http://schemas.openxmlformats.org/officeDocument/2006/relationships/notesSlide" Target="../notesSlides/notesSlide15.xml"/><Relationship Id="rId8" Type="http://schemas.openxmlformats.org/officeDocument/2006/relationships/hyperlink" Target="https://github.com/melnikvitaly/workshops/blob/main/workshop-7-final_project/docs/assestment/verification/README.md" TargetMode="External"/><Relationship Id="rId9" Type="http://schemas.openxmlformats.org/officeDocument/2006/relationships/hyperlink" Target="https://github.com/melnikvitaly/workshops/blob/main/workshop-7-final_project/eye/camera/error_graph.p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/>
          <p:cNvSpPr/>
          <p:nvPr/>
        </p:nvSpPr>
        <p:spPr>
          <a:xfrm>
            <a:off x="812800" y="812800"/>
            <a:ext cx="364121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14C58"/>
              </a:buClr>
              <a:buSzPts val="1200"/>
              <a:buFont typeface="Nunito Sans"/>
              <a:buNone/>
            </a:pPr>
            <a:r>
              <a:rPr b="1" lang="en-US" sz="1200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Захист </a:t>
            </a:r>
            <a:r>
              <a:rPr b="1" lang="en-US" sz="1200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проекту</a:t>
            </a:r>
            <a:r>
              <a:rPr b="1" lang="en-US" sz="1200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 з Embedded Development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12800" y="1203920"/>
            <a:ext cx="91567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3600"/>
              <a:buFont typeface="Nunito Sans"/>
              <a:buNone/>
            </a:pPr>
            <a:r>
              <a:rPr b="1" i="0" lang="en-US" sz="36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ПК-керований лазерний гімбал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12800" y="1876321"/>
            <a:ext cx="10883392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14C58"/>
              </a:buClr>
              <a:buSzPts val="1600"/>
              <a:buFont typeface="Nunito Sans"/>
              <a:buNone/>
            </a:pPr>
            <a:r>
              <a:rPr b="0" i="0" lang="en-US" sz="160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FreeRTOS, PID, OpenCV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12800" y="2338581"/>
            <a:ext cx="6603900" cy="2712300"/>
          </a:xfrm>
          <a:prstGeom prst="roundRect">
            <a:avLst>
              <a:gd fmla="val 5619" name="adj"/>
            </a:avLst>
          </a:prstGeom>
          <a:solidFill>
            <a:srgbClr val="C5D6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1168400" y="2694181"/>
            <a:ext cx="1701800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00"/>
              <a:buFont typeface="Nunito Sans"/>
              <a:buNone/>
            </a:pPr>
            <a:r>
              <a:rPr b="1" i="0" lang="en-US" sz="14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Студент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860750" y="2724643"/>
            <a:ext cx="108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00"/>
              <a:buFont typeface="Nunito Sans"/>
              <a:buNone/>
            </a:pPr>
            <a:r>
              <a:rPr b="0" i="0" lang="en-US" sz="14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Vitaly Melnik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168400" y="3115761"/>
            <a:ext cx="1701800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00"/>
              <a:buFont typeface="Nunito Sans"/>
              <a:buNone/>
            </a:pPr>
            <a:r>
              <a:rPr b="1" i="0" lang="en-US" sz="14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Група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870200" y="3133521"/>
            <a:ext cx="1577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Nunito Sans"/>
              <a:buNone/>
            </a:pPr>
            <a:r>
              <a:rPr b="1" lang="en-US" sz="1200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EMB_7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168400" y="3537342"/>
            <a:ext cx="1701800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00"/>
              <a:buFont typeface="Nunito Sans"/>
              <a:buNone/>
            </a:pPr>
            <a:r>
              <a:rPr b="1" i="0" lang="en-US" sz="14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Курс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860750" y="3537330"/>
            <a:ext cx="2039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00"/>
              <a:buFont typeface="Nunito Sans"/>
              <a:buNone/>
            </a:pPr>
            <a:r>
              <a:rPr b="0" i="0" lang="en-US" sz="14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Embedded Development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1168400" y="3958922"/>
            <a:ext cx="1701800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00"/>
              <a:buFont typeface="Nunito Sans"/>
              <a:buNone/>
            </a:pPr>
            <a:r>
              <a:rPr b="1" i="0" lang="en-US" sz="14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Дата захисту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2870200" y="3993207"/>
            <a:ext cx="1508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Nunito Sans"/>
              <a:buNone/>
            </a:pPr>
            <a:r>
              <a:rPr b="1" lang="en-US" sz="1200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СЬОГОДНІ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1168400" y="4413542"/>
            <a:ext cx="1701800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00"/>
              <a:buFont typeface="Nunito Sans"/>
              <a:buNone/>
            </a:pPr>
            <a:r>
              <a:rPr b="1" i="0" lang="en-US" sz="14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GitHub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2860750" y="4431278"/>
            <a:ext cx="15963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Nunito Sans"/>
              <a:buNone/>
            </a:pPr>
            <a:r>
              <a:rPr b="1" lang="en-US" sz="1200" u="sng">
                <a:solidFill>
                  <a:schemeClr val="hlink"/>
                </a:solidFill>
                <a:latin typeface="Nunito Sans"/>
                <a:ea typeface="Nunito Sans"/>
                <a:cs typeface="Nunito Sans"/>
                <a:sym typeface="Nunito Sans"/>
                <a:hlinkClick r:id="rId3"/>
              </a:rPr>
              <a:t>README.md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5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/>
          <p:nvPr/>
        </p:nvSpPr>
        <p:spPr>
          <a:xfrm>
            <a:off x="812800" y="812800"/>
            <a:ext cx="1380000" cy="340320"/>
          </a:xfrm>
          <a:prstGeom prst="roundRect">
            <a:avLst>
              <a:gd fmla="val 37318" name="adj"/>
            </a:avLst>
          </a:prstGeom>
          <a:solidFill>
            <a:srgbClr val="DAE5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952500" y="876300"/>
            <a:ext cx="11500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14C58"/>
              </a:buClr>
              <a:buSzPts val="1200"/>
              <a:buFont typeface="Nunito Sans"/>
              <a:buNone/>
            </a:pPr>
            <a:r>
              <a:rPr b="1" i="0" lang="en-US" sz="120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ПРОБЛЕМА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812800" y="1280120"/>
            <a:ext cx="10883392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3000"/>
              <a:buFont typeface="Nunito Sans"/>
              <a:buNone/>
            </a:pPr>
            <a:r>
              <a:rPr b="1" i="0" lang="en-US" sz="24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Проблема: контекст і масштаб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" name="Google Shape;47;p3"/>
          <p:cNvGraphicFramePr/>
          <p:nvPr/>
        </p:nvGraphicFramePr>
        <p:xfrm>
          <a:off x="812800" y="1978620"/>
          <a:ext cx="3000000" cy="3000000"/>
        </p:xfrm>
        <a:graphic>
          <a:graphicData uri="http://schemas.openxmlformats.org/drawingml/2006/table">
            <a:tbl>
              <a:tblPr firstRow="0" bandRow="0">
                <a:noFill/>
                <a:tableStyleId>{5940675A-B579-460E-94D1-54222C63F5DA}</a:tableStyleId>
              </a:tblPr>
              <a:tblGrid>
                <a:gridCol w="2324600"/>
                <a:gridCol w="8241800"/>
              </a:tblGrid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00"/>
                        <a:buFont typeface="Nuni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32323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Параметр</a:t>
                      </a:r>
                      <a:endParaRPr sz="11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62225" marB="62225" marR="62225" marL="62225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5D6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00"/>
                        <a:buFont typeface="Nunito San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32323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Значення</a:t>
                      </a:r>
                      <a:endParaRPr sz="11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62225" marB="62225" marR="62225" marL="62225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5D6E9"/>
                    </a:solidFill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00"/>
                        <a:buFont typeface="Nuni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232323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Завдання</a:t>
                      </a:r>
                      <a:endParaRPr sz="11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62225" marB="62225" marR="62225" marL="62225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00"/>
                        <a:buFont typeface="Nuni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232323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Навести лазерну точку на ціль, використовуючи камеру як зворотний зв'язок</a:t>
                      </a:r>
                      <a:endParaRPr sz="11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62225" marB="62225" marR="62225" marL="62225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00"/>
                        <a:buFont typeface="Nuni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232323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Затримка</a:t>
                      </a:r>
                      <a:endParaRPr sz="11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62225" marB="62225" marR="62225" marL="62225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00"/>
                        <a:buFont typeface="Nuni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232323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Камера → розпізнавання → канал зв'язку займають 50–250 мс. Це обмежує підсилення</a:t>
                      </a:r>
                      <a:endParaRPr sz="11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62225" marB="62225" marR="62225" marL="62225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00"/>
                        <a:buFont typeface="Nuni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232323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Сервоприводи</a:t>
                      </a:r>
                      <a:endParaRPr sz="11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62225" marB="62225" marR="62225" marL="62225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00"/>
                        <a:buFont typeface="Nuni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232323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Мертва зона, люфт, провисання під вагою</a:t>
                      </a:r>
                      <a:endParaRPr sz="11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62225" marB="62225" marR="62225" marL="62225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00"/>
                        <a:buFont typeface="Nuni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232323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Безпека</a:t>
                      </a:r>
                      <a:endParaRPr sz="11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62225" marB="62225" marR="62225" marL="62225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00"/>
                        <a:buFont typeface="Nuni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232323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Лазер не повинен вмикатися помилково</a:t>
                      </a:r>
                      <a:endParaRPr sz="11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62225" marB="62225" marR="62225" marL="62225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00"/>
                        <a:buFont typeface="Nuni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232323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Обсяг</a:t>
                      </a:r>
                      <a:endParaRPr sz="11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62225" marB="62225" marR="62225" marL="62225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323"/>
                        </a:buClr>
                        <a:buSzPts val="1400"/>
                        <a:buFont typeface="Nunito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232323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Навчальний проєкт: один канал UART, розпізнавання виконує ПК, </a:t>
                      </a:r>
                      <a:r>
                        <a:rPr lang="en-US" sz="1100">
                          <a:solidFill>
                            <a:srgbClr val="232323"/>
                          </a:solidFill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лог пишеться на SD-картку</a:t>
                      </a:r>
                      <a:endParaRPr sz="1100" u="none" cap="none" strike="noStrike"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62225" marB="62225" marR="62225" marL="62225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812800" y="6250000"/>
            <a:ext cx="10566400" cy="22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i="1" u="sng">
                <a:solidFill>
                  <a:srgbClr val="2A5C8F"/>
                </a:solidFill>
                <a:latin typeface="Nunito Sans"/>
                <a:hlinkClick r:id="rId3"/>
              </a:rPr>
              <a:t>README.md#about-the-project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5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/>
          <p:nvPr/>
        </p:nvSpPr>
        <p:spPr>
          <a:xfrm>
            <a:off x="812800" y="812800"/>
            <a:ext cx="2483157" cy="340320"/>
          </a:xfrm>
          <a:prstGeom prst="roundRect">
            <a:avLst>
              <a:gd fmla="val 37318" name="adj"/>
            </a:avLst>
          </a:prstGeom>
          <a:solidFill>
            <a:srgbClr val="DAE5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952500" y="876300"/>
            <a:ext cx="230276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14C58"/>
              </a:buClr>
              <a:buSzPts val="1200"/>
              <a:buFont typeface="Nunito Sans"/>
              <a:buNone/>
            </a:pPr>
            <a:r>
              <a:rPr b="1" i="0" lang="en-US" sz="120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РІШЕННЯ / АРХІТЕКТУРА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12800" y="1280120"/>
            <a:ext cx="10883392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800"/>
              <a:buFont typeface="Nunito Sans"/>
              <a:buNone/>
            </a:pPr>
            <a:r>
              <a:rPr b="1" i="0" lang="en-US" sz="24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Рішення: загальна картина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Picture 56" descr="data-fl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0" y="1984985"/>
            <a:ext cx="10566400" cy="392187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12800" y="6250000"/>
            <a:ext cx="10566400" cy="22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i="1" u="sng">
                <a:solidFill>
                  <a:srgbClr val="2A5C8F"/>
                </a:solidFill>
                <a:latin typeface="Nunito Sans"/>
                <a:hlinkClick r:id="rId7"/>
              </a:rPr>
              <a:t>docs/architecture.md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5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812800" y="812800"/>
            <a:ext cx="2483157" cy="340320"/>
          </a:xfrm>
          <a:prstGeom prst="roundRect">
            <a:avLst>
              <a:gd fmla="val 37318" name="adj"/>
            </a:avLst>
          </a:prstGeom>
          <a:solidFill>
            <a:srgbClr val="DAE5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952500" y="876300"/>
            <a:ext cx="230276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14C58"/>
              </a:buClr>
              <a:buSzPts val="1200"/>
              <a:buFont typeface="Nunito Sans"/>
              <a:buNone/>
            </a:pPr>
            <a:r>
              <a:rPr b="1" i="0" lang="en-US" sz="120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РІШЕННЯ / АРХІТЕКТУРА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812800" y="1280120"/>
            <a:ext cx="10883392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600"/>
              <a:buFont typeface="Nunito Sans"/>
              <a:buNone/>
            </a:pPr>
            <a:r>
              <a:rPr b="1" i="0" lang="en-US" sz="24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Чому швидкість, а не позиція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812800" y="6250000"/>
            <a:ext cx="10566400" cy="22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i="1" u="sng">
                <a:solidFill>
                  <a:srgbClr val="2A5C8F"/>
                </a:solidFill>
                <a:latin typeface="Nunito Sans"/>
                <a:hlinkClick r:id="rId4"/>
              </a:rPr>
              <a:t>docs/servo-control-strategies.md</a:t>
            </a:r>
            <a:r>
              <a:rPr sz="800" i="1">
                <a:solidFill>
                  <a:srgbClr val="6B6F76"/>
                </a:solidFill>
                <a:latin typeface="Nunito Sans"/>
              </a:rPr>
              <a:t> · </a:t>
            </a:r>
            <a:r>
              <a:rPr sz="800" i="1" u="sng">
                <a:solidFill>
                  <a:srgbClr val="2A5C8F"/>
                </a:solidFill>
                <a:latin typeface="Nunito Sans"/>
                <a:hlinkClick r:id="rId5"/>
              </a:rPr>
              <a:t>docs/pid_controller_equations_positional_vs_velocity.md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12800" y="1780000"/>
            <a:ext cx="10883392" cy="1980000"/>
          </a:xfrm>
          <a:prstGeom prst="roundRect">
            <a:avLst>
              <a:gd name="adj" fmla="val 8000"/>
            </a:avLst>
          </a:prstGeom>
          <a:solidFill>
            <a:srgbClr val="C5D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66800" y="1930000"/>
            <a:ext cx="10375392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232323"/>
                </a:solidFill>
                <a:latin typeface="Nunito Sans"/>
              </a:rPr>
              <a:t>PositionalPid — швидкість (за замовчуванням)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066800" y="2400000"/>
            <a:ext cx="1867078" cy="44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232323"/>
                </a:solidFill>
                <a:latin typeface="Nunito Sans"/>
              </a:rPr>
              <a:t>похибка</a:t>
            </a:r>
          </a:p>
        </p:txBody>
      </p:sp>
      <p:pic>
        <p:nvPicPr>
          <p:cNvPr id="97" name="Picture 9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878" y="2555000"/>
            <a:ext cx="260000" cy="130000"/>
          </a:xfrm>
          <a:prstGeom prst="rect">
            <a:avLst/>
          </a:prstGeom>
        </p:spPr>
      </p:pic>
      <p:sp>
        <p:nvSpPr>
          <p:cNvPr id="98" name="Rounded Rectangle 97"/>
          <p:cNvSpPr/>
          <p:nvPr/>
        </p:nvSpPr>
        <p:spPr>
          <a:xfrm>
            <a:off x="3193878" y="2400000"/>
            <a:ext cx="1867078" cy="44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232323"/>
                </a:solidFill>
                <a:latin typeface="Nunito Sans"/>
              </a:rPr>
              <a:t>PID</a:t>
            </a:r>
          </a:p>
        </p:txBody>
      </p:sp>
      <p:pic>
        <p:nvPicPr>
          <p:cNvPr id="99" name="Picture 9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956" y="2555000"/>
            <a:ext cx="260000" cy="130000"/>
          </a:xfrm>
          <a:prstGeom prst="rect">
            <a:avLst/>
          </a:prstGeom>
        </p:spPr>
      </p:pic>
      <p:sp>
        <p:nvSpPr>
          <p:cNvPr id="100" name="Rounded Rectangle 99"/>
          <p:cNvSpPr/>
          <p:nvPr/>
        </p:nvSpPr>
        <p:spPr>
          <a:xfrm>
            <a:off x="5320956" y="2400000"/>
            <a:ext cx="1867078" cy="44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232323"/>
                </a:solidFill>
                <a:latin typeface="Nunito Sans"/>
              </a:rPr>
              <a:t>швидкість</a:t>
            </a:r>
          </a:p>
        </p:txBody>
      </p:sp>
      <p:pic>
        <p:nvPicPr>
          <p:cNvPr id="101" name="Picture 10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8034" y="2555000"/>
            <a:ext cx="260000" cy="130000"/>
          </a:xfrm>
          <a:prstGeom prst="rect">
            <a:avLst/>
          </a:prstGeom>
        </p:spPr>
      </p:pic>
      <p:sp>
        <p:nvSpPr>
          <p:cNvPr id="102" name="Rounded Rectangle 101"/>
          <p:cNvSpPr/>
          <p:nvPr/>
        </p:nvSpPr>
        <p:spPr>
          <a:xfrm>
            <a:off x="7448034" y="2400000"/>
            <a:ext cx="1867078" cy="440000"/>
          </a:xfrm>
          <a:prstGeom prst="roundRect">
            <a:avLst>
              <a:gd name="adj" fmla="val 16000"/>
            </a:avLst>
          </a:prstGeom>
          <a:solidFill>
            <a:srgbClr val="9FB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232323"/>
                </a:solidFill>
                <a:latin typeface="Nunito Sans"/>
              </a:rPr>
              <a:t>Σ кожні 20мс</a:t>
            </a:r>
          </a:p>
        </p:txBody>
      </p:sp>
      <p:pic>
        <p:nvPicPr>
          <p:cNvPr id="103" name="Picture 10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5112" y="2555000"/>
            <a:ext cx="260000" cy="130000"/>
          </a:xfrm>
          <a:prstGeom prst="rect">
            <a:avLst/>
          </a:prstGeom>
        </p:spPr>
      </p:pic>
      <p:sp>
        <p:nvSpPr>
          <p:cNvPr id="104" name="Rounded Rectangle 103"/>
          <p:cNvSpPr/>
          <p:nvPr/>
        </p:nvSpPr>
        <p:spPr>
          <a:xfrm>
            <a:off x="9575112" y="2400000"/>
            <a:ext cx="1867078" cy="44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232323"/>
                </a:solidFill>
                <a:latin typeface="Nunito Sans"/>
              </a:rPr>
              <a:t>сервопривід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66800" y="2990000"/>
            <a:ext cx="103753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14C58"/>
                </a:solidFill>
                <a:latin typeface="Nunito Sans"/>
              </a:rPr>
              <a:t>Вихід PID стає швидкістю; ESP32 інтегрує її в кут щотику.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414C58"/>
                </a:solidFill>
                <a:latin typeface="Nunito Sans"/>
              </a:rPr>
              <a:t>Шум усереднюється, рух плавний і обмежений за швидкістю.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12800" y="4020000"/>
            <a:ext cx="10883392" cy="1980000"/>
          </a:xfrm>
          <a:prstGeom prst="roundRect">
            <a:avLst>
              <a:gd name="adj" fmla="val 8000"/>
            </a:avLst>
          </a:prstGeom>
          <a:solidFill>
            <a:srgbClr val="EC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66800" y="4170000"/>
            <a:ext cx="10375392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232323"/>
                </a:solidFill>
                <a:latin typeface="Nunito Sans"/>
              </a:rPr>
              <a:t>VelocityEquationPid — приріст кута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066800" y="4640000"/>
            <a:ext cx="1867078" cy="44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232323"/>
                </a:solidFill>
                <a:latin typeface="Nunito Sans"/>
              </a:rPr>
              <a:t>похибка</a:t>
            </a:r>
          </a:p>
        </p:txBody>
      </p:sp>
      <p:pic>
        <p:nvPicPr>
          <p:cNvPr id="109" name="Picture 10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878" y="4795000"/>
            <a:ext cx="260000" cy="130000"/>
          </a:xfrm>
          <a:prstGeom prst="rect">
            <a:avLst/>
          </a:prstGeom>
        </p:spPr>
      </p:pic>
      <p:sp>
        <p:nvSpPr>
          <p:cNvPr id="110" name="Rounded Rectangle 109"/>
          <p:cNvSpPr/>
          <p:nvPr/>
        </p:nvSpPr>
        <p:spPr>
          <a:xfrm>
            <a:off x="3193878" y="4640000"/>
            <a:ext cx="1867078" cy="44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232323"/>
                </a:solidFill>
                <a:latin typeface="Nunito Sans"/>
              </a:rPr>
              <a:t>PID</a:t>
            </a:r>
          </a:p>
        </p:txBody>
      </p:sp>
      <p:pic>
        <p:nvPicPr>
          <p:cNvPr id="111" name="Picture 1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956" y="4795000"/>
            <a:ext cx="260000" cy="130000"/>
          </a:xfrm>
          <a:prstGeom prst="rect">
            <a:avLst/>
          </a:prstGeom>
        </p:spPr>
      </p:pic>
      <p:sp>
        <p:nvSpPr>
          <p:cNvPr id="112" name="Rounded Rectangle 111"/>
          <p:cNvSpPr/>
          <p:nvPr/>
        </p:nvSpPr>
        <p:spPr>
          <a:xfrm>
            <a:off x="5320956" y="4640000"/>
            <a:ext cx="1867078" cy="44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232323"/>
                </a:solidFill>
                <a:latin typeface="Nunito Sans"/>
              </a:rPr>
              <a:t>приріст Δu</a:t>
            </a:r>
          </a:p>
        </p:txBody>
      </p:sp>
      <p:pic>
        <p:nvPicPr>
          <p:cNvPr id="113" name="Picture 1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8034" y="4795000"/>
            <a:ext cx="260000" cy="130000"/>
          </a:xfrm>
          <a:prstGeom prst="rect">
            <a:avLst/>
          </a:prstGeom>
        </p:spPr>
      </p:pic>
      <p:sp>
        <p:nvSpPr>
          <p:cNvPr id="114" name="Rounded Rectangle 113"/>
          <p:cNvSpPr/>
          <p:nvPr/>
        </p:nvSpPr>
        <p:spPr>
          <a:xfrm>
            <a:off x="7448034" y="4640000"/>
            <a:ext cx="1867078" cy="440000"/>
          </a:xfrm>
          <a:prstGeom prst="roundRect">
            <a:avLst>
              <a:gd name="adj" fmla="val 16000"/>
            </a:avLst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232323"/>
                </a:solidFill>
                <a:latin typeface="Nunito Sans"/>
              </a:rPr>
              <a:t>кут += Δu</a:t>
            </a:r>
          </a:p>
        </p:txBody>
      </p:sp>
      <p:pic>
        <p:nvPicPr>
          <p:cNvPr id="115" name="Picture 1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5112" y="4795000"/>
            <a:ext cx="260000" cy="130000"/>
          </a:xfrm>
          <a:prstGeom prst="rect">
            <a:avLst/>
          </a:prstGeom>
        </p:spPr>
      </p:pic>
      <p:sp>
        <p:nvSpPr>
          <p:cNvPr id="116" name="Rounded Rectangle 115"/>
          <p:cNvSpPr/>
          <p:nvPr/>
        </p:nvSpPr>
        <p:spPr>
          <a:xfrm>
            <a:off x="9575112" y="4640000"/>
            <a:ext cx="1867078" cy="44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232323"/>
                </a:solidFill>
                <a:latin typeface="Nunito Sans"/>
              </a:rPr>
              <a:t>сервопривід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6800" y="5230000"/>
            <a:ext cx="103753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14C58"/>
                </a:solidFill>
                <a:latin typeface="Nunito Sans"/>
              </a:rPr>
              <a:t>Вихід PID — приріст кута Δu; кут += Δu, без інтегратора.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414C58"/>
                </a:solidFill>
                <a:latin typeface="Nunito Sans"/>
              </a:rPr>
              <a:t>Швидко на стрибок цілі, але шум кадра — стрибок позиції.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5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/>
          <p:nvPr/>
        </p:nvSpPr>
        <p:spPr>
          <a:xfrm>
            <a:off x="812800" y="812800"/>
            <a:ext cx="2483157" cy="340320"/>
          </a:xfrm>
          <a:prstGeom prst="roundRect">
            <a:avLst>
              <a:gd fmla="val 37318" name="adj"/>
            </a:avLst>
          </a:prstGeom>
          <a:solidFill>
            <a:srgbClr val="DAE5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952500" y="876300"/>
            <a:ext cx="230276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14C58"/>
              </a:buClr>
              <a:buSzPts val="1200"/>
              <a:buFont typeface="Nunito Sans"/>
              <a:buNone/>
            </a:pPr>
            <a:r>
              <a:rPr b="1" i="0" lang="en-US" sz="120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РІШЕННЯ / АРХІТЕКТУРА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812800" y="1280120"/>
            <a:ext cx="10883392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400"/>
              <a:buFont typeface="Nunito Sans"/>
              <a:buNone/>
            </a:pPr>
            <a:r>
              <a:rPr b="1" i="0" lang="en-US" sz="24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Архітектура: задачі FreeRTOS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812800" y="5647829"/>
            <a:ext cx="6000000" cy="364430"/>
          </a:xfrm>
          <a:prstGeom prst="roundRect">
            <a:avLst>
              <a:gd fmla="val 24394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965200" y="5736729"/>
            <a:ext cx="5650000" cy="212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050"/>
              <a:buFont typeface="Nunito Sans"/>
              <a:buNone/>
            </a:pPr>
            <a:r>
              <a:rPr b="0" i="0" lang="en-US" sz="10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Запис на SD-картку може зависнути на 100–250 мс. Це не повинно ніколи дійти до </a:t>
            </a:r>
            <a:r>
              <a:rPr b="1" i="0" lang="en-US" sz="10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ctrl</a:t>
            </a:r>
            <a:r>
              <a:rPr b="0" i="0" lang="en-US" sz="10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000" y="1800000"/>
            <a:ext cx="8196805" cy="3650000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812800" y="6250000"/>
            <a:ext cx="10566400" cy="22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i="1" u="sng">
                <a:solidFill>
                  <a:srgbClr val="2A5C8F"/>
                </a:solidFill>
                <a:latin typeface="Nunito Sans"/>
                <a:hlinkClick r:id="rId4"/>
              </a:rPr>
              <a:t>docs/diagrams/freertos-tasks.md</a:t>
            </a:r>
            <a:r>
              <a:rPr sz="800" i="1">
                <a:solidFill>
                  <a:srgbClr val="6B6F76"/>
                </a:solidFill>
                <a:latin typeface="Nunito Sans"/>
              </a:rPr>
              <a:t> · </a:t>
            </a:r>
            <a:r>
              <a:rPr sz="800" i="1" u="sng">
                <a:solidFill>
                  <a:srgbClr val="2A5C8F"/>
                </a:solidFill>
                <a:latin typeface="Nunito Sans"/>
                <a:hlinkClick r:id="rId5"/>
              </a:rPr>
              <a:t>firmware/aim/src/tasks/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5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812800" y="812800"/>
            <a:ext cx="2483157" cy="340320"/>
          </a:xfrm>
          <a:prstGeom prst="roundRect">
            <a:avLst>
              <a:gd fmla="val 37318" name="adj"/>
            </a:avLst>
          </a:prstGeom>
          <a:solidFill>
            <a:srgbClr val="DAE5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952500" y="876300"/>
            <a:ext cx="230276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14C58"/>
              </a:buClr>
              <a:buSzPts val="1200"/>
              <a:buFont typeface="Nunito Sans"/>
              <a:buNone/>
            </a:pPr>
            <a:r>
              <a:rPr b="1" i="0" lang="en-US" sz="120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РІШЕННЯ / АРХІТЕКТУРА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812800" y="1280120"/>
            <a:ext cx="10883392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400"/>
              <a:buFont typeface="Nunito Sans"/>
              <a:buNone/>
            </a:pPr>
            <a:r>
              <a:rPr b="1" i="0" lang="en-US" sz="24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Стани системи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812800" y="5350000"/>
            <a:ext cx="10883392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50"/>
              <a:buFont typeface="Nunito Sans"/>
              <a:buNone/>
            </a:pPr>
            <a:r>
              <a:rPr b="0" i="0" lang="en-US" sz="10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Лазер дозволений лише в станах </a:t>
            </a:r>
            <a:r>
              <a:rPr b="1" i="0" lang="en-US" sz="10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ZONE_TOUR</a:t>
            </a:r>
            <a:r>
              <a:rPr b="0" i="0" lang="en-US" sz="10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 і </a:t>
            </a:r>
            <a:r>
              <a:rPr b="1" i="0" lang="en-US" sz="10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ARMED</a:t>
            </a:r>
            <a:r>
              <a:rPr b="0" i="0" lang="en-US" sz="10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812800" y="5560000"/>
            <a:ext cx="10883392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50"/>
              <a:buFont typeface="Nunito Sans"/>
              <a:buNone/>
            </a:pPr>
            <a:r>
              <a:rPr b="1" i="0" lang="en-US" sz="10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laserPermitted()</a:t>
            </a:r>
            <a:r>
              <a:rPr b="0" i="0" lang="en-US" sz="10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 вимагає виконання всіх умов: ARMED, свіжий зв'язок, watchdog OK, немає E-stop, запит променя.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812800" y="5770000"/>
            <a:ext cx="10883392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50"/>
              <a:buFont typeface="Nunito Sans"/>
              <a:buNone/>
            </a:pPr>
            <a:r>
              <a:rPr b="0" i="0" lang="en-US" sz="10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Немає даних 300 мс → </a:t>
            </a:r>
            <a:r>
              <a:rPr b="1" i="0" lang="en-US" sz="10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LINK_LOST</a:t>
            </a:r>
            <a:r>
              <a:rPr b="0" i="0" lang="en-US" sz="10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, мотори зупиняються.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812800" y="5980000"/>
            <a:ext cx="10883392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50"/>
              <a:buFont typeface="Nunito Sans"/>
              <a:buNone/>
            </a:pPr>
            <a:r>
              <a:rPr b="0" i="0" lang="en-US" sz="10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E-stop: ISR → сповіщення задачі → </a:t>
            </a:r>
            <a:r>
              <a:rPr b="1" i="0" lang="en-US" sz="10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safety</a:t>
            </a:r>
            <a:r>
              <a:rPr b="0" i="0" lang="en-US" sz="10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. Жодної роботи в ISR.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Picture 1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840000"/>
            <a:ext cx="10566400" cy="3062878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812800" y="6250000"/>
            <a:ext cx="10566400" cy="22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i="1" u="sng">
                <a:solidFill>
                  <a:srgbClr val="2A5C8F"/>
                </a:solidFill>
                <a:latin typeface="Nunito Sans"/>
                <a:hlinkClick r:id="rId4"/>
              </a:rPr>
              <a:t>docs/diagrams/aim-states.md</a:t>
            </a:r>
            <a:r>
              <a:rPr sz="800" i="1">
                <a:solidFill>
                  <a:srgbClr val="6B6F76"/>
                </a:solidFill>
                <a:latin typeface="Nunito Sans"/>
              </a:rPr>
              <a:t> · </a:t>
            </a:r>
            <a:r>
              <a:rPr sz="800" i="1" u="sng">
                <a:solidFill>
                  <a:srgbClr val="2A5C8F"/>
                </a:solidFill>
                <a:latin typeface="Nunito Sans"/>
                <a:hlinkClick r:id="rId5"/>
              </a:rPr>
              <a:t>firmware/aim/src/StateMachine.hpp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5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/>
          <p:nvPr/>
        </p:nvSpPr>
        <p:spPr>
          <a:xfrm>
            <a:off x="812800" y="812800"/>
            <a:ext cx="1466499" cy="340320"/>
          </a:xfrm>
          <a:prstGeom prst="roundRect">
            <a:avLst>
              <a:gd fmla="val 37318" name="adj"/>
            </a:avLst>
          </a:prstGeom>
          <a:solidFill>
            <a:srgbClr val="DAE5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952500" y="876300"/>
            <a:ext cx="126052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14C58"/>
              </a:buClr>
              <a:buSzPts val="1200"/>
              <a:buFont typeface="Nunito Sans"/>
              <a:buNone/>
            </a:pPr>
            <a:r>
              <a:rPr b="1" i="0" lang="en-US" sz="120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РЕАЛІЗАЦІЯ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812800" y="1280120"/>
            <a:ext cx="10883392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400"/>
              <a:buFont typeface="Nunito Sans"/>
              <a:buNone/>
            </a:pPr>
            <a:r>
              <a:rPr b="1" i="0" lang="en-US" sz="24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Реалізація: ключові рішення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1" name="Table 130"/>
          <p:cNvGraphicFramePr>
            <a:graphicFrameLocks noGrp="1"/>
          </p:cNvGraphicFramePr>
          <p:nvPr/>
        </p:nvGraphicFramePr>
        <p:xfrm>
          <a:off x="812800" y="1691580"/>
          <a:ext cx="10566400" cy="27913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34020"/>
                <a:gridCol w="4650780"/>
                <a:gridCol w="5181600"/>
              </a:tblGrid>
              <a:tr h="398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32323"/>
                          </a:solidFill>
                          <a:latin typeface="Nunito Sans"/>
                        </a:rPr>
                        <a:t>#</a:t>
                      </a:r>
                    </a:p>
                  </a:txBody>
                  <a:tcPr marL="12700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5D6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32323"/>
                          </a:solidFill>
                          <a:latin typeface="Nunito Sans"/>
                        </a:rPr>
                        <a:t>Рішення</a:t>
                      </a:r>
                    </a:p>
                  </a:txBody>
                  <a:tcPr marL="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5D6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32323"/>
                          </a:solidFill>
                          <a:latin typeface="Nunito Sans"/>
                        </a:rPr>
                        <a:t>Чому</a:t>
                      </a:r>
                    </a:p>
                  </a:txBody>
                  <a:tcPr marL="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5D6E9"/>
                    </a:solidFill>
                  </a:tcPr>
                </a:tc>
              </a:tr>
              <a:tr h="398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8998A9"/>
                          </a:solidFill>
                          <a:latin typeface="Nunito Sans"/>
                        </a:rPr>
                        <a:t>1</a:t>
                      </a:r>
                    </a:p>
                  </a:txBody>
                  <a:tcPr marL="12700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Nunito Sans"/>
                        </a:rPr>
                        <a:t>Лише один канал введення одночасно: </a:t>
                      </a:r>
                      <a:r>
                        <a:rPr sz="1100" b="1">
                          <a:solidFill>
                            <a:srgbClr val="232323"/>
                          </a:solidFill>
                          <a:latin typeface="Nunito Sans"/>
                        </a:rPr>
                        <a:t>AUTO</a:t>
                      </a:r>
                      <a:r>
                        <a:rPr sz="1100" b="0">
                          <a:solidFill>
                            <a:srgbClr val="232323"/>
                          </a:solidFill>
                          <a:latin typeface="Nunito Sans"/>
                        </a:rPr>
                        <a:t> / </a:t>
                      </a:r>
                      <a:r>
                        <a:rPr sz="1100" b="1">
                          <a:solidFill>
                            <a:srgbClr val="232323"/>
                          </a:solidFill>
                          <a:latin typeface="Nunito Sans"/>
                        </a:rPr>
                        <a:t>MANUAL</a:t>
                      </a:r>
                      <a:r>
                        <a:rPr sz="1100" b="0">
                          <a:solidFill>
                            <a:srgbClr val="232323"/>
                          </a:solidFill>
                          <a:latin typeface="Nunito Sans"/>
                        </a:rPr>
                        <a:t> / </a:t>
                      </a:r>
                      <a:r>
                        <a:rPr sz="1100" b="1">
                          <a:solidFill>
                            <a:srgbClr val="232323"/>
                          </a:solidFill>
                          <a:latin typeface="Nunito Sans"/>
                        </a:rPr>
                        <a:t>NONE</a:t>
                      </a:r>
                    </a:p>
                  </a:txBody>
                  <a:tcPr marL="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14C58"/>
                          </a:solidFill>
                          <a:latin typeface="Nunito Sans"/>
                        </a:rPr>
                        <a:t>Без прихованого змішування</a:t>
                      </a:r>
                    </a:p>
                  </a:txBody>
                  <a:tcPr marL="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8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8998A9"/>
                          </a:solidFill>
                          <a:latin typeface="Nunito Sans"/>
                        </a:rPr>
                        <a:t>2</a:t>
                      </a:r>
                    </a:p>
                  </a:txBody>
                  <a:tcPr marL="12700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Nunito Sans"/>
                        </a:rPr>
                        <a:t>Два обмеження швидкості: жорстке — у </a:t>
                      </a:r>
                      <a:r>
                        <a:rPr sz="1100" b="1">
                          <a:solidFill>
                            <a:srgbClr val="232323"/>
                          </a:solidFill>
                          <a:latin typeface="Nunito Sans"/>
                        </a:rPr>
                        <a:t>Gimbal</a:t>
                      </a:r>
                      <a:r>
                        <a:rPr sz="1100" b="0">
                          <a:solidFill>
                            <a:srgbClr val="232323"/>
                          </a:solidFill>
                          <a:latin typeface="Nunito Sans"/>
                        </a:rPr>
                        <a:t>, обмеження PID — нижче нього</a:t>
                      </a:r>
                    </a:p>
                  </a:txBody>
                  <a:tcPr marL="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14C58"/>
                          </a:solidFill>
                          <a:latin typeface="Nunito Sans"/>
                        </a:rPr>
                        <a:t>Anti-windup бачить справжню межу (static_assert)</a:t>
                      </a:r>
                    </a:p>
                  </a:txBody>
                  <a:tcPr marL="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</a:tr>
              <a:tr h="398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8998A9"/>
                          </a:solidFill>
                          <a:latin typeface="Nunito Sans"/>
                        </a:rPr>
                        <a:t>3</a:t>
                      </a:r>
                    </a:p>
                  </a:txBody>
                  <a:tcPr marL="12700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Nunito Sans"/>
                        </a:rPr>
                        <a:t>Черга логів відкидає найстаріше, ніколи не блокується</a:t>
                      </a:r>
                    </a:p>
                  </a:txBody>
                  <a:tcPr marL="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14C58"/>
                          </a:solidFill>
                          <a:latin typeface="Nunito Sans"/>
                        </a:rPr>
                        <a:t>Телеметрія може загубитися. Керування — ні</a:t>
                      </a:r>
                    </a:p>
                  </a:txBody>
                  <a:tcPr marL="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8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8998A9"/>
                          </a:solidFill>
                          <a:latin typeface="Nunito Sans"/>
                        </a:rPr>
                        <a:t>4</a:t>
                      </a:r>
                    </a:p>
                  </a:txBody>
                  <a:tcPr marL="12700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Nunito Sans"/>
                        </a:rPr>
                        <a:t>NDJSON + CRC-8, ліміт рядка 256 байт, </a:t>
                      </a:r>
                      <a:r>
                        <a:rPr sz="1100" b="1">
                          <a:solidFill>
                            <a:srgbClr val="232323"/>
                          </a:solidFill>
                          <a:latin typeface="Nunito Sans"/>
                        </a:rPr>
                        <a:t>NaN</a:t>
                      </a:r>
                      <a:r>
                        <a:rPr sz="1100" b="0">
                          <a:solidFill>
                            <a:srgbClr val="232323"/>
                          </a:solidFill>
                          <a:latin typeface="Nunito Sans"/>
                        </a:rPr>
                        <a:t> відхиляється</a:t>
                      </a:r>
                    </a:p>
                  </a:txBody>
                  <a:tcPr marL="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14C58"/>
                          </a:solidFill>
                          <a:latin typeface="Nunito Sans"/>
                        </a:rPr>
                        <a:t>NaN у PID зламав би інтегратор</a:t>
                      </a:r>
                    </a:p>
                  </a:txBody>
                  <a:tcPr marL="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</a:tr>
              <a:tr h="398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8998A9"/>
                          </a:solidFill>
                          <a:latin typeface="Nunito Sans"/>
                        </a:rPr>
                        <a:t>5</a:t>
                      </a:r>
                    </a:p>
                  </a:txBody>
                  <a:tcPr marL="12700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Nunito Sans"/>
                        </a:rPr>
                        <a:t>Обхід зони: лазер малює зону за годинниковою стрілкою</a:t>
                      </a:r>
                    </a:p>
                  </a:txBody>
                  <a:tcPr marL="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14C58"/>
                          </a:solidFill>
                          <a:latin typeface="Nunito Sans"/>
                        </a:rPr>
                        <a:t>Неправильний напрямок = неправильний прапорець осі, видно за 4 с</a:t>
                      </a:r>
                    </a:p>
                  </a:txBody>
                  <a:tcPr marL="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8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8998A9"/>
                          </a:solidFill>
                          <a:latin typeface="Nunito Sans"/>
                        </a:rPr>
                        <a:t>6</a:t>
                      </a:r>
                    </a:p>
                  </a:txBody>
                  <a:tcPr marL="12700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Nunito Sans"/>
                        </a:rPr>
                        <a:t>Розбір JSON: власний парсер замість </a:t>
                      </a:r>
                      <a:r>
                        <a:rPr sz="1100" b="1">
                          <a:solidFill>
                            <a:srgbClr val="232323"/>
                          </a:solidFill>
                          <a:latin typeface="Nunito Sans"/>
                        </a:rPr>
                        <a:t>cJSON</a:t>
                      </a:r>
                    </a:p>
                  </a:txBody>
                  <a:tcPr marL="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14C58"/>
                          </a:solidFill>
                          <a:latin typeface="Nunito Sans"/>
                        </a:rPr>
                        <a:t>cJSON виконує malloc на кожен розбір; проєкт забороняє купу після ініціалізації (coding.md)</a:t>
                      </a:r>
                    </a:p>
                  </a:txBody>
                  <a:tcPr marL="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</a:tr>
            </a:tbl>
          </a:graphicData>
        </a:graphic>
      </p:graphicFrame>
      <p:sp>
        <p:nvSpPr>
          <p:cNvPr id="132" name="TextBox 131"/>
          <p:cNvSpPr txBox="1"/>
          <p:nvPr/>
        </p:nvSpPr>
        <p:spPr>
          <a:xfrm>
            <a:off x="812800" y="6250000"/>
            <a:ext cx="10566400" cy="22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i="1" u="sng">
                <a:solidFill>
                  <a:srgbClr val="2A5C8F"/>
                </a:solidFill>
                <a:latin typeface="Nunito Sans"/>
                <a:hlinkClick r:id="rId3"/>
              </a:rPr>
              <a:t>docs/coding.md</a:t>
            </a:r>
            <a:r>
              <a:rPr sz="800" i="1">
                <a:solidFill>
                  <a:srgbClr val="6B6F76"/>
                </a:solidFill>
                <a:latin typeface="Nunito Sans"/>
              </a:rPr>
              <a:t> · </a:t>
            </a:r>
            <a:r>
              <a:rPr sz="800" i="1" u="sng">
                <a:solidFill>
                  <a:srgbClr val="2A5C8F"/>
                </a:solidFill>
                <a:latin typeface="Nunito Sans"/>
                <a:hlinkClick r:id="rId4"/>
              </a:rPr>
              <a:t>docs/interfaces.md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/>
          <p:nvPr/>
        </p:nvSpPr>
        <p:spPr>
          <a:xfrm>
            <a:off x="812800" y="812800"/>
            <a:ext cx="1466499" cy="340320"/>
          </a:xfrm>
          <a:prstGeom prst="roundRect">
            <a:avLst>
              <a:gd fmla="val 37318" name="adj"/>
            </a:avLst>
          </a:prstGeom>
          <a:solidFill>
            <a:srgbClr val="DAE5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952500" y="876300"/>
            <a:ext cx="126052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14C58"/>
              </a:buClr>
              <a:buSzPts val="1200"/>
              <a:buFont typeface="Nunito Sans"/>
              <a:buNone/>
            </a:pPr>
            <a:r>
              <a:rPr b="1" i="0" lang="en-US" sz="120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РЕАЛІЗАЦІЯ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812800" y="1280120"/>
            <a:ext cx="10883392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600"/>
              <a:buFont typeface="Nunito Sans"/>
              <a:buNone/>
            </a:pPr>
            <a:r>
              <a:rPr b="1" i="0" lang="en-US" sz="24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Реалізація: код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812800" y="1784061"/>
            <a:ext cx="5340096" cy="2742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u="none">
                <a:solidFill>
                  <a:srgbClr val="232323"/>
                </a:solidFill>
                <a:latin typeface="Nunito Sans"/>
              </a:rPr>
              <a:t>AIM — ESP32-S3 (гімбал-контролер)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349096" y="1784061"/>
            <a:ext cx="5340096" cy="2742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u="none">
                <a:solidFill>
                  <a:srgbClr val="232323"/>
                </a:solidFill>
                <a:latin typeface="Nunito Sans"/>
              </a:rPr>
              <a:t>EYE — PC (оператор і зір)</a:t>
            </a:r>
          </a:p>
        </p:txBody>
      </p:sp>
      <p:graphicFrame>
        <p:nvGraphicFramePr>
          <p:cNvPr id="168" name="Table 167"/>
          <p:cNvGraphicFramePr>
            <a:graphicFrameLocks noGrp="1"/>
          </p:cNvGraphicFramePr>
          <p:nvPr/>
        </p:nvGraphicFramePr>
        <p:xfrm>
          <a:off x="812800" y="2098302"/>
          <a:ext cx="5340096" cy="3418641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50000"/>
                <a:gridCol w="3490096"/>
              </a:tblGrid>
              <a:tr h="298641">
                <a:tc>
                  <a:txBody>
                    <a:bodyPr wrap="square"/>
                    <a:lstStyle/>
                    <a:p>
                      <a:r>
                        <a:rPr sz="1100" b="1" u="none">
                          <a:solidFill>
                            <a:srgbClr val="232323"/>
                          </a:solidFill>
                          <a:latin typeface="Nunito Sans"/>
                        </a:rPr>
                        <a:t>Файл</a:t>
                      </a:r>
                    </a:p>
                  </a:txBody>
                  <a:tcPr marL="12700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5D6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u="none">
                          <a:solidFill>
                            <a:srgbClr val="232323"/>
                          </a:solidFill>
                          <a:latin typeface="Nunito Sans"/>
                        </a:rPr>
                        <a:t>Опис</a:t>
                      </a:r>
                    </a:p>
                  </a:txBody>
                  <a:tcPr marL="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5D6E9"/>
                    </a:solidFill>
                  </a:tcPr>
                </a:tc>
              </a:tr>
              <a:tr h="390000">
                <a:tc>
                  <a:txBody>
                    <a:bodyPr wrap="square"/>
                    <a:lstStyle/>
                    <a:p>
                      <a:r>
                        <a:rPr sz="1050" b="1" u="sng">
                          <a:solidFill>
                            <a:srgbClr val="2A5C8F"/>
                          </a:solidFill>
                          <a:latin typeface="Nunito Sans"/>
                          <a:hlinkClick r:id="rId4"/>
                        </a:rPr>
                        <a:t>main.cpp</a:t>
                      </a:r>
                    </a:p>
                  </a:txBody>
                  <a:tcPr marL="12700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u="none">
                          <a:solidFill>
                            <a:srgbClr val="414C58"/>
                          </a:solidFill>
                          <a:latin typeface="Nunito Sans"/>
                        </a:rPr>
                        <a:t>Точка входу: створює задачі, встановлює ISR E-stop, логує причину скидання.</a:t>
                      </a:r>
                    </a:p>
                  </a:txBody>
                  <a:tcPr marL="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0000">
                <a:tc>
                  <a:txBody>
                    <a:bodyPr wrap="square"/>
                    <a:lstStyle/>
                    <a:p>
                      <a:r>
                        <a:rPr sz="1050" b="1" u="sng">
                          <a:solidFill>
                            <a:srgbClr val="2A5C8F"/>
                          </a:solidFill>
                          <a:latin typeface="Nunito Sans"/>
                          <a:hlinkClick r:id="rId5"/>
                        </a:rPr>
                        <a:t>StateMachine.hpp</a:t>
                      </a:r>
                    </a:p>
                  </a:txBody>
                  <a:tcPr marL="12700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u="none">
                          <a:solidFill>
                            <a:srgbClr val="414C58"/>
                          </a:solidFill>
                          <a:latin typeface="Nunito Sans"/>
                        </a:rPr>
                        <a:t>Стани: BOOT→SELFTEST→DISARMED→ARMED, ZONE_TOUR, LINK_LOST, FAULT.</a:t>
                      </a:r>
                    </a:p>
                  </a:txBody>
                  <a:tcPr marL="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</a:tr>
              <a:tr h="390000">
                <a:tc>
                  <a:txBody>
                    <a:bodyPr wrap="square"/>
                    <a:lstStyle/>
                    <a:p>
                      <a:r>
                        <a:rPr sz="1050" b="1" u="sng">
                          <a:solidFill>
                            <a:srgbClr val="2A5C8F"/>
                          </a:solidFill>
                          <a:latin typeface="Nunito Sans"/>
                          <a:hlinkClick r:id="rId6"/>
                        </a:rPr>
                        <a:t>tasks/Ctrl.hpp</a:t>
                      </a:r>
                    </a:p>
                  </a:txBody>
                  <a:tcPr marL="12700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u="none">
                          <a:solidFill>
                            <a:srgbClr val="414C58"/>
                          </a:solidFill>
                          <a:latin typeface="Nunito Sans"/>
                        </a:rPr>
                        <a:t>Задача ctrl (20 мс): дренує cmd_q, крок ПІД.</a:t>
                      </a:r>
                    </a:p>
                    <a:p>
                      <a:r>
                        <a:rPr sz="1050" b="0" u="none">
                          <a:solidFill>
                            <a:srgbClr val="414C58"/>
                          </a:solidFill>
                          <a:latin typeface="Nunito Sans"/>
                        </a:rPr>
                        <a:t>→ керує </a:t>
                      </a:r>
                      <a:r>
                        <a:rPr sz="1050" b="0" u="sng">
                          <a:solidFill>
                            <a:srgbClr val="2A5C8F"/>
                          </a:solidFill>
                          <a:latin typeface="Nunito Sans"/>
                          <a:hlinkClick r:id="rId7"/>
                        </a:rPr>
                        <a:t>Gimbal.hpp</a:t>
                      </a:r>
                      <a:r>
                        <a:rPr sz="1050" b="0" u="none">
                          <a:solidFill>
                            <a:srgbClr val="414C58"/>
                          </a:solidFill>
                          <a:latin typeface="Nunito Sans"/>
                        </a:rPr>
                        <a:t>.</a:t>
                      </a:r>
                    </a:p>
                  </a:txBody>
                  <a:tcPr marL="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0000">
                <a:tc>
                  <a:txBody>
                    <a:bodyPr wrap="square"/>
                    <a:lstStyle/>
                    <a:p>
                      <a:r>
                        <a:rPr sz="1050" b="1" u="sng">
                          <a:solidFill>
                            <a:srgbClr val="2A5C8F"/>
                          </a:solidFill>
                          <a:latin typeface="Nunito Sans"/>
                          <a:hlinkClick r:id="rId8"/>
                        </a:rPr>
                        <a:t>tasks/Safety.hpp</a:t>
                      </a:r>
                    </a:p>
                  </a:txBody>
                  <a:tcPr marL="12700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u="none">
                          <a:solidFill>
                            <a:srgbClr val="414C58"/>
                          </a:solidFill>
                          <a:latin typeface="Nunito Sans"/>
                        </a:rPr>
                        <a:t>Задача safety: laserPermitted() — єдиний шлюз дозволу лазера.</a:t>
                      </a:r>
                    </a:p>
                  </a:txBody>
                  <a:tcPr marL="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</a:tr>
              <a:tr h="390000">
                <a:tc>
                  <a:txBody>
                    <a:bodyPr wrap="square"/>
                    <a:lstStyle/>
                    <a:p>
                      <a:r>
                        <a:rPr sz="1050" b="1" u="sng">
                          <a:solidFill>
                            <a:srgbClr val="2A5C8F"/>
                          </a:solidFill>
                          <a:latin typeface="Nunito Sans"/>
                          <a:hlinkClick r:id="rId9"/>
                        </a:rPr>
                        <a:t>tasks/LinkUart.hpp</a:t>
                      </a:r>
                    </a:p>
                  </a:txBody>
                  <a:tcPr marL="12700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u="none">
                          <a:solidFill>
                            <a:srgbClr val="414C58"/>
                          </a:solidFill>
                          <a:latin typeface="Nunito Sans"/>
                        </a:rPr>
                        <a:t>Задача link_uart: UART1 RX/TX, кадрування.</a:t>
                      </a:r>
                    </a:p>
                    <a:p>
                      <a:r>
                        <a:rPr sz="1050" b="0" u="none">
                          <a:solidFill>
                            <a:srgbClr val="414C58"/>
                          </a:solidFill>
                          <a:latin typeface="Nunito Sans"/>
                        </a:rPr>
                        <a:t>→ парсинг: </a:t>
                      </a:r>
                      <a:r>
                        <a:rPr sz="1050" b="0" u="sng">
                          <a:solidFill>
                            <a:srgbClr val="2A5C8F"/>
                          </a:solidFill>
                          <a:latin typeface="Nunito Sans"/>
                          <a:hlinkClick r:id="rId10"/>
                        </a:rPr>
                        <a:t>Protocol.hpp</a:t>
                      </a:r>
                      <a:r>
                        <a:rPr sz="1050" b="0" u="none">
                          <a:solidFill>
                            <a:srgbClr val="414C58"/>
                          </a:solidFill>
                          <a:latin typeface="Nunito Sans"/>
                        </a:rPr>
                        <a:t>.</a:t>
                      </a:r>
                    </a:p>
                  </a:txBody>
                  <a:tcPr marL="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0000">
                <a:tc>
                  <a:txBody>
                    <a:bodyPr wrap="square"/>
                    <a:lstStyle/>
                    <a:p>
                      <a:r>
                        <a:rPr sz="1050" b="1" u="sng">
                          <a:solidFill>
                            <a:srgbClr val="2A5C8F"/>
                          </a:solidFill>
                          <a:latin typeface="Nunito Sans"/>
                          <a:hlinkClick r:id="rId11"/>
                        </a:rPr>
                        <a:t>tasks/Logger.hpp</a:t>
                      </a:r>
                    </a:p>
                  </a:txBody>
                  <a:tcPr marL="12700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u="none">
                          <a:solidFill>
                            <a:srgbClr val="414C58"/>
                          </a:solidFill>
                          <a:latin typeface="Nunito Sans"/>
                        </a:rPr>
                        <a:t>Задача logger: запис на SD, єдина з правом довго блокуватись.</a:t>
                      </a:r>
                    </a:p>
                  </a:txBody>
                  <a:tcPr marL="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</a:tr>
              <a:tr h="390000">
                <a:tc>
                  <a:txBody>
                    <a:bodyPr wrap="square"/>
                    <a:lstStyle/>
                    <a:p>
                      <a:r>
                        <a:rPr sz="1050" b="1" u="sng">
                          <a:solidFill>
                            <a:srgbClr val="2A5C8F"/>
                          </a:solidFill>
                          <a:latin typeface="Nunito Sans"/>
                          <a:hlinkClick r:id="rId12"/>
                        </a:rPr>
                        <a:t>utils/Pid.hpp</a:t>
                      </a:r>
                    </a:p>
                  </a:txBody>
                  <a:tcPr marL="12700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u="none">
                          <a:solidFill>
                            <a:srgbClr val="414C58"/>
                          </a:solidFill>
                          <a:latin typeface="Nunito Sans"/>
                        </a:rPr>
                        <a:t>Швидкісна форма PID: вихід = швидкість, інтегрується в кут щотику.</a:t>
                      </a:r>
                    </a:p>
                  </a:txBody>
                  <a:tcPr marL="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0000">
                <a:tc>
                  <a:txBody>
                    <a:bodyPr wrap="square"/>
                    <a:lstStyle/>
                    <a:p>
                      <a:r>
                        <a:rPr sz="1050" b="1" u="sng">
                          <a:solidFill>
                            <a:srgbClr val="2A5C8F"/>
                          </a:solidFill>
                          <a:latin typeface="Nunito Sans"/>
                          <a:hlinkClick r:id="rId13"/>
                        </a:rPr>
                        <a:t>AutoChannel.hpp</a:t>
                      </a:r>
                    </a:p>
                    <a:p>
                      <a:r>
                        <a:rPr sz="1050" b="1" u="sng">
                          <a:solidFill>
                            <a:srgbClr val="2A5C8F"/>
                          </a:solidFill>
                          <a:latin typeface="Nunito Sans"/>
                          <a:hlinkClick r:id="rId14"/>
                        </a:rPr>
                        <a:t>ManualChannel.hpp</a:t>
                      </a:r>
                    </a:p>
                  </a:txBody>
                  <a:tcPr marL="12700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u="none">
                          <a:solidFill>
                            <a:srgbClr val="414C58"/>
                          </a:solidFill>
                          <a:latin typeface="Nunito Sans"/>
                        </a:rPr>
                        <a:t>Авто-наведення за похибкою від EYE та ручне керування з ПК.</a:t>
                      </a:r>
                    </a:p>
                  </a:txBody>
                  <a:tcPr marL="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9" name="Table 168"/>
          <p:cNvGraphicFramePr>
            <a:graphicFrameLocks noGrp="1"/>
          </p:cNvGraphicFramePr>
          <p:nvPr/>
        </p:nvGraphicFramePr>
        <p:xfrm>
          <a:off x="6349096" y="2098302"/>
          <a:ext cx="5340096" cy="2638641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50000"/>
                <a:gridCol w="3490096"/>
              </a:tblGrid>
              <a:tr h="298641">
                <a:tc>
                  <a:txBody>
                    <a:bodyPr wrap="square"/>
                    <a:lstStyle/>
                    <a:p>
                      <a:r>
                        <a:rPr sz="1100" b="1" u="none">
                          <a:solidFill>
                            <a:srgbClr val="232323"/>
                          </a:solidFill>
                          <a:latin typeface="Nunito Sans"/>
                        </a:rPr>
                        <a:t>Файл</a:t>
                      </a:r>
                    </a:p>
                  </a:txBody>
                  <a:tcPr marL="12700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5D6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u="none">
                          <a:solidFill>
                            <a:srgbClr val="232323"/>
                          </a:solidFill>
                          <a:latin typeface="Nunito Sans"/>
                        </a:rPr>
                        <a:t>Опис</a:t>
                      </a:r>
                    </a:p>
                  </a:txBody>
                  <a:tcPr marL="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5D6E9"/>
                    </a:solidFill>
                  </a:tcPr>
                </a:tc>
              </a:tr>
              <a:tr h="390000">
                <a:tc>
                  <a:txBody>
                    <a:bodyPr wrap="square"/>
                    <a:lstStyle/>
                    <a:p>
                      <a:r>
                        <a:rPr sz="1050" b="1" u="sng">
                          <a:solidFill>
                            <a:srgbClr val="2A5C8F"/>
                          </a:solidFill>
                          <a:latin typeface="Nunito Sans"/>
                          <a:hlinkClick r:id="rId15"/>
                        </a:rPr>
                        <a:t>tracker.py</a:t>
                      </a:r>
                    </a:p>
                  </a:txBody>
                  <a:tcPr marL="12700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u="none">
                          <a:solidFill>
                            <a:srgbClr val="414C58"/>
                          </a:solidFill>
                          <a:latin typeface="Nunito Sans"/>
                        </a:rPr>
                        <a:t>Головний цикл: захоплення кадру.</a:t>
                      </a:r>
                    </a:p>
                    <a:p>
                      <a:r>
                        <a:rPr sz="1050" b="0" u="none">
                          <a:solidFill>
                            <a:srgbClr val="414C58"/>
                          </a:solidFill>
                          <a:latin typeface="Nunito Sans"/>
                        </a:rPr>
                        <a:t>→ детекція: </a:t>
                      </a:r>
                      <a:r>
                        <a:rPr sz="1050" b="0" u="sng">
                          <a:solidFill>
                            <a:srgbClr val="2A5C8F"/>
                          </a:solidFill>
                          <a:latin typeface="Nunito Sans"/>
                          <a:hlinkClick r:id="rId16"/>
                        </a:rPr>
                        <a:t>dots.py</a:t>
                      </a:r>
                      <a:r>
                        <a:rPr sz="1050" b="0" u="none">
                          <a:solidFill>
                            <a:srgbClr val="414C58"/>
                          </a:solidFill>
                          <a:latin typeface="Nunito Sans"/>
                        </a:rPr>
                        <a:t>.</a:t>
                      </a:r>
                    </a:p>
                    <a:p>
                      <a:r>
                        <a:rPr sz="1050" b="0" u="none">
                          <a:solidFill>
                            <a:srgbClr val="414C58"/>
                          </a:solidFill>
                          <a:latin typeface="Nunito Sans"/>
                        </a:rPr>
                        <a:t>→ надсилання похибки: </a:t>
                      </a:r>
                      <a:r>
                        <a:rPr sz="1050" b="0" u="sng">
                          <a:solidFill>
                            <a:srgbClr val="2A5C8F"/>
                          </a:solidFill>
                          <a:latin typeface="Nunito Sans"/>
                          <a:hlinkClick r:id="rId17"/>
                        </a:rPr>
                        <a:t>serial_link.py</a:t>
                      </a:r>
                      <a:r>
                        <a:rPr sz="1050" b="0" u="none">
                          <a:solidFill>
                            <a:srgbClr val="414C58"/>
                          </a:solidFill>
                          <a:latin typeface="Nunito Sans"/>
                        </a:rPr>
                        <a:t>.</a:t>
                      </a:r>
                    </a:p>
                  </a:txBody>
                  <a:tcPr marL="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0000">
                <a:tc>
                  <a:txBody>
                    <a:bodyPr wrap="square"/>
                    <a:lstStyle/>
                    <a:p>
                      <a:r>
                        <a:rPr sz="1050" b="1" u="sng">
                          <a:solidFill>
                            <a:srgbClr val="2A5C8F"/>
                          </a:solidFill>
                          <a:latin typeface="Nunito Sans"/>
                          <a:hlinkClick r:id="rId18"/>
                        </a:rPr>
                        <a:t>dots.py</a:t>
                      </a:r>
                    </a:p>
                  </a:txBody>
                  <a:tcPr marL="12700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u="none">
                          <a:solidFill>
                            <a:srgbClr val="414C58"/>
                          </a:solidFill>
                          <a:latin typeface="Nunito Sans"/>
                        </a:rPr>
                        <a:t>Детекція червоної/чорної точки (OpenCV), вектор похибки.</a:t>
                      </a:r>
                    </a:p>
                  </a:txBody>
                  <a:tcPr marL="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</a:tr>
              <a:tr h="390000">
                <a:tc>
                  <a:txBody>
                    <a:bodyPr wrap="square"/>
                    <a:lstStyle/>
                    <a:p>
                      <a:r>
                        <a:rPr sz="1050" b="1" u="sng">
                          <a:solidFill>
                            <a:srgbClr val="2A5C8F"/>
                          </a:solidFill>
                          <a:latin typeface="Nunito Sans"/>
                          <a:hlinkClick r:id="rId19"/>
                        </a:rPr>
                        <a:t>serial_link.py</a:t>
                      </a:r>
                    </a:p>
                  </a:txBody>
                  <a:tcPr marL="12700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u="none">
                          <a:solidFill>
                            <a:srgbClr val="414C58"/>
                          </a:solidFill>
                          <a:latin typeface="Nunito Sans"/>
                        </a:rPr>
                        <a:t>Кадр E dx dy valid на UART1. Форсує dtr=False, rts=False.</a:t>
                      </a:r>
                    </a:p>
                    <a:p>
                      <a:r>
                        <a:rPr sz="1050" b="0" u="none">
                          <a:solidFill>
                            <a:srgbClr val="414C58"/>
                          </a:solidFill>
                          <a:latin typeface="Nunito Sans"/>
                        </a:rPr>
                        <a:t>→ на AIM читає </a:t>
                      </a:r>
                      <a:r>
                        <a:rPr sz="1050" b="0" u="sng">
                          <a:solidFill>
                            <a:srgbClr val="2A5C8F"/>
                          </a:solidFill>
                          <a:latin typeface="Nunito Sans"/>
                          <a:hlinkClick r:id="rId10"/>
                        </a:rPr>
                        <a:t>Protocol.hpp</a:t>
                      </a:r>
                      <a:r>
                        <a:rPr sz="1050" b="0" u="none">
                          <a:solidFill>
                            <a:srgbClr val="414C58"/>
                          </a:solidFill>
                          <a:latin typeface="Nunito Sans"/>
                        </a:rPr>
                        <a:t>.</a:t>
                      </a:r>
                    </a:p>
                  </a:txBody>
                  <a:tcPr marL="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0000">
                <a:tc>
                  <a:txBody>
                    <a:bodyPr wrap="square"/>
                    <a:lstStyle/>
                    <a:p>
                      <a:r>
                        <a:rPr sz="1050" b="1" u="sng">
                          <a:solidFill>
                            <a:srgbClr val="2A5C8F"/>
                          </a:solidFill>
                          <a:latin typeface="Nunito Sans"/>
                          <a:hlinkClick r:id="rId20"/>
                        </a:rPr>
                        <a:t>recenter.py</a:t>
                      </a:r>
                    </a:p>
                  </a:txBody>
                  <a:tcPr marL="12700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u="none">
                          <a:solidFill>
                            <a:srgbClr val="414C58"/>
                          </a:solidFill>
                          <a:latin typeface="Nunito Sans"/>
                        </a:rPr>
                        <a:t>Повертає лазер у центр зони, якщо точку не видно; викликається з </a:t>
                      </a:r>
                      <a:r>
                        <a:rPr sz="1050" b="0" u="sng">
                          <a:solidFill>
                            <a:srgbClr val="2A5C8F"/>
                          </a:solidFill>
                          <a:latin typeface="Nunito Sans"/>
                          <a:hlinkClick r:id="rId21"/>
                        </a:rPr>
                        <a:t>tracker.py</a:t>
                      </a:r>
                      <a:r>
                        <a:rPr sz="1050" b="0" u="none">
                          <a:solidFill>
                            <a:srgbClr val="414C58"/>
                          </a:solidFill>
                          <a:latin typeface="Nunito Sans"/>
                        </a:rPr>
                        <a:t>.</a:t>
                      </a:r>
                    </a:p>
                  </a:txBody>
                  <a:tcPr marL="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</a:tr>
              <a:tr h="390000">
                <a:tc>
                  <a:txBody>
                    <a:bodyPr wrap="square"/>
                    <a:lstStyle/>
                    <a:p>
                      <a:r>
                        <a:rPr sz="1050" b="1" u="sng">
                          <a:solidFill>
                            <a:srgbClr val="2A5C8F"/>
                          </a:solidFill>
                          <a:latin typeface="Nunito Sans"/>
                          <a:hlinkClick r:id="rId22"/>
                        </a:rPr>
                        <a:t>controls.py</a:t>
                      </a:r>
                    </a:p>
                    <a:p>
                      <a:r>
                        <a:rPr sz="1050" b="1" u="sng">
                          <a:solidFill>
                            <a:srgbClr val="2A5C8F"/>
                          </a:solidFill>
                          <a:latin typeface="Nunito Sans"/>
                          <a:hlinkClick r:id="rId23"/>
                        </a:rPr>
                        <a:t>app_window.py</a:t>
                      </a:r>
                    </a:p>
                  </a:txBody>
                  <a:tcPr marL="12700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u="none">
                          <a:solidFill>
                            <a:srgbClr val="414C58"/>
                          </a:solidFill>
                          <a:latin typeface="Nunito Sans"/>
                        </a:rPr>
                        <a:t>Панель оператора: підсилення, канал, телеметрія, кнопка вогню.</a:t>
                      </a:r>
                    </a:p>
                  </a:txBody>
                  <a:tcPr marL="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0000">
                <a:tc>
                  <a:txBody>
                    <a:bodyPr wrap="square"/>
                    <a:lstStyle/>
                    <a:p>
                      <a:r>
                        <a:rPr sz="1050" b="1" u="sng">
                          <a:solidFill>
                            <a:srgbClr val="2A5C8F"/>
                          </a:solidFill>
                          <a:latin typeface="Nunito Sans"/>
                          <a:hlinkClick r:id="rId24"/>
                        </a:rPr>
                        <a:t>speed.py</a:t>
                      </a:r>
                    </a:p>
                  </a:txBody>
                  <a:tcPr marL="12700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u="none">
                          <a:solidFill>
                            <a:srgbClr val="414C58"/>
                          </a:solidFill>
                          <a:latin typeface="Nunito Sans"/>
                        </a:rPr>
                        <a:t>Live-підбір фокусу камери та швидкості наведення.</a:t>
                      </a:r>
                    </a:p>
                  </a:txBody>
                  <a:tcPr marL="0" marR="91440" marT="41910" marB="4191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</a:tr>
            </a:tbl>
          </a:graphicData>
        </a:graphic>
      </p:graphicFrame>
      <p:sp>
        <p:nvSpPr>
          <p:cNvPr id="170" name="TextBox 169"/>
          <p:cNvSpPr txBox="1"/>
          <p:nvPr/>
        </p:nvSpPr>
        <p:spPr>
          <a:xfrm>
            <a:off x="812800" y="6250000"/>
            <a:ext cx="10566400" cy="22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i="1" u="sng">
                <a:solidFill>
                  <a:srgbClr val="2A5C8F"/>
                </a:solidFill>
                <a:latin typeface="Nunito Sans"/>
                <a:hlinkClick r:id="rId25"/>
              </a:rPr>
              <a:t>firmware/aim/src/</a:t>
            </a:r>
            <a:r>
              <a:rPr sz="800" i="1">
                <a:solidFill>
                  <a:srgbClr val="6B6F76"/>
                </a:solidFill>
                <a:latin typeface="Nunito Sans"/>
              </a:rPr>
              <a:t> · </a:t>
            </a:r>
            <a:r>
              <a:rPr sz="800" i="1" u="sng">
                <a:solidFill>
                  <a:srgbClr val="2A5C8F"/>
                </a:solidFill>
                <a:latin typeface="Nunito Sans"/>
                <a:hlinkClick r:id="rId26"/>
              </a:rPr>
              <a:t>eye/camera/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5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/>
          <p:nvPr/>
        </p:nvSpPr>
        <p:spPr>
          <a:xfrm>
            <a:off x="812800" y="812800"/>
            <a:ext cx="1466499" cy="340320"/>
          </a:xfrm>
          <a:prstGeom prst="roundRect">
            <a:avLst>
              <a:gd fmla="val 37318" name="adj"/>
            </a:avLst>
          </a:prstGeom>
          <a:solidFill>
            <a:srgbClr val="DAE5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952500" y="876300"/>
            <a:ext cx="126052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14C58"/>
              </a:buClr>
              <a:buSzPts val="1200"/>
              <a:buFont typeface="Nunito Sans"/>
              <a:buNone/>
            </a:pPr>
            <a:r>
              <a:rPr b="1" i="0" lang="en-US" sz="120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РЕЗУЛЬТАТИ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812800" y="1280120"/>
            <a:ext cx="10883400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200"/>
              <a:buFont typeface="Nunito Sans"/>
              <a:buNone/>
            </a:pPr>
            <a:r>
              <a:rPr b="1" i="0" lang="en-US" sz="24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Проблеми, з якими зіткнулися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6" name="Table 175"/>
          <p:cNvGraphicFramePr>
            <a:graphicFrameLocks noGrp="1"/>
          </p:cNvGraphicFramePr>
          <p:nvPr/>
        </p:nvGraphicFramePr>
        <p:xfrm>
          <a:off x="812800" y="1650000"/>
          <a:ext cx="10566400" cy="34527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00000"/>
                <a:gridCol w="3400000"/>
                <a:gridCol w="2400000"/>
                <a:gridCol w="1566400"/>
              </a:tblGrid>
              <a:tr h="26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32323"/>
                          </a:solidFill>
                          <a:latin typeface="Nunito Sans"/>
                        </a:rPr>
                        <a:t>Проблема</a:t>
                      </a:r>
                    </a:p>
                  </a:txBody>
                  <a:tcPr marL="12700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5D6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32323"/>
                          </a:solidFill>
                          <a:latin typeface="Nunito Sans"/>
                        </a:rPr>
                        <a:t>Причини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5D6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32323"/>
                          </a:solidFill>
                          <a:latin typeface="Nunito Sans"/>
                        </a:rPr>
                        <a:t>Рішення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5D6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32323"/>
                          </a:solidFill>
                          <a:latin typeface="Nunito Sans"/>
                        </a:rPr>
                        <a:t>Статус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5D6E9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  <a:latin typeface="Nunito Sans"/>
                        </a:rPr>
                        <a:t>Авто-наведення «злітає» → LINK_LOST</a:t>
                      </a:r>
                    </a:p>
                  </a:txBody>
                  <a:tcPr marL="12700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14C58"/>
                          </a:solidFill>
                          <a:latin typeface="Nunito Sans"/>
                        </a:rPr>
                        <a:t>Точка губиться на кілька кадрів · вектор похибки тягне гімбал за межі зони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14C58"/>
                          </a:solidFill>
                          <a:latin typeface="Nunito Sans"/>
                        </a:rPr>
                        <a:t>Похибку обмежено до ±1 (dots.py, Protocol.hpp), менша робоча зона 60°/30°.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32323"/>
                          </a:solidFill>
                          <a:latin typeface="Nunito Sans"/>
                        </a:rPr>
                        <a:t>Частково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  <a:latin typeface="Nunito Sans"/>
                        </a:rPr>
                        <a:t>Неправильні кути MIN/MAX</a:t>
                      </a:r>
                    </a:p>
                  </a:txBody>
                  <a:tcPr marL="12700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14C58"/>
                          </a:solidFill>
                          <a:latin typeface="Nunito Sans"/>
                        </a:rPr>
                        <a:t>Константи підібрані на око · переплутаний напрям обертання серво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14C58"/>
                          </a:solidFill>
                          <a:latin typeface="Nunito Sans"/>
                        </a:rPr>
                        <a:t>Виміряно на стенді, прапорці напряму, static_assert тримає зону в межах ходу серво.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14C58"/>
                          </a:solidFill>
                          <a:latin typeface="Nunito Sans"/>
                        </a:rPr>
                        <a:t>Виправлено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</a:tr>
              <a:tr h="2362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  <a:latin typeface="Nunito Sans"/>
                        </a:rPr>
                        <a:t>Лазер блимає при запуску</a:t>
                      </a:r>
                    </a:p>
                  </a:txBody>
                  <a:tcPr marL="12700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14C58"/>
                          </a:solidFill>
                          <a:latin typeface="Nunito Sans"/>
                        </a:rPr>
                        <a:t>Не діагностовано (TODO)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  <a:latin typeface="Nunito Sans"/>
                        </a:rPr>
                        <a:t>TODO: причина й фікс.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32323"/>
                          </a:solidFill>
                          <a:latin typeface="Nunito Sans"/>
                        </a:rPr>
                        <a:t>Відкрито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  <a:latin typeface="Nunito Sans"/>
                        </a:rPr>
                        <a:t>Дані не доходять до ESP32 при зміні розміру вікна ПК</a:t>
                      </a:r>
                    </a:p>
                  </a:txBody>
                  <a:tcPr marL="12700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14C58"/>
                          </a:solidFill>
                          <a:latin typeface="Nunito Sans"/>
                        </a:rPr>
                        <a:t>Не діагностовано (TODO)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  <a:latin typeface="Nunito Sans"/>
                        </a:rPr>
                        <a:t>TODO: причина й фікс.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32323"/>
                          </a:solidFill>
                          <a:latin typeface="Nunito Sans"/>
                        </a:rPr>
                        <a:t>Відкрито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  <a:latin typeface="Nunito Sans"/>
                        </a:rPr>
                        <a:t>ESP32 перезавантажується при від'єднанні UART0</a:t>
                      </a:r>
                    </a:p>
                  </a:txBody>
                  <a:tcPr marL="12700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14C58"/>
                          </a:solidFill>
                          <a:latin typeface="Nunito Sans"/>
                        </a:rPr>
                        <a:t>USB-UART міст імпульсує пін EN сигналами DTR/RTS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14C58"/>
                          </a:solidFill>
                          <a:latin typeface="Nunito Sans"/>
                        </a:rPr>
                        <a:t>serial_link.py примусово ставить dtr=False, rts=False.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32323"/>
                          </a:solidFill>
                          <a:latin typeface="Nunito Sans"/>
                        </a:rPr>
                        <a:t>Частково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  <a:latin typeface="Nunito Sans"/>
                        </a:rPr>
                        <a:t>Повільне наведення</a:t>
                      </a:r>
                    </a:p>
                  </a:txBody>
                  <a:tcPr marL="12700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14C58"/>
                          </a:solidFill>
                          <a:latin typeface="Nunito Sans"/>
                        </a:rPr>
                        <a:t>Не діагностовано (TODO)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  <a:latin typeface="Nunito Sans"/>
                        </a:rPr>
                        <a:t>TODO: причина й фікс.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32323"/>
                          </a:solidFill>
                          <a:latin typeface="Nunito Sans"/>
                        </a:rPr>
                        <a:t>Відкрито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  <a:latin typeface="Nunito Sans"/>
                        </a:rPr>
                        <a:t>Розпізнавання лазерної точки ненадійне (детектор губить точку на кілька кадрів)</a:t>
                      </a:r>
                    </a:p>
                  </a:txBody>
                  <a:tcPr marL="12700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14C58"/>
                          </a:solidFill>
                          <a:latin typeface="Nunito Sans"/>
                        </a:rPr>
                        <a:t>Змінне освітлення збиває пороги OpenCV · точка тимчасово зникає з кадру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14C58"/>
                          </a:solidFill>
                          <a:latin typeface="Nunito Sans"/>
                        </a:rPr>
                        <a:t>Підбір порогів OpenCV (tracker.py); TODO: утримання позиції, фільтр стрибків.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32323"/>
                          </a:solidFill>
                          <a:latin typeface="Nunito Sans"/>
                        </a:rPr>
                        <a:t>Частково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  <a:latin typeface="Nunito Sans"/>
                        </a:rPr>
                        <a:t>Зв'язок COM/UART не відновлюється після від'єднання</a:t>
                      </a:r>
                    </a:p>
                  </a:txBody>
                  <a:tcPr marL="12700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14C58"/>
                          </a:solidFill>
                          <a:latin typeface="Nunito Sans"/>
                        </a:rPr>
                        <a:t>Не діагностовано (TODO)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  <a:latin typeface="Nunito Sans"/>
                        </a:rPr>
                        <a:t>TODO: причина й фікс.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32323"/>
                          </a:solidFill>
                          <a:latin typeface="Nunito Sans"/>
                        </a:rPr>
                        <a:t>Відкрито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</a:tr>
            </a:tbl>
          </a:graphicData>
        </a:graphic>
      </p:graphicFrame>
      <p:sp>
        <p:nvSpPr>
          <p:cNvPr id="177" name="TextBox 176"/>
          <p:cNvSpPr txBox="1"/>
          <p:nvPr/>
        </p:nvSpPr>
        <p:spPr>
          <a:xfrm>
            <a:off x="812800" y="6250000"/>
            <a:ext cx="10566400" cy="22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i="1" u="sng">
                <a:solidFill>
                  <a:srgbClr val="2A5C8F"/>
                </a:solidFill>
                <a:latin typeface="Nunito Sans"/>
                <a:hlinkClick r:id="rId3"/>
              </a:rPr>
              <a:t>docs/protocol.md</a:t>
            </a:r>
            <a:r>
              <a:rPr sz="800" i="1">
                <a:solidFill>
                  <a:srgbClr val="6B6F76"/>
                </a:solidFill>
                <a:latin typeface="Nunito Sans"/>
              </a:rPr>
              <a:t> · </a:t>
            </a:r>
            <a:r>
              <a:rPr sz="800" i="1" u="sng">
                <a:solidFill>
                  <a:srgbClr val="2A5C8F"/>
                </a:solidFill>
                <a:latin typeface="Nunito Sans"/>
                <a:hlinkClick r:id="rId4"/>
              </a:rPr>
              <a:t>firmware/aim/src/tasks/LinkUart.hpp</a:t>
            </a:r>
            <a:r>
              <a:rPr sz="800" i="1">
                <a:solidFill>
                  <a:srgbClr val="6B6F76"/>
                </a:solidFill>
                <a:latin typeface="Nunito Sans"/>
              </a:rPr>
              <a:t> · </a:t>
            </a:r>
            <a:r>
              <a:rPr sz="800" i="1" u="sng">
                <a:solidFill>
                  <a:srgbClr val="2A5C8F"/>
                </a:solidFill>
                <a:latin typeface="Nunito Sans"/>
                <a:hlinkClick r:id="rId5"/>
              </a:rPr>
              <a:t>eye/camera/serial_link.py</a:t>
            </a:r>
            <a:r>
              <a:rPr sz="800" i="1">
                <a:solidFill>
                  <a:srgbClr val="6B6F76"/>
                </a:solidFill>
                <a:latin typeface="Nunito Sans"/>
              </a:rPr>
              <a:t> · </a:t>
            </a:r>
            <a:r>
              <a:rPr sz="800" i="1" u="sng">
                <a:solidFill>
                  <a:srgbClr val="2A5C8F"/>
                </a:solidFill>
                <a:latin typeface="Nunito Sans"/>
                <a:hlinkClick r:id="rId6"/>
              </a:rPr>
              <a:t>eye/camera/tracker.py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5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"/>
          <p:cNvSpPr/>
          <p:nvPr/>
        </p:nvSpPr>
        <p:spPr>
          <a:xfrm>
            <a:off x="812800" y="812800"/>
            <a:ext cx="1466499" cy="340320"/>
          </a:xfrm>
          <a:prstGeom prst="roundRect">
            <a:avLst>
              <a:gd fmla="val 37318" name="adj"/>
            </a:avLst>
          </a:prstGeom>
          <a:solidFill>
            <a:srgbClr val="DAE5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952500" y="876300"/>
            <a:ext cx="126052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14C58"/>
              </a:buClr>
              <a:buSzPts val="1200"/>
              <a:buFont typeface="Nunito Sans"/>
              <a:buNone/>
            </a:pPr>
            <a:r>
              <a:rPr b="1" i="0" lang="en-US" sz="120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РЕЗУЛЬТАТИ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812800" y="1280120"/>
            <a:ext cx="10883392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200"/>
              <a:buFont typeface="Nunito Sans"/>
              <a:buNone/>
            </a:pPr>
            <a:r>
              <a:rPr b="1" i="0" lang="en-US" sz="24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Інші проблеми з проєктування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3" name="Table 202"/>
          <p:cNvGraphicFramePr>
            <a:graphicFrameLocks noGrp="1"/>
          </p:cNvGraphicFramePr>
          <p:nvPr/>
        </p:nvGraphicFramePr>
        <p:xfrm>
          <a:off x="812800" y="1727081"/>
          <a:ext cx="10566400" cy="42681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00000"/>
                <a:gridCol w="3400000"/>
                <a:gridCol w="2400000"/>
                <a:gridCol w="1566400"/>
              </a:tblGrid>
              <a:tr h="26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32323"/>
                          </a:solidFill>
                          <a:latin typeface="Nunito Sans"/>
                        </a:rPr>
                        <a:t>Проблема</a:t>
                      </a:r>
                    </a:p>
                  </a:txBody>
                  <a:tcPr marL="12700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5D6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32323"/>
                          </a:solidFill>
                          <a:latin typeface="Nunito Sans"/>
                        </a:rPr>
                        <a:t>Причини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5D6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32323"/>
                          </a:solidFill>
                          <a:latin typeface="Nunito Sans"/>
                        </a:rPr>
                        <a:t>Що ми зробили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5D6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32323"/>
                          </a:solidFill>
                          <a:latin typeface="Nunito Sans"/>
                        </a:rPr>
                        <a:t>Статус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5D6E9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  <a:latin typeface="Nunito Sans"/>
                        </a:rPr>
                        <a:t>Логи й дані ділили UART0; рядок з «F» міг випадково спричинити постріл</a:t>
                      </a:r>
                    </a:p>
                  </a:txBody>
                  <a:tcPr marL="12700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14C58"/>
                          </a:solidFill>
                          <a:latin typeface="Nunito Sans"/>
                        </a:rPr>
                        <a:t>Спільний UART0 для логів і команд керування, без ізоляції небезпечної команди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14C58"/>
                          </a:solidFill>
                          <a:latin typeface="Nunito Sans"/>
                        </a:rPr>
                        <a:t>Дані перенесено на UART1; UART0 - лише консоль, команда пострілу захищена.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14C58"/>
                          </a:solidFill>
                          <a:latin typeface="Nunito Sans"/>
                        </a:rPr>
                        <a:t>Виправлено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  <a:latin typeface="Nunito Sans"/>
                        </a:rPr>
                        <a:t>Реле лазера вмикалося при подачі живлення (пін у стані float)</a:t>
                      </a:r>
                    </a:p>
                  </a:txBody>
                  <a:tcPr marL="12700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14C58"/>
                          </a:solidFill>
                          <a:latin typeface="Nunito Sans"/>
                        </a:rPr>
                        <a:t>GPIO реле floats до Relay::init() · вихід вмикається раніше рівня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14C58"/>
                          </a:solidFill>
                          <a:latin typeface="Nunito Sans"/>
                        </a:rPr>
                        <a:t>Рівень встановлено на виводі, додано pull-up.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14C58"/>
                          </a:solidFill>
                          <a:latin typeface="Nunito Sans"/>
                        </a:rPr>
                        <a:t>Виправлено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  <a:latin typeface="Nunito Sans"/>
                        </a:rPr>
                        <a:t>Запис на SD-картку може зависнути на 100-250 мс</a:t>
                      </a:r>
                    </a:p>
                  </a:txBody>
                  <a:tcPr marL="12700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14C58"/>
                          </a:solidFill>
                          <a:latin typeface="Nunito Sans"/>
                        </a:rPr>
                        <a:t>Внутрішнє wear-levelling картки під час запису блоку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14C58"/>
                          </a:solidFill>
                          <a:latin typeface="Nunito Sans"/>
                        </a:rPr>
                        <a:t>Окрема задача logger з низьким пріоритетом; черга відкидає найстаріший запис.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14C58"/>
                          </a:solidFill>
                          <a:latin typeface="Nunito Sans"/>
                        </a:rPr>
                        <a:t>Виправлено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  <a:latin typeface="Nunito Sans"/>
                        </a:rPr>
                        <a:t>Затримка камери обмежує підсилення PID</a:t>
                      </a:r>
                    </a:p>
                  </a:txBody>
                  <a:tcPr marL="12700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14C58"/>
                          </a:solidFill>
                          <a:latin typeface="Nunito Sans"/>
                        </a:rPr>
                        <a:t>Затримка камери й обробки кадру вносить мертвий час, що обмежує підсилення PID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  <a:latin typeface="Nunito Sans"/>
                        </a:rPr>
                        <a:t>TODO: причина й фікс.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32323"/>
                          </a:solidFill>
                          <a:latin typeface="Nunito Sans"/>
                        </a:rPr>
                        <a:t>Відкрито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  <a:latin typeface="Nunito Sans"/>
                        </a:rPr>
                        <a:t>Мертва зона й люфт сервоприводів</a:t>
                      </a:r>
                    </a:p>
                  </a:txBody>
                  <a:tcPr marL="12700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14C58"/>
                          </a:solidFill>
                          <a:latin typeface="Nunito Sans"/>
                        </a:rPr>
                        <a:t>Механічний люфт і нечутливість хобі-сервоприводів біля нейтралі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14C58"/>
                          </a:solidFill>
                          <a:latin typeface="Nunito Sans"/>
                        </a:rPr>
                        <a:t>Компенсує зворотний зв'язок з камери.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14C58"/>
                          </a:solidFill>
                          <a:latin typeface="Nunito Sans"/>
                        </a:rPr>
                        <a:t>Виправлено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  <a:latin typeface="Nunito Sans"/>
                        </a:rPr>
                        <a:t>Зависання каналу зв'язку через однопотоковий UI-застосунок</a:t>
                      </a:r>
                    </a:p>
                  </a:txBody>
                  <a:tcPr marL="12700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14C58"/>
                          </a:solidFill>
                          <a:latin typeface="Nunito Sans"/>
                        </a:rPr>
                        <a:t>UI і серійний обмін в одному потоці; ресайз вікна блокував порт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14C58"/>
                          </a:solidFill>
                          <a:latin typeface="Nunito Sans"/>
                        </a:rPr>
                        <a:t>Обмін даними з ESP перенесено у фоновий потік.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14C58"/>
                          </a:solidFill>
                          <a:latin typeface="Nunito Sans"/>
                        </a:rPr>
                        <a:t>Виправлено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  <a:latin typeface="Nunito Sans"/>
                        </a:rPr>
                        <a:t>Нелінійна залежність між позиціями на стіні та кутами серво</a:t>
                      </a:r>
                    </a:p>
                  </a:txBody>
                  <a:tcPr marL="12700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14C58"/>
                          </a:solidFill>
                          <a:latin typeface="Nunito Sans"/>
                        </a:rPr>
                        <a:t>Проєкція стіни на кут гімбала нелінійна (перспектива, геометрія кардана)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  <a:latin typeface="Nunito Sans"/>
                        </a:rPr>
                        <a:t>TODO: причина й фікс.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32323"/>
                          </a:solidFill>
                          <a:latin typeface="Nunito Sans"/>
                        </a:rPr>
                        <a:t>Відкрито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  <a:latin typeface="Nunito Sans"/>
                        </a:rPr>
                        <a:t>Лазер виходить за межі зони видимості камери</a:t>
                      </a:r>
                    </a:p>
                  </a:txBody>
                  <a:tcPr marL="12700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14C58"/>
                          </a:solidFill>
                          <a:latin typeface="Nunito Sans"/>
                        </a:rPr>
                        <a:t>Різкий рух цілі або похибка керування виносить точку за межі поля зору камери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14C58"/>
                          </a:solidFill>
                          <a:latin typeface="Nunito Sans"/>
                        </a:rPr>
                        <a:t>recenter.py: гімбал рухається P-кроками до центру, якщо точку не видно &gt;1500 мс.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32323"/>
                          </a:solidFill>
                          <a:latin typeface="Nunito Sans"/>
                        </a:rPr>
                        <a:t>Частково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32323"/>
                          </a:solidFill>
                          <a:latin typeface="Nunito Sans"/>
                        </a:rPr>
                        <a:t>Автофокус камери знижує стабільність детекції</a:t>
                      </a:r>
                    </a:p>
                  </a:txBody>
                  <a:tcPr marL="12700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14C58"/>
                          </a:solidFill>
                          <a:latin typeface="Nunito Sans"/>
                        </a:rPr>
                        <a:t>Автофокус міняє різкість/розмір точки — пороги OpenCV втрачають сигнал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14C58"/>
                          </a:solidFill>
                          <a:latin typeface="Nunito Sans"/>
                        </a:rPr>
                        <a:t>Автофокус вимкнено, фіксована позиція лінзи (--focus=130); live-підбір у speed.py.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32323"/>
                          </a:solidFill>
                          <a:latin typeface="Nunito Sans"/>
                        </a:rPr>
                        <a:t>Частково</a:t>
                      </a:r>
                    </a:p>
                  </a:txBody>
                  <a:tcPr marL="0" marR="91440" marT="45720" marB="4572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4" name="TextBox 203"/>
          <p:cNvSpPr txBox="1"/>
          <p:nvPr/>
        </p:nvSpPr>
        <p:spPr>
          <a:xfrm>
            <a:off x="812800" y="6250000"/>
            <a:ext cx="10566400" cy="22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i="1" u="sng">
                <a:solidFill>
                  <a:srgbClr val="2A5C8F"/>
                </a:solidFill>
                <a:latin typeface="Nunito Sans"/>
                <a:hlinkClick r:id="rId3"/>
              </a:rPr>
              <a:t>firmware/aim/src/parts/Laser.hpp</a:t>
            </a:r>
            <a:r>
              <a:rPr sz="800" i="1">
                <a:solidFill>
                  <a:srgbClr val="6B6F76"/>
                </a:solidFill>
                <a:latin typeface="Nunito Sans"/>
              </a:rPr>
              <a:t> · </a:t>
            </a:r>
            <a:r>
              <a:rPr sz="800" i="1" u="sng">
                <a:solidFill>
                  <a:srgbClr val="2A5C8F"/>
                </a:solidFill>
                <a:latin typeface="Nunito Sans"/>
                <a:hlinkClick r:id="rId4"/>
              </a:rPr>
              <a:t>firmware/aim/src/tasks/Logger.hpp</a:t>
            </a:r>
            <a:r>
              <a:rPr sz="800" i="1">
                <a:solidFill>
                  <a:srgbClr val="6B6F76"/>
                </a:solidFill>
                <a:latin typeface="Nunito Sans"/>
              </a:rPr>
              <a:t> · </a:t>
            </a:r>
            <a:r>
              <a:rPr sz="800" i="1" u="sng">
                <a:solidFill>
                  <a:srgbClr val="2A5C8F"/>
                </a:solidFill>
                <a:latin typeface="Nunito Sans"/>
                <a:hlinkClick r:id="rId5"/>
              </a:rPr>
              <a:t>eye/camera/app_window.py</a:t>
            </a:r>
            <a:r>
              <a:rPr sz="800" i="1">
                <a:solidFill>
                  <a:srgbClr val="6B6F76"/>
                </a:solidFill>
                <a:latin typeface="Nunito Sans"/>
              </a:rPr>
              <a:t> · </a:t>
            </a:r>
            <a:r>
              <a:rPr sz="800" i="1" u="sng">
                <a:solidFill>
                  <a:srgbClr val="2A5C8F"/>
                </a:solidFill>
                <a:latin typeface="Nunito Sans"/>
                <a:hlinkClick r:id="rId6"/>
              </a:rPr>
              <a:t>eye/camera/recenter.py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5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"/>
          <p:cNvSpPr/>
          <p:nvPr/>
        </p:nvSpPr>
        <p:spPr>
          <a:xfrm>
            <a:off x="812800" y="812800"/>
            <a:ext cx="1466499" cy="340320"/>
          </a:xfrm>
          <a:prstGeom prst="roundRect">
            <a:avLst>
              <a:gd fmla="val 37318" name="adj"/>
            </a:avLst>
          </a:prstGeom>
          <a:solidFill>
            <a:srgbClr val="DAE5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952500" y="876300"/>
            <a:ext cx="126052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14C58"/>
              </a:buClr>
              <a:buSzPts val="1200"/>
              <a:buFont typeface="Nunito Sans"/>
              <a:buNone/>
            </a:pPr>
            <a:r>
              <a:rPr b="1" i="0" lang="en-US" sz="120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РЕЗУЛЬТАТИ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812800" y="1280120"/>
            <a:ext cx="10883392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400"/>
              <a:buFont typeface="Nunito Sans"/>
              <a:buNone/>
            </a:pPr>
            <a:r>
              <a:rPr b="1" i="0" lang="en-US" sz="24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Відкриті питання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3" name="Table 212"/>
          <p:cNvGraphicFramePr>
            <a:graphicFrameLocks noGrp="1"/>
          </p:cNvGraphicFramePr>
          <p:nvPr/>
        </p:nvGraphicFramePr>
        <p:xfrm>
          <a:off x="812800" y="1742380"/>
          <a:ext cx="10566400" cy="23925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330700"/>
                <a:gridCol w="6235700"/>
              </a:tblGrid>
              <a:tr h="398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32323"/>
                          </a:solidFill>
                          <a:latin typeface="Nunito Sans"/>
                        </a:rPr>
                        <a:t>Питання</a:t>
                      </a:r>
                    </a:p>
                  </a:txBody>
                  <a:tcPr marL="12700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5D6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32323"/>
                          </a:solidFill>
                          <a:latin typeface="Nunito Sans"/>
                        </a:rPr>
                        <a:t>Стан</a:t>
                      </a:r>
                    </a:p>
                  </a:txBody>
                  <a:tcPr marL="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5D6E9"/>
                    </a:solidFill>
                  </a:tcPr>
                </a:tc>
              </a:tr>
              <a:tr h="398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Nunito Sans"/>
                        </a:rPr>
                        <a:t>Дефект реле при увімкненні</a:t>
                      </a:r>
                    </a:p>
                  </a:txBody>
                  <a:tcPr marL="12700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14C58"/>
                          </a:solidFill>
                          <a:latin typeface="Nunito Sans"/>
                        </a:rPr>
                        <a:t>Прошивку виправлено. Апаратно: </a:t>
                      </a:r>
                      <a:r>
                        <a:rPr sz="1100" b="1">
                          <a:solidFill>
                            <a:srgbClr val="232323"/>
                          </a:solidFill>
                          <a:latin typeface="Nunito Sans"/>
                        </a:rPr>
                        <a:t>TODO</a:t>
                      </a:r>
                    </a:p>
                  </a:txBody>
                  <a:tcPr marL="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8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Nunito Sans"/>
                        </a:rPr>
                        <a:t>Немає годинника реального часу; t_wall_iso порожнє</a:t>
                      </a:r>
                    </a:p>
                  </a:txBody>
                  <a:tcPr marL="12700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14C58"/>
                          </a:solidFill>
                          <a:latin typeface="Nunito Sans"/>
                        </a:rPr>
                        <a:t>Час вирівнюється офлайн за записом BOOT</a:t>
                      </a:r>
                    </a:p>
                  </a:txBody>
                  <a:tcPr marL="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</a:tr>
              <a:tr h="398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Nunito Sans"/>
                        </a:rPr>
                        <a:t>Немає глибокого сну; режим очікування — PARKED</a:t>
                      </a:r>
                    </a:p>
                  </a:txBody>
                  <a:tcPr marL="12700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14C58"/>
                          </a:solidFill>
                          <a:latin typeface="Nunito Sans"/>
                        </a:rPr>
                        <a:t>ESP32-S3 не може утримувати сервоприводи через PWM у режимі сну</a:t>
                      </a:r>
                    </a:p>
                  </a:txBody>
                  <a:tcPr marL="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8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Nunito Sans"/>
                        </a:rPr>
                        <a:t>Лише один канал зв'язку (UART)</a:t>
                      </a:r>
                    </a:p>
                  </a:txBody>
                  <a:tcPr marL="12700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14C58"/>
                          </a:solidFill>
                          <a:latin typeface="Nunito Sans"/>
                        </a:rPr>
                        <a:t>Бездротовий зв'язок — наступний етап</a:t>
                      </a:r>
                    </a:p>
                  </a:txBody>
                  <a:tcPr marL="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CE7E2"/>
                    </a:solidFill>
                  </a:tcPr>
                </a:tc>
              </a:tr>
              <a:tr h="398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  <a:latin typeface="Nunito Sans"/>
                        </a:rPr>
                        <a:t>Детектор: лише поріг + форма</a:t>
                      </a:r>
                    </a:p>
                  </a:txBody>
                  <a:tcPr marL="12700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32323"/>
                          </a:solidFill>
                          <a:latin typeface="Nunito Sans"/>
                        </a:rPr>
                        <a:t>TODO: що не працює</a:t>
                      </a:r>
                    </a:p>
                  </a:txBody>
                  <a:tcPr marL="0" marR="91440" marT="0" marB="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4" name="TextBox 213"/>
          <p:cNvSpPr txBox="1"/>
          <p:nvPr/>
        </p:nvSpPr>
        <p:spPr>
          <a:xfrm>
            <a:off x="812800" y="6250000"/>
            <a:ext cx="10566400" cy="22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i="1" u="sng">
                <a:solidFill>
                  <a:srgbClr val="2A5C8F"/>
                </a:solidFill>
                <a:latin typeface="Nunito Sans"/>
                <a:hlinkClick r:id="rId3"/>
              </a:rPr>
              <a:t>firmware/aim/src/parts/Laser.hpp</a:t>
            </a:r>
            <a:r>
              <a:rPr sz="800" i="1">
                <a:solidFill>
                  <a:srgbClr val="6B6F76"/>
                </a:solidFill>
                <a:latin typeface="Nunito Sans"/>
              </a:rPr>
              <a:t> · </a:t>
            </a:r>
            <a:r>
              <a:rPr sz="800" i="1" u="sng">
                <a:solidFill>
                  <a:srgbClr val="2A5C8F"/>
                </a:solidFill>
                <a:latin typeface="Nunito Sans"/>
                <a:hlinkClick r:id="rId4"/>
              </a:rPr>
              <a:t>firmware/aim/src/StateMachine.hpp</a:t>
            </a:r>
            <a:r>
              <a:rPr sz="800" i="1">
                <a:solidFill>
                  <a:srgbClr val="6B6F76"/>
                </a:solidFill>
                <a:latin typeface="Nunito Sans"/>
              </a:rPr>
              <a:t> · </a:t>
            </a:r>
            <a:r>
              <a:rPr sz="800" i="1" u="sng">
                <a:solidFill>
                  <a:srgbClr val="2A5C8F"/>
                </a:solidFill>
                <a:latin typeface="Nunito Sans"/>
                <a:hlinkClick r:id="rId5"/>
              </a:rPr>
              <a:t>eye/camera/tracker.py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5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"/>
          <p:cNvSpPr/>
          <p:nvPr/>
        </p:nvSpPr>
        <p:spPr>
          <a:xfrm>
            <a:off x="812800" y="812800"/>
            <a:ext cx="1466499" cy="340320"/>
          </a:xfrm>
          <a:prstGeom prst="roundRect">
            <a:avLst>
              <a:gd fmla="val 37318" name="adj"/>
            </a:avLst>
          </a:prstGeom>
          <a:solidFill>
            <a:srgbClr val="DAE5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"/>
          <p:cNvSpPr/>
          <p:nvPr/>
        </p:nvSpPr>
        <p:spPr>
          <a:xfrm>
            <a:off x="952500" y="876300"/>
            <a:ext cx="126052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14C58"/>
              </a:buClr>
              <a:buSzPts val="1200"/>
              <a:buFont typeface="Nunito Sans"/>
              <a:buNone/>
            </a:pPr>
            <a:r>
              <a:rPr b="1" i="0" lang="en-US" sz="120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РЕЗУЛЬТАТИ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812800" y="1280120"/>
            <a:ext cx="10883392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400"/>
              <a:buFont typeface="Nunito Sans"/>
              <a:buNone/>
            </a:pPr>
            <a:r>
              <a:rPr b="1" i="0" lang="en-US" sz="24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Результати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812800" y="1793180"/>
            <a:ext cx="3420566" cy="1016000"/>
          </a:xfrm>
          <a:prstGeom prst="roundRect">
            <a:avLst>
              <a:gd fmla="val 10000" name="adj"/>
            </a:avLst>
          </a:prstGeom>
          <a:solidFill>
            <a:srgbClr val="ECE7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"/>
          <p:cNvSpPr/>
          <p:nvPr/>
        </p:nvSpPr>
        <p:spPr>
          <a:xfrm>
            <a:off x="990600" y="1970980"/>
            <a:ext cx="635198" cy="297160"/>
          </a:xfrm>
          <a:prstGeom prst="roundRect">
            <a:avLst>
              <a:gd fmla="val 34190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3"/>
          <p:cNvSpPr/>
          <p:nvPr/>
        </p:nvSpPr>
        <p:spPr>
          <a:xfrm>
            <a:off x="1104900" y="2021780"/>
            <a:ext cx="457398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Nunito Sans"/>
              <a:buNone/>
            </a:pPr>
            <a:r>
              <a:rPr b="1" i="0" lang="en-US" sz="11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TODO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990600" y="2331641"/>
            <a:ext cx="3156915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14C58"/>
              </a:buClr>
              <a:buSzPts val="1000"/>
              <a:buFont typeface="Nunito Sans"/>
              <a:buNone/>
            </a:pPr>
            <a:r>
              <a:rPr b="0" i="0" lang="en-US" sz="100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Похибка відстеження (px), усталена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812800" y="2961580"/>
            <a:ext cx="3420467" cy="894060"/>
          </a:xfrm>
          <a:prstGeom prst="roundRect">
            <a:avLst>
              <a:gd fmla="val 11364" name="adj"/>
            </a:avLst>
          </a:prstGeom>
          <a:solidFill>
            <a:srgbClr val="ECE7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"/>
          <p:cNvSpPr/>
          <p:nvPr/>
        </p:nvSpPr>
        <p:spPr>
          <a:xfrm>
            <a:off x="990600" y="3139380"/>
            <a:ext cx="635198" cy="297160"/>
          </a:xfrm>
          <a:prstGeom prst="roundRect">
            <a:avLst>
              <a:gd fmla="val 34190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3"/>
          <p:cNvSpPr/>
          <p:nvPr/>
        </p:nvSpPr>
        <p:spPr>
          <a:xfrm>
            <a:off x="1104900" y="3190180"/>
            <a:ext cx="457398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Nunito Sans"/>
              <a:buNone/>
            </a:pPr>
            <a:r>
              <a:rPr b="1" i="0" lang="en-US" sz="11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80–1160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990600" y="3500041"/>
            <a:ext cx="3156813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14C58"/>
              </a:buClr>
              <a:buSzPts val="1000"/>
              <a:buFont typeface="Nunito Sans"/>
              <a:buNone/>
            </a:pPr>
            <a:r>
              <a:rPr b="0" i="0" lang="en-US" sz="100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Час встановлення (мс)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4385667" y="2961580"/>
            <a:ext cx="3420566" cy="894060"/>
          </a:xfrm>
          <a:prstGeom prst="roundRect">
            <a:avLst>
              <a:gd fmla="val 11364" name="adj"/>
            </a:avLst>
          </a:prstGeom>
          <a:solidFill>
            <a:srgbClr val="ECE7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"/>
          <p:cNvSpPr/>
          <p:nvPr/>
        </p:nvSpPr>
        <p:spPr>
          <a:xfrm>
            <a:off x="4563467" y="3139380"/>
            <a:ext cx="635198" cy="297160"/>
          </a:xfrm>
          <a:prstGeom prst="roundRect">
            <a:avLst>
              <a:gd fmla="val 34190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3"/>
          <p:cNvSpPr/>
          <p:nvPr/>
        </p:nvSpPr>
        <p:spPr>
          <a:xfrm>
            <a:off x="4677767" y="3190180"/>
            <a:ext cx="457398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Nunito Sans"/>
              <a:buNone/>
            </a:pPr>
            <a:r>
              <a:rPr b="1" i="0" lang="en-US" sz="11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27–33%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4563467" y="3500041"/>
            <a:ext cx="3156915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14C58"/>
              </a:buClr>
              <a:buSzPts val="1000"/>
              <a:buFont typeface="Nunito Sans"/>
              <a:buNone/>
            </a:pPr>
            <a:r>
              <a:rPr b="0" i="0" lang="en-US" sz="100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Овершут (tilt)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7958634" y="2961580"/>
            <a:ext cx="3420566" cy="894060"/>
          </a:xfrm>
          <a:prstGeom prst="roundRect">
            <a:avLst>
              <a:gd fmla="val 11364" name="adj"/>
            </a:avLst>
          </a:prstGeom>
          <a:solidFill>
            <a:srgbClr val="ECE7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3"/>
          <p:cNvSpPr/>
          <p:nvPr/>
        </p:nvSpPr>
        <p:spPr>
          <a:xfrm>
            <a:off x="8136434" y="3139380"/>
            <a:ext cx="635198" cy="297160"/>
          </a:xfrm>
          <a:prstGeom prst="roundRect">
            <a:avLst>
              <a:gd fmla="val 34190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"/>
          <p:cNvSpPr/>
          <p:nvPr/>
        </p:nvSpPr>
        <p:spPr>
          <a:xfrm>
            <a:off x="8250734" y="3190180"/>
            <a:ext cx="457398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Nunito Sans"/>
              <a:buNone/>
            </a:pPr>
            <a:r>
              <a:rPr b="1" i="0" lang="en-US" sz="11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~1–4%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8136434" y="3500041"/>
            <a:ext cx="3156915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14C58"/>
              </a:buClr>
              <a:buSzPts val="1000"/>
              <a:buFont typeface="Nunito Sans"/>
              <a:buNone/>
            </a:pPr>
            <a:r>
              <a:rPr b="0" i="0" lang="en-US" sz="100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Овершут (pan)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812800" y="4414441"/>
            <a:ext cx="5207000" cy="524470"/>
          </a:xfrm>
          <a:prstGeom prst="roundRect">
            <a:avLst>
              <a:gd fmla="val 19372" name="adj"/>
            </a:avLst>
          </a:prstGeom>
          <a:solidFill>
            <a:srgbClr val="ECE7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952500" y="4578846"/>
            <a:ext cx="1133078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Nunito Sans"/>
              <a:buNone/>
            </a:pPr>
            <a:r>
              <a:rPr b="1" i="0" lang="en-US" sz="11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Відео + QR-код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2123678" y="4554141"/>
            <a:ext cx="554335" cy="245070"/>
          </a:xfrm>
          <a:prstGeom prst="roundRect">
            <a:avLst>
              <a:gd fmla="val 36275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2225278" y="4592241"/>
            <a:ext cx="401935" cy="1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0"/>
              <a:buFont typeface="Nunito Sans"/>
              <a:buNone/>
            </a:pPr>
            <a:r>
              <a:rPr b="1" i="0" lang="en-US" sz="9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TODO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6172200" y="4414441"/>
            <a:ext cx="5207000" cy="524470"/>
          </a:xfrm>
          <a:prstGeom prst="roundRect">
            <a:avLst>
              <a:gd fmla="val 19372" name="adj"/>
            </a:avLst>
          </a:prstGeom>
          <a:solidFill>
            <a:srgbClr val="ECE7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6311900" y="4578846"/>
            <a:ext cx="2843074" cy="2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Nunito Sans"/>
              <a:buNone/>
            </a:pPr>
            <a:r>
              <a:rPr b="1" i="0" lang="en-US" sz="11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Графіки похибки за режимом і PID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9161066" y="4554141"/>
            <a:ext cx="554335" cy="245070"/>
          </a:xfrm>
          <a:prstGeom prst="roundRect">
            <a:avLst>
              <a:gd fmla="val 36275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9262666" y="4592241"/>
            <a:ext cx="401935" cy="1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0"/>
              <a:buFont typeface="Nunito Sans"/>
              <a:buNone/>
            </a:pPr>
            <a:r>
              <a:rPr b="1" i="0" lang="en-US" sz="9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TextBox 266"/>
          <p:cNvSpPr txBox="1"/>
          <p:nvPr/>
        </p:nvSpPr>
        <p:spPr>
          <a:xfrm>
            <a:off x="812800" y="6250000"/>
            <a:ext cx="10566400" cy="22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i="1" u="sng">
                <a:solidFill>
                  <a:srgbClr val="2A5C8F"/>
                </a:solidFill>
                <a:latin typeface="Nunito Sans"/>
                <a:hlinkClick r:id="rId3"/>
              </a:rPr>
              <a:t>docs/assestment/verification/README.md</a:t>
            </a:r>
            <a:r>
              <a:rPr sz="800" i="1">
                <a:solidFill>
                  <a:srgbClr val="6B6F76"/>
                </a:solidFill>
                <a:latin typeface="Nunito Sans"/>
              </a:rPr>
              <a:t> · </a:t>
            </a:r>
            <a:r>
              <a:rPr sz="800" i="1" u="sng">
                <a:solidFill>
                  <a:srgbClr val="2A5C8F"/>
                </a:solidFill>
                <a:latin typeface="Nunito Sans"/>
                <a:hlinkClick r:id="rId4"/>
              </a:rPr>
              <a:t>eye/camera/error_graph.py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5"/>
        </a:solidFill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;p14"/>
          <p:cNvSpPr/>
          <p:nvPr/>
        </p:nvSpPr>
        <p:spPr>
          <a:xfrm>
            <a:off x="812800" y="812800"/>
            <a:ext cx="1710000" cy="340320"/>
          </a:xfrm>
          <a:prstGeom prst="roundRect">
            <a:avLst>
              <a:gd fmla="val 37318" name="adj"/>
            </a:avLst>
          </a:prstGeom>
          <a:solidFill>
            <a:srgbClr val="DAE5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" name="Google Shape;3;p14"/>
          <p:cNvSpPr/>
          <p:nvPr/>
        </p:nvSpPr>
        <p:spPr>
          <a:xfrm>
            <a:off x="952500" y="876300"/>
            <a:ext cx="15200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14C58"/>
              </a:buClr>
              <a:buSzPts val="1200"/>
              <a:buFont typeface="Nunito Sans"/>
              <a:buNone/>
            </a:pPr>
            <a:r>
              <a:rPr b="1" i="0" lang="en-US" sz="120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ДЕМОНСТРАЦІЯ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4;p14"/>
          <p:cNvSpPr/>
          <p:nvPr/>
        </p:nvSpPr>
        <p:spPr>
          <a:xfrm>
            <a:off x="812800" y="1280120"/>
            <a:ext cx="10883392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400"/>
              <a:buFont typeface="Nunito Sans"/>
              <a:buNone/>
            </a:pPr>
            <a:r>
              <a:rPr b="1" i="0" lang="en-US" sz="24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Демонстрація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Стенд AIM на макетній платі" descr="Гімбал ESP32-S3 на макетній платі з лазером і проводкою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793180"/>
            <a:ext cx="6254490" cy="4306820"/>
          </a:xfrm>
          <a:prstGeom prst="roundRect">
            <a:avLst>
              <a:gd fmla="val 5000" name="adj"/>
            </a:avLst>
          </a:prstGeom>
          <a:ln w="12700">
            <a:solidFill>
              <a:srgbClr val="FFFFFF"/>
            </a:solidFill>
          </a:ln>
          <a:effectLst>
            <a:outerShdw blurRad="90000" dist="30000" dir="5400000" rotWithShape="0">
              <a:srgbClr val="232323">
                <a:alpha val="28000"/>
              </a:srgbClr>
            </a:outerShdw>
          </a:effectLst>
        </p:spPr>
      </p:pic>
      <p:pic>
        <p:nvPicPr>
          <p:cNvPr id="6" name="Знімок eye-app: авто-наведення" descr="Знімок екрана застосунку eye-app з панеллю телеметрії та PID-налаштувань під час авто-наведенн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780" y="1793180"/>
            <a:ext cx="3408931" cy="2023410"/>
          </a:xfrm>
          <a:prstGeom prst="roundRect">
            <a:avLst>
              <a:gd fmla="val 5000" name="adj"/>
            </a:avLst>
          </a:prstGeom>
          <a:ln w="12700">
            <a:solidFill>
              <a:srgbClr val="FFFFFF"/>
            </a:solidFill>
          </a:ln>
          <a:effectLst>
            <a:outerShdw blurRad="90000" dist="30000" dir="5400000" rotWithShape="0">
              <a:srgbClr val="232323">
                <a:alpha val="28000"/>
              </a:srgbClr>
            </a:outerShdw>
          </a:effectLst>
        </p:spPr>
      </p:pic>
      <p:pic>
        <p:nvPicPr>
          <p:cNvPr id="7" name="Знімок eye-app: графік похибки" descr="Знімок екрана застосунку eye-app з debug-панеллю та графіком похибки наведення в часі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638" y="4076590"/>
            <a:ext cx="3417213" cy="2023410"/>
          </a:xfrm>
          <a:prstGeom prst="roundRect">
            <a:avLst>
              <a:gd fmla="val 5000" name="adj"/>
            </a:avLst>
          </a:prstGeom>
          <a:ln w="12700">
            <a:solidFill>
              <a:srgbClr val="FFFFFF"/>
            </a:solidFill>
          </a:ln>
          <a:effectLst>
            <a:outerShdw blurRad="90000" dist="30000" dir="5400000" rotWithShape="0">
              <a:srgbClr val="232323">
                <a:alpha val="28000"/>
              </a:srgbClr>
            </a:outerShdw>
          </a:effectLst>
        </p:spPr>
      </p:pic>
      <p:sp>
        <p:nvSpPr>
          <p:cNvPr id="8" name="TextBox 8"/>
          <p:cNvSpPr txBox="1"/>
          <p:nvPr/>
        </p:nvSpPr>
        <p:spPr>
          <a:xfrm>
            <a:off x="812800" y="6250000"/>
            <a:ext cx="10566400" cy="22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i="1" u="sng">
                <a:solidFill>
                  <a:srgbClr val="2A5C8F"/>
                </a:solidFill>
                <a:latin typeface="Nunito Sans"/>
                <a:hlinkClick r:id="rId5"/>
              </a:rPr>
              <a:t>images/</a:t>
            </a:r>
            <a:r>
              <a:rPr sz="800" i="1">
                <a:solidFill>
                  <a:srgbClr val="6B6F76"/>
                </a:solidFill>
                <a:latin typeface="Nunito Sans"/>
              </a:rPr>
              <a:t> · стенд AIM (ESP32-S3) та eye-app під час наведення на ціль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5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"/>
          <p:cNvSpPr/>
          <p:nvPr/>
        </p:nvSpPr>
        <p:spPr>
          <a:xfrm>
            <a:off x="812800" y="812800"/>
            <a:ext cx="1054359" cy="340320"/>
          </a:xfrm>
          <a:prstGeom prst="roundRect">
            <a:avLst>
              <a:gd fmla="val 37318" name="adj"/>
            </a:avLst>
          </a:prstGeom>
          <a:solidFill>
            <a:srgbClr val="DAE5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4"/>
          <p:cNvSpPr/>
          <p:nvPr/>
        </p:nvSpPr>
        <p:spPr>
          <a:xfrm>
            <a:off x="952500" y="876300"/>
            <a:ext cx="83394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14C58"/>
              </a:buClr>
              <a:buSzPts val="1200"/>
              <a:buFont typeface="Nunito Sans"/>
              <a:buNone/>
            </a:pPr>
            <a:r>
              <a:rPr b="1" i="0" lang="en-US" sz="120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ЩО ДАЛІ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812800" y="1280120"/>
            <a:ext cx="10883392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600"/>
              <a:buFont typeface="Nunito Sans"/>
              <a:buNone/>
            </a:pPr>
            <a:r>
              <a:rPr b="1" i="0" lang="en-US" sz="24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Що далі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812800" y="2024246"/>
            <a:ext cx="5083200" cy="2431800"/>
          </a:xfrm>
          <a:prstGeom prst="roundRect">
            <a:avLst>
              <a:gd fmla="val 7113" name="adj"/>
            </a:avLst>
          </a:prstGeom>
          <a:solidFill>
            <a:srgbClr val="ECE7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4"/>
          <p:cNvSpPr/>
          <p:nvPr/>
        </p:nvSpPr>
        <p:spPr>
          <a:xfrm>
            <a:off x="1041400" y="2252861"/>
            <a:ext cx="406400" cy="406400"/>
          </a:xfrm>
          <a:prstGeom prst="roundRect">
            <a:avLst>
              <a:gd fmla="val 50000" name="adj"/>
            </a:avLst>
          </a:prstGeom>
          <a:solidFill>
            <a:srgbClr val="C5D6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4"/>
          <p:cNvSpPr/>
          <p:nvPr/>
        </p:nvSpPr>
        <p:spPr>
          <a:xfrm>
            <a:off x="1187450" y="2322711"/>
            <a:ext cx="1651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00"/>
              <a:buFont typeface="Nunito Sans"/>
              <a:buNone/>
            </a:pPr>
            <a:r>
              <a:rPr b="1" i="0" lang="en-US" sz="15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1041400" y="2773561"/>
            <a:ext cx="46260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00"/>
              <a:buFont typeface="Nunito Sans"/>
              <a:buNone/>
            </a:pPr>
            <a:r>
              <a:rPr b="1" i="0" lang="en-US" sz="15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Наступне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6296000" y="2024246"/>
            <a:ext cx="5083200" cy="2431800"/>
          </a:xfrm>
          <a:prstGeom prst="roundRect">
            <a:avLst>
              <a:gd fmla="val 7113" name="adj"/>
            </a:avLst>
          </a:prstGeom>
          <a:solidFill>
            <a:srgbClr val="ECE7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"/>
          <p:cNvSpPr/>
          <p:nvPr/>
        </p:nvSpPr>
        <p:spPr>
          <a:xfrm>
            <a:off x="6524600" y="2252861"/>
            <a:ext cx="406400" cy="406400"/>
          </a:xfrm>
          <a:prstGeom prst="roundRect">
            <a:avLst>
              <a:gd fmla="val 50000" name="adj"/>
            </a:avLst>
          </a:prstGeom>
          <a:solidFill>
            <a:srgbClr val="C5D6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"/>
          <p:cNvSpPr/>
          <p:nvPr/>
        </p:nvSpPr>
        <p:spPr>
          <a:xfrm>
            <a:off x="6670650" y="2322711"/>
            <a:ext cx="1651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00"/>
              <a:buFont typeface="Nunito Sans"/>
              <a:buNone/>
            </a:pPr>
            <a:r>
              <a:rPr b="1" i="0" lang="en-US" sz="15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6524600" y="2773561"/>
            <a:ext cx="46260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00"/>
              <a:buFont typeface="Nunito Sans"/>
              <a:buNone/>
            </a:pPr>
            <a:r>
              <a:rPr b="1" i="0" lang="en-US" sz="15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Пізніше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 txBox="1"/>
          <p:nvPr/>
        </p:nvSpPr>
        <p:spPr>
          <a:xfrm>
            <a:off x="6524600" y="3154561"/>
            <a:ext cx="4626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→"/>
            </a:pPr>
            <a:r>
              <a:rPr lang="en-US" sz="1200" b="1">
                <a:solidFill>
                  <a:srgbClr val="414C58"/>
                </a:solidFill>
                <a:latin typeface="Nunito Sans"/>
              </a:rPr>
              <a:t>YOLO</a:t>
            </a:r>
            <a:r>
              <a:rPr lang="en-US" sz="1200" b="0">
                <a:solidFill>
                  <a:srgbClr val="414C58"/>
                </a:solidFill>
                <a:latin typeface="Nunito Sans"/>
              </a:rPr>
              <a:t>-детекція просто на камері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→"/>
            </a:pPr>
            <a:r>
              <a:rPr lang="en-US" sz="1200" b="1">
                <a:solidFill>
                  <a:srgbClr val="414C58"/>
                </a:solidFill>
                <a:latin typeface="Nunito Sans"/>
              </a:rPr>
              <a:t>NRF24L01+</a:t>
            </a:r>
            <a:r>
              <a:rPr lang="en-US" sz="1200" b="0">
                <a:solidFill>
                  <a:srgbClr val="414C58"/>
                </a:solidFill>
                <a:latin typeface="Nunito Sans"/>
              </a:rPr>
              <a:t> як альтернативний канал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→"/>
            </a:pPr>
            <a:r>
              <a:rPr lang="en-US" sz="1200" b="0">
                <a:solidFill>
                  <a:srgbClr val="414C58"/>
                </a:solidFill>
                <a:latin typeface="Nunito Sans"/>
              </a:rPr>
              <a:t>Feed-forward за швидкістю цілі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→"/>
            </a:pPr>
            <a:r>
              <a:rPr lang="en-US" sz="1200" b="0">
                <a:solidFill>
                  <a:srgbClr val="414C58"/>
                </a:solidFill>
                <a:latin typeface="Nunito Sans"/>
              </a:rPr>
              <a:t>OLED-меню на пульті PILOT</a:t>
            </a:r>
            <a:endParaRPr/>
          </a:p>
        </p:txBody>
      </p:sp>
      <p:sp>
        <p:nvSpPr>
          <p:cNvPr id="290" name="Google Shape;290;p14"/>
          <p:cNvSpPr txBox="1"/>
          <p:nvPr/>
        </p:nvSpPr>
        <p:spPr>
          <a:xfrm>
            <a:off x="1041400" y="3154561"/>
            <a:ext cx="4626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→"/>
            </a:pPr>
            <a:r>
              <a:rPr lang="en-US" sz="1200" b="0">
                <a:solidFill>
                  <a:srgbClr val="414C58"/>
                </a:solidFill>
                <a:latin typeface="Nunito Sans"/>
              </a:rPr>
              <a:t>PILOT (ESP32-C3): джойстик, дистанційний E-stop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→"/>
            </a:pPr>
            <a:r>
              <a:rPr lang="en-US" sz="1200" b="0">
                <a:solidFill>
                  <a:srgbClr val="414C58"/>
                </a:solidFill>
                <a:latin typeface="Nunito Sans"/>
              </a:rPr>
              <a:t>MQTT конфіг-план і WiFi-телеметрія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→"/>
            </a:pPr>
            <a:r>
              <a:rPr lang="en-US" sz="1200" b="0">
                <a:solidFill>
                  <a:srgbClr val="414C58"/>
                </a:solidFill>
                <a:latin typeface="Nunito Sans"/>
              </a:rPr>
              <a:t>VAULT (STM32): окремий вузол зберігання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→"/>
            </a:pPr>
            <a:r>
              <a:rPr lang="en-US" sz="1200" b="0">
                <a:solidFill>
                  <a:srgbClr val="414C58"/>
                </a:solidFill>
                <a:latin typeface="Nunito Sans"/>
              </a:rPr>
              <a:t>Лазер на MOSFET з ШІМ-яскравістю</a:t>
            </a:r>
            <a:endParaRPr/>
          </a:p>
        </p:txBody>
      </p:sp>
      <p:sp>
        <p:nvSpPr>
          <p:cNvPr id="291" name="TextBox 290"/>
          <p:cNvSpPr txBox="1"/>
          <p:nvPr/>
        </p:nvSpPr>
        <p:spPr>
          <a:xfrm>
            <a:off x="812800" y="6250000"/>
            <a:ext cx="10566400" cy="22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i="1" u="sng">
                <a:solidFill>
                  <a:srgbClr val="2A5C8F"/>
                </a:solidFill>
                <a:latin typeface="Nunito Sans"/>
                <a:hlinkClick r:id="rId3"/>
              </a:rPr>
              <a:t>README.md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5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tag;bg"/>
          <p:cNvSpPr/>
          <p:nvPr/>
        </p:nvSpPr>
        <p:spPr>
          <a:xfrm>
            <a:off x="812800" y="812800"/>
            <a:ext cx="1466499" cy="340320"/>
          </a:xfrm>
          <a:prstGeom prst="roundRect">
            <a:avLst>
              <a:gd fmla="val 37318" name="adj"/>
            </a:avLst>
          </a:prstGeom>
          <a:solidFill>
            <a:srgbClr val="DAE5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tag;txt"/>
          <p:cNvSpPr/>
          <p:nvPr/>
        </p:nvSpPr>
        <p:spPr>
          <a:xfrm>
            <a:off x="952500" y="876300"/>
            <a:ext cx="126052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РЕЗУЛЬТАТИ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title"/>
          <p:cNvSpPr/>
          <p:nvPr/>
        </p:nvSpPr>
        <p:spPr>
          <a:xfrm>
            <a:off x="812800" y="1280120"/>
            <a:ext cx="10883392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Графіки похибки: режим і PID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cell-title-303"/>
          <p:cNvSpPr/>
          <p:nvPr/>
        </p:nvSpPr>
        <p:spPr>
          <a:xfrm>
            <a:off x="1949900" y="1793180"/>
            <a:ext cx="2577400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VELOCITYEQUATION · P1/I10/D0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cell-img-3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900" y="2018180"/>
            <a:ext cx="2577400" cy="1521400"/>
          </a:xfrm>
          <a:prstGeom prst="roundRect">
            <a:avLst>
              <a:gd fmla="val 4000" name="adj"/>
            </a:avLst>
          </a:prstGeom>
          <a:ln w="12700">
            <a:solidFill>
              <a:srgbClr val="FFFFFF"/>
            </a:solidFill>
          </a:ln>
          <a:effectLst>
            <a:outerShdw blurRad="60000" dist="20000" dir="5400000" rotWithShape="0">
              <a:srgbClr val="232323">
                <a:alpha val="22000"/>
              </a:srgbClr>
            </a:outerShdw>
          </a:effectLst>
        </p:spPr>
      </p:pic>
      <p:sp>
        <p:nvSpPr>
          <p:cNvPr id="305" name="Google Shape;cell-metrics-305"/>
          <p:cNvSpPr/>
          <p:nvPr/>
        </p:nvSpPr>
        <p:spPr>
          <a:xfrm>
            <a:off x="1949900" y="3574580"/>
            <a:ext cx="257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pan: 745 мс, без овершуту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tilt: 1160 мс, овершут ~27%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cell-title-306"/>
          <p:cNvSpPr/>
          <p:nvPr/>
        </p:nvSpPr>
        <p:spPr>
          <a:xfrm>
            <a:off x="4807300" y="1793180"/>
            <a:ext cx="2577400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VELOCITYEQUATION · P1/I50/D0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cell-img-30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300" y="2018180"/>
            <a:ext cx="2577400" cy="1521400"/>
          </a:xfrm>
          <a:prstGeom prst="roundRect">
            <a:avLst>
              <a:gd fmla="val 4000" name="adj"/>
            </a:avLst>
          </a:prstGeom>
          <a:ln w="12700">
            <a:solidFill>
              <a:srgbClr val="FFFFFF"/>
            </a:solidFill>
          </a:ln>
          <a:effectLst>
            <a:outerShdw blurRad="60000" dist="20000" dir="5400000" rotWithShape="0">
              <a:srgbClr val="232323">
                <a:alpha val="22000"/>
              </a:srgbClr>
            </a:outerShdw>
          </a:effectLst>
        </p:spPr>
      </p:pic>
      <p:sp>
        <p:nvSpPr>
          <p:cNvPr id="308" name="Google Shape;cell-metrics-308"/>
          <p:cNvSpPr/>
          <p:nvPr/>
        </p:nvSpPr>
        <p:spPr>
          <a:xfrm>
            <a:off x="4807300" y="3574580"/>
            <a:ext cx="257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pan: 169 мс, без овершуту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tilt: 335 мс, овершут ~32%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cell-title-309"/>
          <p:cNvSpPr/>
          <p:nvPr/>
        </p:nvSpPr>
        <p:spPr>
          <a:xfrm>
            <a:off x="7664700" y="1793180"/>
            <a:ext cx="2577400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VELOCITYEQUATION · P1/I100/D0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0" name="Google Shape;cell-img-3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700" y="2018180"/>
            <a:ext cx="2577400" cy="1521400"/>
          </a:xfrm>
          <a:prstGeom prst="roundRect">
            <a:avLst>
              <a:gd fmla="val 4000" name="adj"/>
            </a:avLst>
          </a:prstGeom>
          <a:ln w="12700">
            <a:solidFill>
              <a:srgbClr val="FFFFFF"/>
            </a:solidFill>
          </a:ln>
          <a:effectLst>
            <a:outerShdw blurRad="60000" dist="20000" dir="5400000" rotWithShape="0">
              <a:srgbClr val="232323">
                <a:alpha val="22000"/>
              </a:srgbClr>
            </a:outerShdw>
          </a:effectLst>
        </p:spPr>
      </p:pic>
      <p:sp>
        <p:nvSpPr>
          <p:cNvPr id="311" name="Google Shape;cell-metrics-311"/>
          <p:cNvSpPr/>
          <p:nvPr/>
        </p:nvSpPr>
        <p:spPr>
          <a:xfrm>
            <a:off x="7664700" y="3574580"/>
            <a:ext cx="257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pan: 81 мс, без овершуту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tilt: 146 мс, овершут ~33%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cell-title-312"/>
          <p:cNvSpPr/>
          <p:nvPr/>
        </p:nvSpPr>
        <p:spPr>
          <a:xfrm>
            <a:off x="1949900" y="4094580"/>
            <a:ext cx="2577400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POSITIONAL · pan P40/I2 · tilt P35/I2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3" name="Google Shape;cell-img-3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9900" y="4319580"/>
            <a:ext cx="2577400" cy="1521400"/>
          </a:xfrm>
          <a:prstGeom prst="roundRect">
            <a:avLst>
              <a:gd fmla="val 4000" name="adj"/>
            </a:avLst>
          </a:prstGeom>
          <a:ln w="12700">
            <a:solidFill>
              <a:srgbClr val="FFFFFF"/>
            </a:solidFill>
          </a:ln>
          <a:effectLst>
            <a:outerShdw blurRad="60000" dist="20000" dir="5400000" rotWithShape="0">
              <a:srgbClr val="232323">
                <a:alpha val="22000"/>
              </a:srgbClr>
            </a:outerShdw>
          </a:effectLst>
        </p:spPr>
      </p:pic>
      <p:sp>
        <p:nvSpPr>
          <p:cNvPr id="314" name="Google Shape;cell-metrics-314"/>
          <p:cNvSpPr/>
          <p:nvPr/>
        </p:nvSpPr>
        <p:spPr>
          <a:xfrm>
            <a:off x="1949900" y="5875980"/>
            <a:ext cx="257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pan: 171 мс, без овершуту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tilt: 592 мс, овершут ~27%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cell-title-315"/>
          <p:cNvSpPr/>
          <p:nvPr/>
        </p:nvSpPr>
        <p:spPr>
          <a:xfrm>
            <a:off x="4807300" y="4094580"/>
            <a:ext cx="2577400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POSITIONAL · pan P100/I10 · tilt P100/I9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" name="Google Shape;cell-img-3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7300" y="4319580"/>
            <a:ext cx="2577400" cy="1521400"/>
          </a:xfrm>
          <a:prstGeom prst="roundRect">
            <a:avLst>
              <a:gd fmla="val 4000" name="adj"/>
            </a:avLst>
          </a:prstGeom>
          <a:ln w="12700">
            <a:solidFill>
              <a:srgbClr val="FFFFFF"/>
            </a:solidFill>
          </a:ln>
          <a:effectLst>
            <a:outerShdw blurRad="60000" dist="20000" dir="5400000" rotWithShape="0">
              <a:srgbClr val="232323">
                <a:alpha val="22000"/>
              </a:srgbClr>
            </a:outerShdw>
          </a:effectLst>
        </p:spPr>
      </p:pic>
      <p:sp>
        <p:nvSpPr>
          <p:cNvPr id="317" name="Google Shape;cell-metrics-317"/>
          <p:cNvSpPr/>
          <p:nvPr/>
        </p:nvSpPr>
        <p:spPr>
          <a:xfrm>
            <a:off x="4807300" y="5875980"/>
            <a:ext cx="257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pan: 80 мс, без овершуту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tilt: 475 мс, овершут ~29%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insight;bg"/>
          <p:cNvSpPr/>
          <p:nvPr/>
        </p:nvSpPr>
        <p:spPr>
          <a:xfrm>
            <a:off x="7664700" y="4094580"/>
            <a:ext cx="2577400" cy="2081400"/>
          </a:xfrm>
          <a:prstGeom prst="roundRect">
            <a:avLst>
              <a:gd fmla="val 6000" name="adj"/>
            </a:avLst>
          </a:prstGeom>
          <a:solidFill>
            <a:srgbClr val="ECE7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insight;txt"/>
          <p:cNvSpPr/>
          <p:nvPr/>
        </p:nvSpPr>
        <p:spPr>
          <a:xfrm>
            <a:off x="7824700" y="4254580"/>
            <a:ext cx="2257400" cy="1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Спостереження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Канал tilt овершутить на всіх режимах і PID (~27–33%); канал pan — практично ні (~1–4%).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Найшвидше усталення: VELOCITYEQUATION P1/I100 — pan 81 мс, tilt 146 мс.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414C58"/>
                </a:solidFill>
                <a:latin typeface="Nunito Sans"/>
                <a:ea typeface="Nunito Sans"/>
                <a:cs typeface="Nunito Sans"/>
                <a:sym typeface="Nunito Sans"/>
              </a:rPr>
              <a:t>Найповільніше: VELOCITYEQUATION P1/I10 — pan 745 мс, tilt 1160 мс.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TextBox 320"/>
          <p:cNvSpPr txBox="1"/>
          <p:nvPr/>
        </p:nvSpPr>
        <p:spPr>
          <a:xfrm>
            <a:off x="812800" y="6540000"/>
            <a:ext cx="10566400" cy="22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i="1" u="sng">
                <a:solidFill>
                  <a:srgbClr val="2A5C8F"/>
                </a:solidFill>
                <a:latin typeface="Nunito Sans"/>
                <a:hlinkClick r:id="rId8"/>
              </a:rPr>
              <a:t>docs/assestment/verification/README.md</a:t>
            </a:r>
            <a:r>
              <a:rPr sz="800" i="1">
                <a:solidFill>
                  <a:srgbClr val="6B6F76"/>
                </a:solidFill>
                <a:latin typeface="Nunito Sans"/>
              </a:rPr>
              <a:t> · </a:t>
            </a:r>
            <a:r>
              <a:rPr sz="800" i="1" u="sng">
                <a:solidFill>
                  <a:srgbClr val="2A5C8F"/>
                </a:solidFill>
                <a:latin typeface="Nunito Sans"/>
                <a:hlinkClick r:id="rId9"/>
              </a:rPr>
              <a:t>eye/camera/error_graph.py</a:t>
            </a:r>
            <a:r>
              <a:rPr sz="800" i="1">
                <a:solidFill>
                  <a:srgbClr val="6B6F76"/>
                </a:solidFill>
                <a:latin typeface="Nunito Sans"/>
              </a:rPr>
              <a:t> · логи: docs/assestment/presentation/graphs-to-target-with-different-mode-and-pids/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2026-09-20T09:46:50Z</dcterms:created>
  <dc:creator>PptxGenJS</dc:creator>
</cp:coreProperties>
</file>