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embeddedFontLst>
    <p:embeddedFont>
      <p:font typeface="Nunito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DD9E85-32DA-4034-87A3-907D04770C7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8601B91-C6BE-4DBE-BD69-39CE45AE04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46A7A9-A5C4-4B24-8AC1-8121D4615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 Діаграма показує обидва авто-канали: AUTO_POSITIONAL (швидкість, що інтегрується щотику) і AUTO_VELOCITYEQUATION (приріст кута напряму) — активний лише один, деталі на наступному слайді.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267BD4-DDF2-4DDA-979E-822B84FEAA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Головна ідея: ми задаємо швидкість, а не кут, і даємо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Пастка з назвами: клас PositionalPid насправді видає швидкість (рампа/інтегратор), а клас VelocityEquationPid видає приріст кута напряму — назви класів навпаки тому, що PositionalPid зберігає позиційну форму рівняння (Kp*e + явний інтеграл), просто трактує вихід як швидкість. Обидва канали реалізовані й порівнювані (AUTO_POSITIONAL за замовчуванням, AUTO_VELOCITYEQUATION — для порівняння/точкового наведення), докладніше — docs/servo-control-strategies.md.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5DAFE3C-C139-4E2D-940C-85A506097E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AD398F-BE0D-4F42-90B6-9351041FE0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016566-4BCB-4FA1-AFFA-EC68222FDD6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Шість невеликих рішень, які вберегли нас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C257DD-91A0-4052-A4F7-C74D78DCF7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D5948C-C7F6-4534-B4EA-0540DB7813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реальні збої, з якими ми зіткнулися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BF6B05-814E-4631-9D57-AAE93CE9B8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прийшло з огляду проєкту, а не зі стенда — це режими відмов, які ми виявили, продумавши монтаж і протокол ще до того, як вони стали інцидентами на стенді.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7DC5444-81BD-442A-ADEA-D180A0B693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Ці 5 графіків — крок цілі (одноразове зміщення) на стенді для двох режимів (AUTO_POSITIONAL, AUTO_VELOCITYEQUATION) і кількох PID. Вісь X — час у мс від старту логування (не з нуля), вісь Y — похибка, нормована приблизно в межах ±1. “Час до цілі” тут — час від стрибка похибки до входу в межу ≈5% амплітуди й утримання в ній. “Овершут” — перехід через нуль у протилежний бік більший за цю межу. Дані виміряні по пікселях графіків (error_graph.py), не з сирих логів — це оцінка, а не точний вимір. Головне: канал pan не овершутить ні в одному режимі, канал tilt — овершутить завжди на ~30%; збільшення I з 10 до 100 у VELOCITYEQUATION різко скорочує час до цілі.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4DCAD3-B864-4562-9629-BE67D9422C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2ACADD-99D9-4814-B825-85114F9D16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final-project--laser-gimbal-with-camera-track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about-the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github.com/melnikvitaly/workshops/blob/main/workshop-7-final_project/docs/architecture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servo-control-strategies.md" TargetMode="External"/><Relationship Id="rId2" Type="http://schemas.openxmlformats.org/officeDocument/2006/relationships/hyperlink" Target="https://github.com/melnikvitaly/workshops/blob/main/workshop-7-final_project/docs/pid_controller_equations_positional_vs_velocity.md" TargetMode="External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<Relationship Id="rId9" Type="http://schemas.openxmlformats.org/officeDocument/2006/relationships/image" Target="../media/image2.png"/><Relationship Id="rId10" Type="http://schemas.openxmlformats.org/officeDocument/2006/relationships/image" Target="../media/image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github.com/melnikvitaly/workshops/blob/main/workshop-7-final_project/docs/diagrams/freertos-tasks.md" TargetMode="External"/><Relationship Id="rId3" Type="http://schemas.openxmlformats.org/officeDocument/2006/relationships/hyperlink" Target="https://github.com/melnikvitaly/workshops/tree/main/workshop-7-final_project/firmware/aim/src/tasks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https://github.com/melnikvitaly/workshops/blob/main/workshop-7-final_project/docs/diagrams/aim-states.md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coding.md" TargetMode="External"/><Relationship Id="rId2" Type="http://schemas.openxmlformats.org/officeDocument/2006/relationships/hyperlink" Target="https://github.com/melnikvitaly/workshops/blob/main/workshop-7-final_project/docs/interface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main.cpp" TargetMode="External"/><Relationship Id="rId2" Type="http://schemas.openxmlformats.org/officeDocument/2006/relationships/hyperlink" Target="https://github.com/melnikvitaly/workshops/blob/main/workshop-7-final_project/firmware/aim/src/tasks/Ctrl.hpp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hyperlink" Target="file:///C:/Projects/embedded/workshops/workshop-7-final_project/docs/assestment/presentation/firmware/aim/src/parts/Gimbal.hpp" TargetMode="External"/><Relationship Id="rId5" Type="http://schemas.openxmlformats.org/officeDocument/2006/relationships/hyperlink" Target="https://github.com/melnikvitaly/workshops/blob/main/workshop-7-final_project/firmware/aim/src/parts/IInputChannel.hpp" TargetMode="External"/><Relationship Id="rId6" Type="http://schemas.openxmlformats.org/officeDocument/2006/relationships/hyperlink" Target="https://github.com/melnikvitaly/workshops/blob/main/workshop-7-final_project/firmware/aim/src/tasks/Safety.hpp" TargetMode="External"/><Relationship Id="rId7" Type="http://schemas.openxmlformats.org/officeDocument/2006/relationships/hyperlink" Target="https://github.com/melnikvitaly/workshops/blob/main/workshop-7-final_project/firmware/aim/src/tasks/LinkUart.hpp" TargetMode="External"/><Relationship Id="rId8" Type="http://schemas.openxmlformats.org/officeDocument/2006/relationships/hyperlink" Target="file:///C:/Projects/embedded/workshops/workshop-7-final_project/docs/assestment/presentation/firmware/aim/src/transport/Protocol.hpp" TargetMode="External"/><Relationship Id="rId9" Type="http://schemas.openxmlformats.org/officeDocument/2006/relationships/hyperlink" Target="https://github.com/melnikvitaly/workshops/blob/main/workshop-7-final_project/firmware/aim/src/tasks/Logger.hpp" TargetMode="External"/><Relationship Id="rId10" Type="http://schemas.openxmlformats.org/officeDocument/2006/relationships/hyperlink" Target="https://github.com/melnikvitaly/workshops/blob/main/workshop-7-final_project/firmware/aim/src/parts/NoneChannel.hpp" TargetMode="External"/><Relationship Id="rId11" Type="http://schemas.openxmlformats.org/officeDocument/2006/relationships/hyperlink" Target="https://github.com/melnikvitaly/workshops/blob/main/workshop-7-final_project/firmware/aim/src/parts/ManualChannel.hpp" TargetMode="External"/><Relationship Id="rId12" Type="http://schemas.openxmlformats.org/officeDocument/2006/relationships/hyperlink" Target="https://github.com/melnikvitaly/workshops/blob/main/workshop-7-final_project/firmware/aim/src/parts/AutoPositionalChannel.hpp" TargetMode="External"/><Relationship Id="rId13" Type="http://schemas.openxmlformats.org/officeDocument/2006/relationships/hyperlink" Target="https://github.com/melnikvitaly/workshops/blob/main/workshop-7-final_project/firmware/aim/src/parts/AutoPositionalChannel.hpp" TargetMode="External"/><Relationship Id="rId14" Type="http://schemas.openxmlformats.org/officeDocument/2006/relationships/hyperlink" Target="https://github.com/melnikvitaly/workshops/blob/main/workshop-7-final_project/firmware/aim/src/parts/AutoVelocityEquationChannel.hpp" TargetMode="External"/><Relationship Id="rId15" Type="http://schemas.openxmlformats.org/officeDocument/2006/relationships/hyperlink" Target="https://github.com/melnikvitaly/workshops/blob/main/workshop-7-final_project/firmware/aim/src/parts/AutoVelocityEquationChannel.hpp" TargetMode="External"/><Relationship Id="rId16" Type="http://schemas.openxmlformats.org/officeDocument/2006/relationships/hyperlink" Target="https://github.com/melnikvitaly/workshops/blob/main/workshop-7-final_project/firmware/aim/src/utils/PositionalPid.hpp" TargetMode="External"/><Relationship Id="rId17" Type="http://schemas.openxmlformats.org/officeDocument/2006/relationships/hyperlink" Target="https://github.com/melnikvitaly/workshops/blob/main/workshop-7-final_project/firmware/aim/src/utils/VelocityEquationPid.hpp" TargetMode="External"/><Relationship Id="rId18" Type="http://schemas.openxmlformats.org/officeDocument/2006/relationships/hyperlink" Target="https://github.com/melnikvitaly/workshops/blob/main/workshop-7-final_project/eye/camera/tracker.py" TargetMode="External"/><Relationship Id="rId19" Type="http://schemas.openxmlformats.org/officeDocument/2006/relationships/hyperlink" Target="file:///C:/Projects/embedded/workshops/workshop-7-final_project/docs/assestment/presentation/eye/camera/dots.py" TargetMode="External"/><Relationship Id="rId20" Type="http://schemas.openxmlformats.org/officeDocument/2006/relationships/hyperlink" Target="file:///C:/Projects/embedded/workshops/workshop-7-final_project/docs/assestment/presentation/eye/camera/serial_link.py" TargetMode="External"/><Relationship Id="rId21" Type="http://schemas.openxmlformats.org/officeDocument/2006/relationships/hyperlink" Target="https://github.com/melnikvitaly/workshops/blob/main/workshop-7-final_project/eye/camera/dots.py" TargetMode="External"/><Relationship Id="rId22" Type="http://schemas.openxmlformats.org/officeDocument/2006/relationships/hyperlink" Target="https://github.com/melnikvitaly/workshops/blob/main/workshop-7-final_project/eye/camera/serial_link.py" TargetMode="External"/><Relationship Id="rId23" Type="http://schemas.openxmlformats.org/officeDocument/2006/relationships/hyperlink" Target="file:///C:/Projects/embedded/workshops/workshop-7-final_project/docs/assestment/presentation/firmware/aim/src/transport/Protocol.hpp" TargetMode="External"/><Relationship Id="rId24" Type="http://schemas.openxmlformats.org/officeDocument/2006/relationships/hyperlink" Target="https://github.com/melnikvitaly/workshops/blob/main/workshop-7-final_project/eye/camera/recenter.py" TargetMode="External"/><Relationship Id="rId25" Type="http://schemas.openxmlformats.org/officeDocument/2006/relationships/hyperlink" Target="file:///C:/Projects/embedded/workshops/workshop-7-final_project/docs/assestment/presentation/eye/camera/tracker.py" TargetMode="External"/><Relationship Id="rId26" Type="http://schemas.openxmlformats.org/officeDocument/2006/relationships/hyperlink" Target="https://github.com/melnikvitaly/workshops/blob/main/workshop-7-final_project/eye/camera/controls.py" TargetMode="External"/><Relationship Id="rId27" Type="http://schemas.openxmlformats.org/officeDocument/2006/relationships/hyperlink" Target="https://github.com/melnikvitaly/workshops/blob/main/workshop-7-final_project/eye/camera/app_window.py" TargetMode="External"/><Relationship Id="rId28" Type="http://schemas.openxmlformats.org/officeDocument/2006/relationships/hyperlink" Target="https://github.com/melnikvitaly/workshops/tree/main/workshop-7-final_project/firmware/aim/src/" TargetMode="External"/><Relationship Id="rId29" Type="http://schemas.openxmlformats.org/officeDocument/2006/relationships/hyperlink" Target="https://github.com/melnikvitaly/workshops/tree/main/workshop-7-final_project/eye/camera/" TargetMode="External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protocol.md" TargetMode="External"/><Relationship Id="rId2" Type="http://schemas.openxmlformats.org/officeDocument/2006/relationships/hyperlink" Target="https://github.com/melnikvitaly/workshops/blob/main/workshop-7-final_project/firmware/aim/src/tasks/LinkUart.hpp" TargetMode="External"/><Relationship Id="rId3" Type="http://schemas.openxmlformats.org/officeDocument/2006/relationships/hyperlink" Target="https://github.com/melnikvitaly/workshops/blob/main/workshop-7-final_project/eye/camera/serial_link.py" TargetMode="External"/><Relationship Id="rId4" Type="http://schemas.openxmlformats.org/officeDocument/2006/relationships/hyperlink" Target="https://github.com/melnikvitaly/workshops/blob/main/workshop-7-final_project/eye/camera/track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parts/Laser.hpp" TargetMode="External"/><Relationship Id="rId2" Type="http://schemas.openxmlformats.org/officeDocument/2006/relationships/hyperlink" Target="https://github.com/melnikvitaly/workshops/blob/main/workshop-7-final_project/firmware/aim/src/tasks/Logger.hpp" TargetMode="External"/><Relationship Id="rId3" Type="http://schemas.openxmlformats.org/officeDocument/2006/relationships/hyperlink" Target="https://github.com/melnikvitaly/workshops/blob/main/workshop-7-final_project/eye/camera/app_window.py" TargetMode="External"/><Relationship Id="rId4" Type="http://schemas.openxmlformats.org/officeDocument/2006/relationships/hyperlink" Target="https://github.com/melnikvitaly/workshops/blob/main/workshop-7-final_project/eye/camera/recent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github.com/melnikvitaly/workshops/blob/main/workshop-7-final_project/docs/assestment/verification/README.md" TargetMode="External"/><Relationship Id="rId7" Type="http://schemas.openxmlformats.org/officeDocument/2006/relationships/hyperlink" Target="https://github.com/melnikvitaly/workshops/blob/main/workshop-7-final_project/eye/camera/error_graph.py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hyperlink" Target="https://github.com/melnikvitaly/workshops/tree/main/workshop-7-final_project/images" TargetMode="External"/><Relationship Id="rId5" Type="http://schemas.openxmlformats.org/officeDocument/2006/relationships/slideLayout" Target="../slideLayouts/slideLayout1.xml"/><Relationship Id="rId6" Type="http://schemas.openxmlformats.org/officeDocument/2006/relationships/hyperlink" Target="https://drive.google.com/file/d/1oPAUFSuq_LIinOp0olI4nicldU0OooiU/view?usp=sharing" TargetMode="Externa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7;p1"/>
          <p:cNvSpPr/>
          <p:nvPr/>
        </p:nvSpPr>
        <p:spPr>
          <a:xfrm>
            <a:off x="812880" y="812880"/>
            <a:ext cx="36403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Захист проекту з Embedded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Development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8;p1"/>
          <p:cNvSpPr/>
          <p:nvPr/>
        </p:nvSpPr>
        <p:spPr>
          <a:xfrm>
            <a:off x="812880" y="1203840"/>
            <a:ext cx="915588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ПК-</a:t>
            </a: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керований </a:t>
            </a: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лазерний </a:t>
            </a: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гімбал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9;p1"/>
          <p:cNvSpPr/>
          <p:nvPr/>
        </p:nvSpPr>
        <p:spPr>
          <a:xfrm>
            <a:off x="812880" y="1876320"/>
            <a:ext cx="108828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FreeRTOS, PID, OpenCV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20;p1"/>
          <p:cNvSpPr/>
          <p:nvPr/>
        </p:nvSpPr>
        <p:spPr>
          <a:xfrm>
            <a:off x="812880" y="2338560"/>
            <a:ext cx="6603120" cy="2711520"/>
          </a:xfrm>
          <a:prstGeom prst="roundRect">
            <a:avLst>
              <a:gd name="adj" fmla="val 5619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1;p1"/>
          <p:cNvSpPr/>
          <p:nvPr/>
        </p:nvSpPr>
        <p:spPr>
          <a:xfrm>
            <a:off x="1168560" y="269424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Студент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22;p1"/>
          <p:cNvSpPr/>
          <p:nvPr/>
        </p:nvSpPr>
        <p:spPr>
          <a:xfrm>
            <a:off x="2860920" y="2724480"/>
            <a:ext cx="1088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Vitaly Melnik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3;p1"/>
          <p:cNvSpPr/>
          <p:nvPr/>
        </p:nvSpPr>
        <p:spPr>
          <a:xfrm>
            <a:off x="1168560" y="31158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Група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4;p1"/>
          <p:cNvSpPr/>
          <p:nvPr/>
        </p:nvSpPr>
        <p:spPr>
          <a:xfrm>
            <a:off x="2870280" y="3133440"/>
            <a:ext cx="15768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EMB_7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5;p1"/>
          <p:cNvSpPr/>
          <p:nvPr/>
        </p:nvSpPr>
        <p:spPr>
          <a:xfrm>
            <a:off x="1168560" y="353736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Курс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6;p1"/>
          <p:cNvSpPr/>
          <p:nvPr/>
        </p:nvSpPr>
        <p:spPr>
          <a:xfrm>
            <a:off x="2860920" y="3537360"/>
            <a:ext cx="2038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Embedded Development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27;p1"/>
          <p:cNvSpPr/>
          <p:nvPr/>
        </p:nvSpPr>
        <p:spPr>
          <a:xfrm>
            <a:off x="1168560" y="395892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Дата захисту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28;p1"/>
          <p:cNvSpPr/>
          <p:nvPr/>
        </p:nvSpPr>
        <p:spPr>
          <a:xfrm>
            <a:off x="2870280" y="3993120"/>
            <a:ext cx="150768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СЬОГОДНІ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29;p1"/>
          <p:cNvSpPr/>
          <p:nvPr/>
        </p:nvSpPr>
        <p:spPr>
          <a:xfrm>
            <a:off x="1168560" y="44136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0;p1"/>
          <p:cNvSpPr/>
          <p:nvPr/>
        </p:nvSpPr>
        <p:spPr>
          <a:xfrm>
            <a:off x="2860920" y="4431240"/>
            <a:ext cx="15955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sng" strike="noStrike">
                <a:solidFill>
                  <a:schemeClr val="hlink"/>
                </a:solidFill>
                <a:effectLst/>
                <a:uFillTx/>
                <a:latin typeface="Nunito Sans"/>
                <a:ea typeface="Nunito Sans"/>
                <a:hlinkClick r:id="rId1"/>
              </a:rPr>
              <a:t>README.md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44;p3"/>
          <p:cNvSpPr/>
          <p:nvPr/>
        </p:nvSpPr>
        <p:spPr>
          <a:xfrm>
            <a:off x="812880" y="812880"/>
            <a:ext cx="13791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45;p3"/>
          <p:cNvSpPr/>
          <p:nvPr/>
        </p:nvSpPr>
        <p:spPr>
          <a:xfrm>
            <a:off x="952560" y="876240"/>
            <a:ext cx="11491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ПРОБЛЕМА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46;p3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Проблема: контекст </a:t>
            </a: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 масштаб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Google Shape;47;p3"/>
          <p:cNvGraphicFramePr/>
          <p:nvPr/>
        </p:nvGraphicFramePr>
        <p:xfrm>
          <a:off x="812880" y="1978560"/>
          <a:ext cx="10565640" cy="2315520"/>
        </p:xfrm>
        <a:graphic>
          <a:graphicData uri="http://schemas.openxmlformats.org/drawingml/2006/table">
            <a:tbl>
              <a:tblPr/>
              <a:tblGrid>
                <a:gridCol w="2324520"/>
                <a:gridCol w="8241480"/>
              </a:tblGrid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Параметр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Значення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Завдання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Навести лазерну точку на ціль (симуляцію або інший дазер), використовуючи камеру як зворотний зв'язок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Затримка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Камера → розпізнавання → канал зв'язку займають 20–200 мс. 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Сервоприводи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Мертва зона, люфт, провисання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Безпека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Лазер не повинен вмикатися помилково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Обсяг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Навчальний проєкт: один канал UART, розпізнавання виконує ПК, лог пишеться на SD-картку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4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README.md#about-the-project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54;p4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55;p4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56;p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Рішення: загальна картина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56" descr="data-flow.png"/>
          <p:cNvPicPr/>
          <p:nvPr/>
        </p:nvPicPr>
        <p:blipFill>
          <a:blip r:embed="rId1"/>
          <a:stretch/>
        </p:blipFill>
        <p:spPr>
          <a:xfrm>
            <a:off x="812880" y="2564335"/>
            <a:ext cx="10565640" cy="276253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Box 5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docs/architecture.md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64;p5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5;p5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6;p5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Чому швидкість, а не позиція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92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docs/servo-control-strategies.md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docs/pid_controller_equations_positional_vs_velocity.md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93"/>
          <p:cNvSpPr/>
          <p:nvPr/>
        </p:nvSpPr>
        <p:spPr>
          <a:xfrm>
            <a:off x="812880" y="177984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C5D6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94"/>
          <p:cNvSpPr/>
          <p:nvPr/>
        </p:nvSpPr>
        <p:spPr>
          <a:xfrm>
            <a:off x="1066680" y="1929960"/>
            <a:ext cx="1037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PositionalPid — швидкість (за замовчуванням)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ounded Rectangle 95"/>
          <p:cNvSpPr/>
          <p:nvPr/>
        </p:nvSpPr>
        <p:spPr>
          <a:xfrm>
            <a:off x="10666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96" descr="image.png"/>
          <p:cNvPicPr/>
          <p:nvPr/>
        </p:nvPicPr>
        <p:blipFill>
          <a:blip r:embed="rId3"/>
          <a:stretch/>
        </p:blipFill>
        <p:spPr>
          <a:xfrm>
            <a:off x="2934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Rounded Rectangle 97"/>
          <p:cNvSpPr/>
          <p:nvPr/>
        </p:nvSpPr>
        <p:spPr>
          <a:xfrm>
            <a:off x="319392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98" descr="image.png"/>
          <p:cNvPicPr/>
          <p:nvPr/>
        </p:nvPicPr>
        <p:blipFill>
          <a:blip r:embed="rId4"/>
          <a:stretch/>
        </p:blipFill>
        <p:spPr>
          <a:xfrm>
            <a:off x="506088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Rounded Rectangle 99"/>
          <p:cNvSpPr/>
          <p:nvPr/>
        </p:nvSpPr>
        <p:spPr>
          <a:xfrm>
            <a:off x="532080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швидкість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Picture 100" descr="image.png"/>
          <p:cNvPicPr/>
          <p:nvPr/>
        </p:nvPicPr>
        <p:blipFill>
          <a:blip r:embed="rId5"/>
          <a:stretch/>
        </p:blipFill>
        <p:spPr>
          <a:xfrm>
            <a:off x="718812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Rounded Rectangle 101"/>
          <p:cNvSpPr/>
          <p:nvPr/>
        </p:nvSpPr>
        <p:spPr>
          <a:xfrm>
            <a:off x="744804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9FBE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Перед серво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Σ кожні 20мс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102" descr="image.png"/>
          <p:cNvPicPr/>
          <p:nvPr/>
        </p:nvPicPr>
        <p:blipFill>
          <a:blip r:embed="rId6"/>
          <a:stretch/>
        </p:blipFill>
        <p:spPr>
          <a:xfrm>
            <a:off x="9315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Rounded Rectangle 103"/>
          <p:cNvSpPr/>
          <p:nvPr/>
        </p:nvSpPr>
        <p:spPr>
          <a:xfrm>
            <a:off x="95752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сервопривода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04"/>
          <p:cNvSpPr/>
          <p:nvPr/>
        </p:nvSpPr>
        <p:spPr>
          <a:xfrm>
            <a:off x="1066680" y="299016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стає швидкістю; ESP32 інтегрує її в кут щотику.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105"/>
          <p:cNvSpPr/>
          <p:nvPr/>
        </p:nvSpPr>
        <p:spPr>
          <a:xfrm>
            <a:off x="812880" y="402012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ECE7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106"/>
          <p:cNvSpPr/>
          <p:nvPr/>
        </p:nvSpPr>
        <p:spPr>
          <a:xfrm>
            <a:off x="1066680" y="4169880"/>
            <a:ext cx="1037484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VelocityEquationPid — приріст кута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7"/>
          <p:cNvSpPr/>
          <p:nvPr/>
        </p:nvSpPr>
        <p:spPr>
          <a:xfrm>
            <a:off x="10666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108" descr="image.png"/>
          <p:cNvPicPr/>
          <p:nvPr/>
        </p:nvPicPr>
        <p:blipFill>
          <a:blip r:embed="rId7"/>
          <a:stretch/>
        </p:blipFill>
        <p:spPr>
          <a:xfrm>
            <a:off x="2934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Rounded Rectangle 109"/>
          <p:cNvSpPr/>
          <p:nvPr/>
        </p:nvSpPr>
        <p:spPr>
          <a:xfrm>
            <a:off x="319392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Picture 110" descr="image.png"/>
          <p:cNvPicPr/>
          <p:nvPr/>
        </p:nvPicPr>
        <p:blipFill>
          <a:blip r:embed="rId8"/>
          <a:stretch/>
        </p:blipFill>
        <p:spPr>
          <a:xfrm>
            <a:off x="506088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Rounded Rectangle 111"/>
          <p:cNvSpPr/>
          <p:nvPr/>
        </p:nvSpPr>
        <p:spPr>
          <a:xfrm>
            <a:off x="532080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приріст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112" descr="image.png"/>
          <p:cNvPicPr/>
          <p:nvPr/>
        </p:nvPicPr>
        <p:blipFill>
          <a:blip r:embed="rId9"/>
          <a:stretch/>
        </p:blipFill>
        <p:spPr>
          <a:xfrm>
            <a:off x="718812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Rounded Rectangle 113"/>
          <p:cNvSpPr/>
          <p:nvPr/>
        </p:nvSpPr>
        <p:spPr>
          <a:xfrm>
            <a:off x="744804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D9CF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+=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114" descr="image.png"/>
          <p:cNvPicPr/>
          <p:nvPr/>
        </p:nvPicPr>
        <p:blipFill>
          <a:blip r:embed="rId10"/>
          <a:stretch/>
        </p:blipFill>
        <p:spPr>
          <a:xfrm>
            <a:off x="9315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ounded Rectangle 115"/>
          <p:cNvSpPr/>
          <p:nvPr/>
        </p:nvSpPr>
        <p:spPr>
          <a:xfrm>
            <a:off x="95752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сервопривід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16"/>
          <p:cNvSpPr/>
          <p:nvPr/>
        </p:nvSpPr>
        <p:spPr>
          <a:xfrm>
            <a:off x="1066680" y="523008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— приріст кута Δu; кут += Δu, без інтегратора.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102;p6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6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6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Архітектура: задачі FreeRTOS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6"/>
          <p:cNvSpPr/>
          <p:nvPr/>
        </p:nvSpPr>
        <p:spPr>
          <a:xfrm>
            <a:off x="812880" y="5647680"/>
            <a:ext cx="5999400" cy="36360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6"/>
          <p:cNvSpPr/>
          <p:nvPr/>
        </p:nvSpPr>
        <p:spPr>
          <a:xfrm>
            <a:off x="965160" y="5736600"/>
            <a:ext cx="5649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Запис на SD-картку може зависнути на 100–250 мс. Це не повинно ніколи дійти до </a:t>
            </a:r>
            <a:r>
              <a:rPr lang="en-US" sz="10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ctrl</a:t>
            </a: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106" descr="image.png"/>
          <p:cNvPicPr/>
          <p:nvPr/>
        </p:nvPicPr>
        <p:blipFill>
          <a:blip r:embed="rId1"/>
          <a:stretch/>
        </p:blipFill>
        <p:spPr>
          <a:xfrm>
            <a:off x="2000160" y="1800000"/>
            <a:ext cx="8196120" cy="364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docs/diagrams/freertos-tasks.md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firmware/aim/src/tasks/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14;p7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5;p7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16;p7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Стани системи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17;p7"/>
          <p:cNvSpPr/>
          <p:nvPr/>
        </p:nvSpPr>
        <p:spPr>
          <a:xfrm>
            <a:off x="812880" y="53499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 дозволений лише в станах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ZONE_TOUR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 і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ARMED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19;p7"/>
          <p:cNvSpPr/>
          <p:nvPr/>
        </p:nvSpPr>
        <p:spPr>
          <a:xfrm>
            <a:off x="812880" y="55497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Немає даних 300 мс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LINK_LOST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мотори зупиняються.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20;p7"/>
          <p:cNvSpPr/>
          <p:nvPr/>
        </p:nvSpPr>
        <p:spPr>
          <a:xfrm>
            <a:off x="812880" y="57801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E-stop: ISR → сповіщення задачі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safety (кнопки не підключена)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120" descr="image.png"/>
          <p:cNvPicPr/>
          <p:nvPr/>
        </p:nvPicPr>
        <p:blipFill>
          <a:blip r:embed="rId1"/>
          <a:stretch/>
        </p:blipFill>
        <p:spPr>
          <a:xfrm>
            <a:off x="812880" y="1839960"/>
            <a:ext cx="10565640" cy="30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Box 12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docs/diagrams/aim-states.md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firmware/aim/src/StateMachine.hpp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28;p8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29;p8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30;p8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ключові рішення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130"/>
          <p:cNvGraphicFramePr/>
          <p:nvPr/>
        </p:nvGraphicFramePr>
        <p:xfrm>
          <a:off x="812880" y="1691640"/>
          <a:ext cx="10565280" cy="3293640"/>
        </p:xfrm>
        <a:graphic>
          <a:graphicData uri="http://schemas.openxmlformats.org/drawingml/2006/table">
            <a:tbl>
              <a:tblPr/>
              <a:tblGrid>
                <a:gridCol w="733680"/>
                <a:gridCol w="4650480"/>
                <a:gridCol w="5181480"/>
              </a:tblGrid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#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Чому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Канали управління: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AUTO_POSITIONAL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 AUTO_VELOCITYEQUATION  / MANUAL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Без прихованого змішування лише одний активний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Обмеження робочої зони серво відповідно до конструкції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Вектор похибки нормалізований від [-1,1]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залежить від роздільної здатності камери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Черга логів відкидає найстаріше, ніколи не блокується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Телеметрія може загубитися. Керування — ні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Обхід зони: лазер малює зону за годинниковою стрілкою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Неправильний напрямок = некоректна робота з осями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Команди для камери в plain text форматі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Хоча можна було б теж використати 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7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Розбір JSON: власний парсер замість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 виконує malloc на кожен розбір; проєкт забороняє купу після ініціалізації (coding.md)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 + CRC-8 для конфігурації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Рідко змінюється, критична помилка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81" name="TextBox 13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docs/coding.md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docs/interfaces.md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63;p9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64;p9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65;p9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код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5"/>
          <p:cNvSpPr/>
          <p:nvPr/>
        </p:nvSpPr>
        <p:spPr>
          <a:xfrm>
            <a:off x="81288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AIM — ESP32-S3 (гімбал-контролер)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66"/>
          <p:cNvSpPr/>
          <p:nvPr/>
        </p:nvSpPr>
        <p:spPr>
          <a:xfrm>
            <a:off x="634896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EYE — PC (оператор і зір)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167"/>
          <p:cNvGraphicFramePr/>
          <p:nvPr/>
        </p:nvGraphicFramePr>
        <p:xfrm>
          <a:off x="812880" y="2098440"/>
          <a:ext cx="5339160" cy="392904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main.cpp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входу: створює задачі, встановлює ISR E-stop, логує причину скидання.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tasks/Ctrl.hpp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StateMachine.hpp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ctrl (20 мс): дренує cmd_q, крок ПІД.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керує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Gimbal.hpp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через один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IInputChannel.hpp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Стани: BOOT→SELFTEST→DISARMED→ARMED, ZONE_TOUR, LINK_LOST, FAULT.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tasks/Safety.hpp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safety: laserPermitted() — єдиний шлюз дозволу лазера.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tasks/LinkUart.hpp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link_uart: UART1 RX/TX, кадрування.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парсинг: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tasks/Logger.hpp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logger: запис на SD, єдина з правом довго блокуватись.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NoneChannel.hpp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ManualChannel.hpp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Порожній канал (гімбал стоїть) і ручне керування швидкістю з ПК, з таймаутом.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AutoPositional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AutoVelocityEquation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Два авто-режими наведення за похибкою EYE: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позиційний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PositionalPid.hpp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швидкість.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7"/>
                        </a:rPr>
                        <a:t>VelocityEquationPid.hpp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дельта кута, moveTo().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8" name="Table 168"/>
          <p:cNvGraphicFramePr/>
          <p:nvPr/>
        </p:nvGraphicFramePr>
        <p:xfrm>
          <a:off x="6348960" y="2098440"/>
          <a:ext cx="5339160" cy="269136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8"/>
                        </a:rPr>
                        <a:t>tracker.py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Головний цикл: захоплення кадру.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детекція: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9"/>
                        </a:rPr>
                        <a:t>dots.py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надсилання похибки: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0"/>
                        </a:rPr>
                        <a:t>serial_link.py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1"/>
                        </a:rPr>
                        <a:t>dots.py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Детекція червоної/зеленої точки (OpenCV), вектор похибки.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2"/>
                        </a:rPr>
                        <a:t>serial_link.py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Кадр E dx dy valid на UART1. Форсує dtr=False, rts=False.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 AIM читає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3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4"/>
                        </a:rPr>
                        <a:t>recenter.py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Повертає лазер у центр зони, якщо точку не видно; викликається з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5"/>
                        </a:rPr>
                        <a:t>tracker.py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6"/>
                        </a:rPr>
                        <a:t>controls.py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7"/>
                        </a:rPr>
                        <a:t>app_window.py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Панель оператора: підсилення, канал, телеметрія, кнопка вогню.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TextBox 169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8"/>
              </a:rPr>
              <a:t>firmware/aim/src/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9"/>
              </a:rPr>
              <a:t>eye/camera/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173;p10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74;p10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75;p10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Проблеми, з якими зіткнулися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175"/>
          <p:cNvGraphicFramePr/>
          <p:nvPr/>
        </p:nvGraphicFramePr>
        <p:xfrm>
          <a:off x="812880" y="1649880"/>
          <a:ext cx="10565280" cy="3866040"/>
        </p:xfrm>
        <a:graphic>
          <a:graphicData uri="http://schemas.openxmlformats.org/drawingml/2006/table">
            <a:tbl>
              <a:tblPr/>
              <a:tblGrid>
                <a:gridCol w="3199680"/>
                <a:gridCol w="3399840"/>
                <a:gridCol w="2399760"/>
                <a:gridCol w="156636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Авто-наведення «злітає» → LINK_LOST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губиться на кілька кадрів · вектор похибки тягне гімбал за межі зони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Швидкість на краях зростає через кут до стіни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Похибку обмежено до ±1 (dots.py, Protocol.hpp), менша робоча зона 60°/30°.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 кутами поки нічого не вирішено, потрібно вводити коефіцієнт, який залежатиме від кутів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Неправильні кути MIN/MAX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Константи підібрані на око · переплутаний напрям обертання серво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Вручну підкалібрував, зробив ZONE_TOUR.</a:t>
                      </a:r>
                      <a:br>
                        <a:rPr sz="950"/>
                      </a:b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Але конструкція така, що серво може проскочити пару позицій на шестерні й кути поїдуть.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ESP32 перезавантажується при від'єднанні UART0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USB-UART міст імпульсує пін EN сигналами DTR/RTS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serial_link.py примусово ставить dtr=False, rts=False.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16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Повільне наведення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Розпізнавання лазерної точки ненадійне (детектор губить точку на кілька кадрів)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Змінне освітлення збиває пороги OpenCV · точка тимчасово зникає з кадру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Підбір порогів OpenCV (tracker.py); TODO: утримання позиції, фільтр стрибків.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зробимо ніяких згладжувань чи фільтрів.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Зв'язок COM/UART не відновлюється після від'єднання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94" name="TextBox 176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docs/protocol.md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firmware/aim/src/tasks/LinkUart.hpp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eye/camera/serial_link.py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eye/camera/tracker.py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200;p11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201;p11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202;p11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Інші проблеми з проєктування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202"/>
          <p:cNvGraphicFramePr/>
          <p:nvPr/>
        </p:nvGraphicFramePr>
        <p:xfrm>
          <a:off x="812880" y="1726920"/>
          <a:ext cx="10565280" cy="4163040"/>
        </p:xfrm>
        <a:graphic>
          <a:graphicData uri="http://schemas.openxmlformats.org/drawingml/2006/table">
            <a:tbl>
              <a:tblPr/>
              <a:tblGrid>
                <a:gridCol w="3199680"/>
                <a:gridCol w="3399840"/>
                <a:gridCol w="2399760"/>
                <a:gridCol w="156636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Що ми зробили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Логи й дані ділили UART0; рядок з «F» міг випадково спричинити постріл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Спільний UART0 для логів і команд керування, без ізоляції небезпечної команди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Дані перенесено на UART1; UART0 - лише консоль, команда пострілу захищена.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Реле лазера вмикалося при подачі живлення (пін у стані float)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GPIO реле floats до Relay::init() · вихід вмикається раніше рівня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Рівень встановлено на виводі, додано pull-up.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Запис на SD-картку може зависнути на 100-250 мс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Внутрішнє wear-levelling картки під час запису блоку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Окрема задача logger з низьким пріоритетом; черга відкидає найстаріший запис.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й обробки кадру вносить мертвий час, що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Менші значення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Зависання каналу зв'язку через однопотоковий UI-застосунок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UI і серійний обмін в одному потоці; ресайз вікна блокував порт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Обмін даними з ESP перенесено у фоновий потік.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Нелінійна залежність між позиціями на стіні та кутами серво,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криві лінії при русі вліво вправо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Проєкція стіни на кут гімбала нелінійна (перспектива, геометрія кардана)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Потрібно врахувати тригонометрію, але ж лазер може бути в будь-якому положенні від стіни, тому є питаннячко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Лазер виходить за межі зони видимості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Різкий рух цілі або похибка керування виносить точку за межі поля зору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recenter.py: гімбал рухається P-кроками до центру, якщо точку не видно &gt;1500 мс.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камери знижує стабільність детекції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міняє різкість/розмір точки — пороги OpenCV втрачають сигнал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вимкнено, фіксована позиція лінзи (--focus=130); live-підбір фокусу в UI оператора.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TextBox 203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firmware/aim/src/parts/Laser.hpp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firmware/aim/src/tasks/Logger.hpp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eye/camera/app_window.py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eye/camera/recenter.py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tag;bg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tag;txt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title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Графіки похибки: режим і PID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cell-title-303"/>
          <p:cNvSpPr/>
          <p:nvPr/>
        </p:nvSpPr>
        <p:spPr>
          <a:xfrm>
            <a:off x="1949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cell-img-304"/>
          <p:cNvSpPr/>
          <p:nvPr/>
        </p:nvSpPr>
        <p:spPr>
          <a:xfrm>
            <a:off x="1949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cell-metrics-305"/>
          <p:cNvSpPr/>
          <p:nvPr/>
        </p:nvSpPr>
        <p:spPr>
          <a:xfrm>
            <a:off x="1949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745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1160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cell-title-306"/>
          <p:cNvSpPr/>
          <p:nvPr/>
        </p:nvSpPr>
        <p:spPr>
          <a:xfrm>
            <a:off x="480744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P1/I50/D0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cell-img-307"/>
          <p:cNvSpPr/>
          <p:nvPr/>
        </p:nvSpPr>
        <p:spPr>
          <a:xfrm>
            <a:off x="480744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cell-metrics-308"/>
          <p:cNvSpPr/>
          <p:nvPr/>
        </p:nvSpPr>
        <p:spPr>
          <a:xfrm>
            <a:off x="480744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169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335 мс, овершут ~32%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cell-title-309"/>
          <p:cNvSpPr/>
          <p:nvPr/>
        </p:nvSpPr>
        <p:spPr>
          <a:xfrm>
            <a:off x="7664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cell-img-310"/>
          <p:cNvSpPr/>
          <p:nvPr/>
        </p:nvSpPr>
        <p:spPr>
          <a:xfrm>
            <a:off x="7664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cell-metrics-311"/>
          <p:cNvSpPr/>
          <p:nvPr/>
        </p:nvSpPr>
        <p:spPr>
          <a:xfrm>
            <a:off x="7664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146 мс, овершут ~33%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cell-title-312"/>
          <p:cNvSpPr/>
          <p:nvPr/>
        </p:nvSpPr>
        <p:spPr>
          <a:xfrm>
            <a:off x="194976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P40/I2 · tilt P35/I2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cell-img-313"/>
          <p:cNvSpPr/>
          <p:nvPr/>
        </p:nvSpPr>
        <p:spPr>
          <a:xfrm>
            <a:off x="194976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cell-metrics-314"/>
          <p:cNvSpPr/>
          <p:nvPr/>
        </p:nvSpPr>
        <p:spPr>
          <a:xfrm>
            <a:off x="194976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171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592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cell-title-315"/>
          <p:cNvSpPr/>
          <p:nvPr/>
        </p:nvSpPr>
        <p:spPr>
          <a:xfrm>
            <a:off x="480744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P100/I10 · tilt P100/I9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cell-img-316"/>
          <p:cNvSpPr/>
          <p:nvPr/>
        </p:nvSpPr>
        <p:spPr>
          <a:xfrm>
            <a:off x="480744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cell-metrics-317"/>
          <p:cNvSpPr/>
          <p:nvPr/>
        </p:nvSpPr>
        <p:spPr>
          <a:xfrm>
            <a:off x="480744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80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475 мс, овершут ~29%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insight;bg"/>
          <p:cNvSpPr/>
          <p:nvPr/>
        </p:nvSpPr>
        <p:spPr>
          <a:xfrm>
            <a:off x="7664760" y="4094640"/>
            <a:ext cx="2576520" cy="2080800"/>
          </a:xfrm>
          <a:prstGeom prst="roundRect">
            <a:avLst>
              <a:gd name="adj" fmla="val 6000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insight;txt"/>
          <p:cNvSpPr/>
          <p:nvPr/>
        </p:nvSpPr>
        <p:spPr>
          <a:xfrm>
            <a:off x="7824600" y="4254480"/>
            <a:ext cx="2256840" cy="17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Спостереження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Канал tilt овершутить на всіх режимах і PID (~27–33%); канал pan — практично ні (~1–4%).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Найшвидше усталення: VELOCITYEQUATION P1/I100 — pan 81 мс, tilt 146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Найповільніше: VELOCITYEQUATION P1/I10 — pan 745 мс, tilt 1160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320"/>
          <p:cNvSpPr/>
          <p:nvPr/>
        </p:nvSpPr>
        <p:spPr>
          <a:xfrm>
            <a:off x="812880" y="654012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docs/assestment/verification/README.md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7"/>
              </a:rPr>
              <a:t>eye/camera/error_graph.py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логи: docs/assestment/presentation/graphs-to-target-with-different-mode-and-pids/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;p14"/>
          <p:cNvSpPr/>
          <p:nvPr/>
        </p:nvSpPr>
        <p:spPr>
          <a:xfrm>
            <a:off x="812880" y="812880"/>
            <a:ext cx="170928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3;p14"/>
          <p:cNvSpPr/>
          <p:nvPr/>
        </p:nvSpPr>
        <p:spPr>
          <a:xfrm>
            <a:off x="952560" y="876240"/>
            <a:ext cx="1519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4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Стенд AIM на макетній платі" descr="Гімбал ESP32-S3 на макетній платі з лазером і проводкою"/>
          <p:cNvSpPr/>
          <p:nvPr/>
        </p:nvSpPr>
        <p:spPr>
          <a:xfrm>
            <a:off x="812880" y="1793160"/>
            <a:ext cx="6253920" cy="4305960"/>
          </a:xfrm>
          <a:prstGeom prst="roundRect">
            <a:avLst>
              <a:gd name="adj" fmla="val 5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Знімок eye-app: авто-наведення" descr="Знімок екрана застосунку eye-app з панеллю телеметрії та PID-налаштувань під час авто-наведення"/>
          <p:cNvSpPr/>
          <p:nvPr/>
        </p:nvSpPr>
        <p:spPr>
          <a:xfrm>
            <a:off x="7668720" y="1793160"/>
            <a:ext cx="3408120" cy="2022840"/>
          </a:xfrm>
          <a:prstGeom prst="roundRect">
            <a:avLst>
              <a:gd name="adj" fmla="val 5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Знімок eye-app: графік похибки" descr="Знімок екрана застосунку eye-app з debug-панеллю та графіком похибки наведення в часі"/>
          <p:cNvSpPr/>
          <p:nvPr/>
        </p:nvSpPr>
        <p:spPr>
          <a:xfrm>
            <a:off x="7664760" y="4076640"/>
            <a:ext cx="3416400" cy="2022840"/>
          </a:xfrm>
          <a:prstGeom prst="roundRect">
            <a:avLst>
              <a:gd name="adj" fmla="val 5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images/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стенд AIM (ESP32-S3) та eye-app під час наведення на ціль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Video Demo 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273;p14"/>
          <p:cNvSpPr/>
          <p:nvPr/>
        </p:nvSpPr>
        <p:spPr>
          <a:xfrm>
            <a:off x="812880" y="812880"/>
            <a:ext cx="10537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74;p14"/>
          <p:cNvSpPr/>
          <p:nvPr/>
        </p:nvSpPr>
        <p:spPr>
          <a:xfrm>
            <a:off x="952560" y="876240"/>
            <a:ext cx="8334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75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81;p14"/>
          <p:cNvSpPr/>
          <p:nvPr/>
        </p:nvSpPr>
        <p:spPr>
          <a:xfrm>
            <a:off x="81288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82;p14"/>
          <p:cNvSpPr/>
          <p:nvPr/>
        </p:nvSpPr>
        <p:spPr>
          <a:xfrm>
            <a:off x="104148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83;p14"/>
          <p:cNvSpPr/>
          <p:nvPr/>
        </p:nvSpPr>
        <p:spPr>
          <a:xfrm>
            <a:off x="118728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84;p14"/>
          <p:cNvSpPr/>
          <p:nvPr/>
        </p:nvSpPr>
        <p:spPr>
          <a:xfrm>
            <a:off x="104148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Наступне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85;p14"/>
          <p:cNvSpPr/>
          <p:nvPr/>
        </p:nvSpPr>
        <p:spPr>
          <a:xfrm>
            <a:off x="629604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86;p14"/>
          <p:cNvSpPr/>
          <p:nvPr/>
        </p:nvSpPr>
        <p:spPr>
          <a:xfrm>
            <a:off x="652464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287;p14"/>
          <p:cNvSpPr/>
          <p:nvPr/>
        </p:nvSpPr>
        <p:spPr>
          <a:xfrm>
            <a:off x="667080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88;p14"/>
          <p:cNvSpPr/>
          <p:nvPr/>
        </p:nvSpPr>
        <p:spPr>
          <a:xfrm>
            <a:off x="652464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Пізніше (після ніколи)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89;p14"/>
          <p:cNvSpPr/>
          <p:nvPr/>
        </p:nvSpPr>
        <p:spPr>
          <a:xfrm>
            <a:off x="6524640" y="3154680"/>
            <a:ext cx="4625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YOLO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-детекція просто на камері, наприклад коли побачив людину чи руку — вимкнутися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Feed-forward за швидкістю цілі, не доганяти, а передбачати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OLED-меню на пульті PILOT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290;p14"/>
          <p:cNvSpPr/>
          <p:nvPr/>
        </p:nvSpPr>
        <p:spPr>
          <a:xfrm>
            <a:off x="1041480" y="3154680"/>
            <a:ext cx="46252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PILOT (ESP32-C3,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ESP-NOW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): джойстик, дистанційний E-stop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MQTT конфіг-план і WiFi-телеметрія, Wireless-контроль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VAULT (STM32): окремий контролер для зберігання даних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Лазер на MOSFET з ШІМ-яскравістю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Режим сну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90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LibreOffice/26.8.0.3$Windows_X86_64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  <dc:description/>
  <dc:language>en-US</dc:language>
  <cp:lastModifiedBy/>
  <dcterms:modified xsi:type="dcterms:W3CDTF">2026-09-25T21:07:01Z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