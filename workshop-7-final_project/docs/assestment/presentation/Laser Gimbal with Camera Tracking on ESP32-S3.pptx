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12192000"/>
  <p:embeddedFontLst>
    <p:embeddedFont>
      <p:font typeface="Nunito Sans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uk-U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</a:t>
            </a:r>
            <a:r>
              <a:rPr lang="uk-UA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uk-U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8185FDC-99BA-4415-8A11-8F1517F9A79E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CA634EA-4A51-4674-BAB3-0EB656C211E4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17ABE53-4C28-430D-A3CF-59DE852B22D7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 Діаграма показує обидва авто-канали: AUTO_POSITIONAL (швидкість, що інтегрується щотику) і AUTO_VELOCITYEQUATION (приріст кута напряму) — активний лише один, деталі на наступному слайді.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ED180F7-7612-43B4-A13B-DFE4783CF620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Головна ідея: я задаю швидкість, а не кут, і даю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Пастка з назвами: клас PositionalPid насправді видає швидкість (рампа/інтегратор), а клас VelocityEquationPid видає приріст кута напряму — назви класів навпаки тому, що PositionalPid зберігає позиційну форму рівняння (Kp*e + явний інтеграл), просто трактує вихід як швидкість. Обидва канали реалізовані й порівнювані (AUTO_POSITIONAL за замовчуванням, AUTO_VELOCITYEQUATION — для порівняння/точкового наведення), докладніше — docs/servo-control-strategies.md.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08565D8-6E1F-443F-99C1-0EC39FB168B7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07C5859-00B2-4F3E-BD7A-A0F6D6975D2E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77967DA-823E-4E33-A658-1F1F97B8C3F4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Вісім невеликих рішень, які вберегли мене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25BB4D7-FDE2-4490-87AD-00D65AE01208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B0C9A90-6FE5-40BB-A6E6-45FF933C63A8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реальні збої, з якими я зіткнувся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0473BFE-F8EF-4065-8B9E-54E4B8F437C3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Це прийшло з огляду проєкту, а не зі стенда — це режими відмов, які я виявив, продумавши монтаж і протокол ще до того, як вони стали інцидентами на стенді.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824243B-48AF-487B-BE9F-ED0727289962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Ці 5 графіків — крок цілі (одноразове зміщення) на стенді для двох режимів (AUTO_POSITIONAL, AUTO_VELOCITYEQUATION) і кількох PID. Вісь X — час у мс від старту логування (не з нуля), вісь Y — похибка, нормована приблизно в межах ±1. “Час до цілі” тут — час від стрибка похибки до входу в межу ≈5% амплітуди й утримання в ній. “Овершут” — перехід через нуль у протилежний бік більший за цю межу. Дані виміряні по пікселях графіків (error_graph.py), не з сирих логів — це оцінка, а не точний вимір. Головне: канал pan не овершутить ні в одному режимі, канал tilt — овершутить завжди на ~30%; збільшення I з 10 до 100 у VELOCITYEQUATION різко скорочує час до цілі.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9ED6604-4B4C-4D68-A9C5-DE8CCA5204C8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uk-UA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A5A9DA-1573-4B34-93BB-93CE01564ADB}" type="slidenum">
              <a:rPr lang="uk-U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13</a:t>
            </a:fld>
            <a:endParaRPr lang="uk-U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final-project--laser-gimbal-with-camera-tracking" TargetMode="Externa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youtu.be/ivoaDATIsoo" TargetMode="External"/><Relationship Id="rId5" Type="http://schemas.openxmlformats.org/officeDocument/2006/relationships/image" Target="../media/image3.png"/><Relationship Id="rId6" Type="http://schemas.openxmlformats.org/officeDocument/2006/relationships/hyperlink" Target="https://youtu.be/ivoaDATIsoo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#about-the-proje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hyperlink" Target="https://github.com/melnikvitaly/workshops/blob/main/workshop-7-final_project/docs/architecture.md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docs/servo-control-strategies.md" TargetMode="External"/><Relationship Id="rId2" Type="http://schemas.openxmlformats.org/officeDocument/2006/relationships/hyperlink" Target="https://github.com/melnikvitaly/workshops/blob/main/workshop-7-final_project/docs/pid_controller_equations_positional_vs_velocity.md" TargetMode="External"/><Relationship Id="rId3" Type="http://schemas.openxmlformats.org/officeDocument/2006/relationships/image" Target="../media/image5.png"/><Relationship Id="rId4" Type="http://schemas.openxmlformats.org/officeDocument/2006/relationships/image" Target="../media/image5.png"/><Relationship Id="rId5" Type="http://schemas.openxmlformats.org/officeDocument/2006/relationships/image" Target="../media/image5.png"/><Relationship Id="rId6" Type="http://schemas.openxmlformats.org/officeDocument/2006/relationships/image" Target="../media/image5.png"/><Relationship Id="rId7" Type="http://schemas.openxmlformats.org/officeDocument/2006/relationships/image" Target="../media/image5.png"/><Relationship Id="rId8" Type="http://schemas.openxmlformats.org/officeDocument/2006/relationships/image" Target="../media/image5.png"/><Relationship Id="rId9" Type="http://schemas.openxmlformats.org/officeDocument/2006/relationships/image" Target="../media/image5.png"/><Relationship Id="rId10" Type="http://schemas.openxmlformats.org/officeDocument/2006/relationships/image" Target="../media/image5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hyperlink" Target="https://github.com/melnikvitaly/workshops/blob/main/workshop-7-final_project/docs/diagrams/freertos-tasks.md" TargetMode="External"/><Relationship Id="rId3" Type="http://schemas.openxmlformats.org/officeDocument/2006/relationships/hyperlink" Target="https://github.com/melnikvitaly/workshops/tree/main/workshop-7-final_project/firmware/aim/src/tasks/" TargetMode="External"/><Relationship Id="rId4" Type="http://schemas.openxmlformats.org/officeDocument/2006/relationships/hyperlink" Target="https://github.com/melnikvitaly/workshops/blob/main/workshop-7-final_project/firmware/aim/src/main.cpp#L161-L171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hyperlink" Target="https://github.com/melnikvitaly/workshops/blob/main/workshop-7-final_project/docs/diagrams/aim-states.md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tasks/Ctrl.hpp#L208" TargetMode="External"/><Relationship Id="rId2" Type="http://schemas.openxmlformats.org/officeDocument/2006/relationships/hyperlink" Target="https://github.com/melnikvitaly/workshops/blob/main/workshop-7-final_project/firmware/aim/src/parts/AutoPositionalChannel.hpp#L16" TargetMode="External"/><Relationship Id="rId3" Type="http://schemas.openxmlformats.org/officeDocument/2006/relationships/hyperlink" Target="https://github.com/melnikvitaly/workshops/blob/main/workshop-7-final_project/firmware/aim/src/parts/AutoVelocityEquationChannel.hpp#L23" TargetMode="External"/><Relationship Id="rId4" Type="http://schemas.openxmlformats.org/officeDocument/2006/relationships/hyperlink" Target="https://github.com/melnikvitaly/workshops/blob/main/workshop-7-final_project/firmware/aim/src/parts/ManualChannel.hpp#L12" TargetMode="External"/><Relationship Id="rId5" Type="http://schemas.openxmlformats.org/officeDocument/2006/relationships/hyperlink" Target="https://github.com/melnikvitaly/workshops/blob/main/workshop-7-final_project/firmware/aim/src/parts/NoneChannel.hpp#L9" TargetMode="External"/><Relationship Id="rId6" Type="http://schemas.openxmlformats.org/officeDocument/2006/relationships/hyperlink" Target="https://github.com/melnikvitaly/workshops/blob/main/workshop-7-final_project/firmware/aim/src/parts/Gimbal.hpp#L84" TargetMode="External"/><Relationship Id="rId7" Type="http://schemas.openxmlformats.org/officeDocument/2006/relationships/hyperlink" Target="https://github.com/melnikvitaly/workshops/blob/main/workshop-7-final_project/eye/camera/dots.py#L450-L467" TargetMode="External"/><Relationship Id="rId8" Type="http://schemas.openxmlformats.org/officeDocument/2006/relationships/hyperlink" Target="https://github.com/melnikvitaly/workshops/blob/main/workshop-7-final_project/firmware/aim/src/ipc/LogQueue.hpp#L27" TargetMode="External"/><Relationship Id="rId9" Type="http://schemas.openxmlformats.org/officeDocument/2006/relationships/hyperlink" Target="https://github.com/melnikvitaly/workshops/blob/main/workshop-7-final_project/firmware/aim/src/parts/ZoneTour.hpp#L18" TargetMode="External"/><Relationship Id="rId10" Type="http://schemas.openxmlformats.org/officeDocument/2006/relationships/hyperlink" Target="https://github.com/melnikvitaly/workshops/blob/main/workshop-7-final_project/firmware/aim/src/transport/Protocol.hpp#L129" TargetMode="External"/><Relationship Id="rId11" Type="http://schemas.openxmlformats.org/officeDocument/2006/relationships/hyperlink" Target="https://github.com/melnikvitaly/workshops/blob/main/workshop-7-final_project/firmware/aim/src/tasks/LinkUart.hpp#L66-L98" TargetMode="External"/><Relationship Id="rId12" Type="http://schemas.openxmlformats.org/officeDocument/2006/relationships/hyperlink" Target="https://github.com/melnikvitaly/workshops/blob/main/workshop-7-final_project/firmware/aim/src/utils/Crc8.hpp#L13" TargetMode="External"/><Relationship Id="rId13" Type="http://schemas.openxmlformats.org/officeDocument/2006/relationships/hyperlink" Target="https://github.com/melnikvitaly/workshops/blob/main/workshop-7-final_project/firmware/aim/src/utils/PositionalPid.hpp#L100-L122" TargetMode="External"/><Relationship Id="rId14" Type="http://schemas.openxmlformats.org/officeDocument/2006/relationships/hyperlink" Target="https://github.com/melnikvitaly/workshops/blob/main/workshop-7-final_project/docs/coding.md" TargetMode="External"/><Relationship Id="rId15" Type="http://schemas.openxmlformats.org/officeDocument/2006/relationships/hyperlink" Target="https://github.com/melnikvitaly/workshops/blob/main/workshop-7-final_project/docs/interfaces.md" TargetMode="External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main.cpp" TargetMode="External"/><Relationship Id="rId2" Type="http://schemas.openxmlformats.org/officeDocument/2006/relationships/hyperlink" Target="https://github.com/melnikvitaly/workshops/blob/main/workshop-7-final_project/firmware/aim/src/tasks/Ctrl.hpp" TargetMode="External"/><Relationship Id="rId3" Type="http://schemas.openxmlformats.org/officeDocument/2006/relationships/hyperlink" Target="https://github.com/melnikvitaly/workshops/blob/main/workshop-7-final_project/firmware/aim/src/StateMachine.hpp" TargetMode="External"/><Relationship Id="rId4" Type="http://schemas.openxmlformats.org/officeDocument/2006/relationships/hyperlink" Target="file:///C:/Projects/embedded/workshops/workshop-7-final_project/docs/assestment/presentation/firmware/aim/src/parts/Gimbal.hpp" TargetMode="External"/><Relationship Id="rId5" Type="http://schemas.openxmlformats.org/officeDocument/2006/relationships/hyperlink" Target="https://github.com/melnikvitaly/workshops/blob/main/workshop-7-final_project/firmware/aim/src/parts/IInputChannel.hpp" TargetMode="External"/><Relationship Id="rId6" Type="http://schemas.openxmlformats.org/officeDocument/2006/relationships/hyperlink" Target="https://github.com/melnikvitaly/workshops/blob/main/workshop-7-final_project/firmware/aim/src/tasks/Safety.hpp" TargetMode="External"/><Relationship Id="rId7" Type="http://schemas.openxmlformats.org/officeDocument/2006/relationships/hyperlink" Target="https://github.com/melnikvitaly/workshops/blob/main/workshop-7-final_project/firmware/aim/src/tasks/LinkUart.hpp" TargetMode="External"/><Relationship Id="rId8" Type="http://schemas.openxmlformats.org/officeDocument/2006/relationships/hyperlink" Target="file:///C:/Projects/embedded/workshops/workshop-7-final_project/docs/assestment/presentation/firmware/aim/src/transport/Protocol.hpp" TargetMode="External"/><Relationship Id="rId9" Type="http://schemas.openxmlformats.org/officeDocument/2006/relationships/hyperlink" Target="https://github.com/melnikvitaly/workshops/blob/main/workshop-7-final_project/firmware/aim/src/tasks/Logger.hpp" TargetMode="External"/><Relationship Id="rId10" Type="http://schemas.openxmlformats.org/officeDocument/2006/relationships/hyperlink" Target="https://github.com/melnikvitaly/workshops/blob/main/workshop-7-final_project/firmware/aim/src/parts/NoneChannel.hpp" TargetMode="External"/><Relationship Id="rId11" Type="http://schemas.openxmlformats.org/officeDocument/2006/relationships/hyperlink" Target="https://github.com/melnikvitaly/workshops/blob/main/workshop-7-final_project/firmware/aim/src/parts/ManualChannel.hpp" TargetMode="External"/><Relationship Id="rId12" Type="http://schemas.openxmlformats.org/officeDocument/2006/relationships/hyperlink" Target="https://github.com/melnikvitaly/workshops/blob/main/workshop-7-final_project/firmware/aim/src/parts/AutoPositionalChannel.hpp" TargetMode="External"/><Relationship Id="rId13" Type="http://schemas.openxmlformats.org/officeDocument/2006/relationships/hyperlink" Target="https://github.com/melnikvitaly/workshops/blob/main/workshop-7-final_project/firmware/aim/src/parts/AutoPositionalChannel.hpp" TargetMode="External"/><Relationship Id="rId14" Type="http://schemas.openxmlformats.org/officeDocument/2006/relationships/hyperlink" Target="https://github.com/melnikvitaly/workshops/blob/main/workshop-7-final_project/firmware/aim/src/parts/AutoVelocityEquationChannel.hpp" TargetMode="External"/><Relationship Id="rId15" Type="http://schemas.openxmlformats.org/officeDocument/2006/relationships/hyperlink" Target="https://github.com/melnikvitaly/workshops/blob/main/workshop-7-final_project/firmware/aim/src/parts/AutoVelocityEquationChannel.hpp" TargetMode="External"/><Relationship Id="rId16" Type="http://schemas.openxmlformats.org/officeDocument/2006/relationships/hyperlink" Target="https://github.com/melnikvitaly/workshops/blob/main/workshop-7-final_project/firmware/aim/src/utils/PositionalPid.hpp" TargetMode="External"/><Relationship Id="rId17" Type="http://schemas.openxmlformats.org/officeDocument/2006/relationships/hyperlink" Target="https://github.com/melnikvitaly/workshops/blob/main/workshop-7-final_project/firmware/aim/src/utils/VelocityEquationPid.hpp" TargetMode="External"/><Relationship Id="rId18" Type="http://schemas.openxmlformats.org/officeDocument/2006/relationships/hyperlink" Target="https://github.com/melnikvitaly/workshops/blob/main/workshop-7-final_project/eye/camera/tracker.py" TargetMode="External"/><Relationship Id="rId19" Type="http://schemas.openxmlformats.org/officeDocument/2006/relationships/hyperlink" Target="file:///C:/Projects/embedded/workshops/workshop-7-final_project/docs/assestment/presentation/eye/camera/dots.py" TargetMode="External"/><Relationship Id="rId20" Type="http://schemas.openxmlformats.org/officeDocument/2006/relationships/hyperlink" Target="file:///C:/Projects/embedded/workshops/workshop-7-final_project/docs/assestment/presentation/eye/camera/serial_link.py" TargetMode="External"/><Relationship Id="rId21" Type="http://schemas.openxmlformats.org/officeDocument/2006/relationships/hyperlink" Target="https://github.com/melnikvitaly/workshops/blob/main/workshop-7-final_project/eye/camera/dots.py" TargetMode="External"/><Relationship Id="rId22" Type="http://schemas.openxmlformats.org/officeDocument/2006/relationships/hyperlink" Target="https://github.com/melnikvitaly/workshops/blob/main/workshop-7-final_project/eye/camera/serial_link.py" TargetMode="External"/><Relationship Id="rId23" Type="http://schemas.openxmlformats.org/officeDocument/2006/relationships/hyperlink" Target="file:///C:/Projects/embedded/workshops/workshop-7-final_project/docs/assestment/presentation/firmware/aim/src/transport/Protocol.hpp" TargetMode="External"/><Relationship Id="rId24" Type="http://schemas.openxmlformats.org/officeDocument/2006/relationships/hyperlink" Target="https://github.com/melnikvitaly/workshops/blob/main/workshop-7-final_project/eye/camera/recenter.py" TargetMode="External"/><Relationship Id="rId25" Type="http://schemas.openxmlformats.org/officeDocument/2006/relationships/hyperlink" Target="file:///C:/Projects/embedded/workshops/workshop-7-final_project/docs/assestment/presentation/eye/camera/tracker.py" TargetMode="External"/><Relationship Id="rId26" Type="http://schemas.openxmlformats.org/officeDocument/2006/relationships/hyperlink" Target="https://github.com/melnikvitaly/workshops/blob/main/workshop-7-final_project/eye/camera/controls.py" TargetMode="External"/><Relationship Id="rId27" Type="http://schemas.openxmlformats.org/officeDocument/2006/relationships/hyperlink" Target="https://github.com/melnikvitaly/workshops/blob/main/workshop-7-final_project/eye/camera/app_window.py" TargetMode="External"/><Relationship Id="rId28" Type="http://schemas.openxmlformats.org/officeDocument/2006/relationships/hyperlink" Target="https://github.com/melnikvitaly/workshops/tree/main/workshop-7-final_project/firmware/aim/src/" TargetMode="External"/><Relationship Id="rId29" Type="http://schemas.openxmlformats.org/officeDocument/2006/relationships/hyperlink" Target="https://github.com/melnikvitaly/workshops/tree/main/workshop-7-final_project/eye/camera/" TargetMode="External"/><Relationship Id="rId30" Type="http://schemas.openxmlformats.org/officeDocument/2006/relationships/slideLayout" Target="../slideLayouts/slideLayout1.xml"/><Relationship Id="rId31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eye/camera/dots.py#L450-L467" TargetMode="External"/><Relationship Id="rId2" Type="http://schemas.openxmlformats.org/officeDocument/2006/relationships/hyperlink" Target="https://github.com/melnikvitaly/workshops/blob/main/workshop-7-final_project/firmware/aim/src/transport/Protocol.hpp#L120-L123" TargetMode="External"/><Relationship Id="rId3" Type="http://schemas.openxmlformats.org/officeDocument/2006/relationships/hyperlink" Target="https://github.com/melnikvitaly/workshops/blob/main/workshop-7-final_project/firmware/aim/src/Config.hpp#L71-L76" TargetMode="External"/><Relationship Id="rId4" Type="http://schemas.openxmlformats.org/officeDocument/2006/relationships/hyperlink" Target="https://github.com/melnikvitaly/workshops/blob/main/workshop-7-final_project/firmware/aim/src/parts/ZoneTour.hpp#L18" TargetMode="External"/><Relationship Id="rId5" Type="http://schemas.openxmlformats.org/officeDocument/2006/relationships/hyperlink" Target="https://github.com/melnikvitaly/workshops/blob/main/workshop-7-final_project/eye/camera/serial_link.py#L448-L449" TargetMode="External"/><Relationship Id="rId6" Type="http://schemas.openxmlformats.org/officeDocument/2006/relationships/hyperlink" Target="https://github.com/melnikvitaly/workshops/blob/main/workshop-7-final_project/eye/camera/tuning.py#L65" TargetMode="External"/><Relationship Id="rId7" Type="http://schemas.openxmlformats.org/officeDocument/2006/relationships/hyperlink" Target="https://github.com/melnikvitaly/workshops/blob/main/workshop-7-final_project/eye/camera/dots.py#L243" TargetMode="External"/><Relationship Id="rId8" Type="http://schemas.openxmlformats.org/officeDocument/2006/relationships/hyperlink" Target="https://github.com/melnikvitaly/workshops/blob/main/workshop-7-final_project/docs/protocol.md" TargetMode="External"/><Relationship Id="rId9" Type="http://schemas.openxmlformats.org/officeDocument/2006/relationships/hyperlink" Target="https://github.com/melnikvitaly/workshops/blob/main/workshop-7-final_project/firmware/aim/src/tasks/LinkUart.hpp" TargetMode="External"/><Relationship Id="rId10" Type="http://schemas.openxmlformats.org/officeDocument/2006/relationships/hyperlink" Target="https://github.com/melnikvitaly/workshops/blob/main/workshop-7-final_project/eye/camera/serial_link.py" TargetMode="External"/><Relationship Id="rId11" Type="http://schemas.openxmlformats.org/officeDocument/2006/relationships/hyperlink" Target="https://github.com/melnikvitaly/workshops/blob/main/workshop-7-final_project/eye/camera/tracker.py" TargetMode="Externa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firmware/aim/src/transport/Protocol.hpp#L184-L188" TargetMode="External"/><Relationship Id="rId2" Type="http://schemas.openxmlformats.org/officeDocument/2006/relationships/hyperlink" Target="https://github.com/melnikvitaly/workshops/blob/main/workshop-7-final_project/firmware/aim/src/Pinout.hpp#L39" TargetMode="External"/><Relationship Id="rId3" Type="http://schemas.openxmlformats.org/officeDocument/2006/relationships/hyperlink" Target="https://github.com/melnikvitaly/workshops/blob/main/workshop-7-final_project/firmware/aim/src/drivers/Relay.hpp#L17" TargetMode="External"/><Relationship Id="rId4" Type="http://schemas.openxmlformats.org/officeDocument/2006/relationships/hyperlink" Target="https://github.com/melnikvitaly/workshops/blob/main/workshop-7-final_project/firmware/aim/src/tasks/Logger.hpp#L29" TargetMode="External"/><Relationship Id="rId5" Type="http://schemas.openxmlformats.org/officeDocument/2006/relationships/hyperlink" Target="https://github.com/melnikvitaly/workshops/blob/main/workshop-7-final_project/firmware/aim/src/ipc/LogQueue.hpp#L27" TargetMode="External"/><Relationship Id="rId6" Type="http://schemas.openxmlformats.org/officeDocument/2006/relationships/hyperlink" Target="https://github.com/melnikvitaly/workshops/blob/main/workshop-7-final_project/eye/camera/serial_link.py#L453-L455" TargetMode="External"/><Relationship Id="rId7" Type="http://schemas.openxmlformats.org/officeDocument/2006/relationships/hyperlink" Target="https://github.com/melnikvitaly/workshops/blob/main/workshop-7-final_project/eye/camera/recenter.py#L52-L59" TargetMode="External"/><Relationship Id="rId8" Type="http://schemas.openxmlformats.org/officeDocument/2006/relationships/hyperlink" Target="https://github.com/melnikvitaly/workshops/blob/main/workshop-7-final_project/eye/camera/tracker.py#L73-L78" TargetMode="External"/><Relationship Id="rId9" Type="http://schemas.openxmlformats.org/officeDocument/2006/relationships/hyperlink" Target="https://github.com/melnikvitaly/workshops/blob/main/workshop-7-final_project/eye/camera/speed.py#L50" TargetMode="External"/><Relationship Id="rId10" Type="http://schemas.openxmlformats.org/officeDocument/2006/relationships/hyperlink" Target="https://github.com/melnikvitaly/workshops/blob/main/workshop-7-final_project/firmware/aim/src/parts/Laser.hpp" TargetMode="External"/><Relationship Id="rId11" Type="http://schemas.openxmlformats.org/officeDocument/2006/relationships/hyperlink" Target="https://github.com/melnikvitaly/workshops/blob/main/workshop-7-final_project/firmware/aim/src/tasks/Logger.hpp" TargetMode="External"/><Relationship Id="rId12" Type="http://schemas.openxmlformats.org/officeDocument/2006/relationships/hyperlink" Target="https://github.com/melnikvitaly/workshops/blob/main/workshop-7-final_project/eye/camera/app_window.py" TargetMode="External"/><Relationship Id="rId13" Type="http://schemas.openxmlformats.org/officeDocument/2006/relationships/hyperlink" Target="https://github.com/melnikvitaly/workshops/blob/main/workshop-7-final_project/eye/camera/recenter.py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hyperlink" Target="https://github.com/melnikvitaly/workshops/blob/main/workshop-7-final_project/docs/assestment/verification/README.md" TargetMode="External"/><Relationship Id="rId7" Type="http://schemas.openxmlformats.org/officeDocument/2006/relationships/hyperlink" Target="https://github.com/melnikvitaly/workshops/blob/main/workshop-7-final_project/eye/camera/error_graph.py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hyperlink" Target="https://github.com/melnikvitaly/workshops/tree/main/workshop-7-final_project/images" TargetMode="External"/><Relationship Id="rId5" Type="http://schemas.openxmlformats.org/officeDocument/2006/relationships/hyperlink" Target="https://github.com/melnikvitaly/workshops/blob/main/workshop-7-final_project/docs/assestment/logs_example/esp.log" TargetMode="External"/><Relationship Id="rId6" Type="http://schemas.openxmlformats.org/officeDocument/2006/relationships/hyperlink" Target="https://github.com/melnikvitaly/workshops/blob/main/workshop-7-final_project/docs/assestment/logs_example/tracker.log" TargetMode="External"/><Relationship Id="rId7" Type="http://schemas.openxmlformats.org/officeDocument/2006/relationships/hyperlink" Target="https://youtu.be/ivoaDATIsoo" TargetMode="External"/><Relationship Id="rId8" Type="http://schemas.openxmlformats.org/officeDocument/2006/relationships/hyperlink" Target="https://youtu.be/ivoaDATIsoo" TargetMode="External"/><Relationship Id="rId9" Type="http://schemas.openxmlformats.org/officeDocument/2006/relationships/hyperlink" Target="https://youtu.be/ivoaDATIsoo" TargetMode="External"/><Relationship Id="rId10" Type="http://schemas.openxmlformats.org/officeDocument/2006/relationships/image" Target="../media/image3.png"/><Relationship Id="rId1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hyperlink" Target="https://github.com/melnikvitaly/workshops/blob/main/workshop-7-final_project/README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7;p1"/>
          <p:cNvSpPr/>
          <p:nvPr/>
        </p:nvSpPr>
        <p:spPr>
          <a:xfrm>
            <a:off x="812880" y="812880"/>
            <a:ext cx="36396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Захист проекту з Embedded </a:t>
            </a: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Development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8;p1"/>
          <p:cNvSpPr/>
          <p:nvPr/>
        </p:nvSpPr>
        <p:spPr>
          <a:xfrm>
            <a:off x="812880" y="1203840"/>
            <a:ext cx="66024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ПК-</a:t>
            </a:r>
            <a:r>
              <a:rPr lang="uk-UA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керований </a:t>
            </a:r>
            <a:r>
              <a:rPr lang="uk-UA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лазерний </a:t>
            </a:r>
            <a:r>
              <a:rPr lang="uk-UA" sz="30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гімбал</a:t>
            </a:r>
            <a:endParaRPr lang="uk-UA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9;p1"/>
          <p:cNvSpPr/>
          <p:nvPr/>
        </p:nvSpPr>
        <p:spPr>
          <a:xfrm>
            <a:off x="812880" y="1876320"/>
            <a:ext cx="1088208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6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FreeRTOS, PID, OpenCV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20;p1"/>
          <p:cNvSpPr/>
          <p:nvPr/>
        </p:nvSpPr>
        <p:spPr>
          <a:xfrm>
            <a:off x="812880" y="2338560"/>
            <a:ext cx="6602400" cy="2710800"/>
          </a:xfrm>
          <a:prstGeom prst="roundRect">
            <a:avLst>
              <a:gd name="adj" fmla="val 5619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1;p1"/>
          <p:cNvSpPr/>
          <p:nvPr/>
        </p:nvSpPr>
        <p:spPr>
          <a:xfrm>
            <a:off x="1168560" y="2694240"/>
            <a:ext cx="1700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Студент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Google Shape;22;p1"/>
          <p:cNvSpPr/>
          <p:nvPr/>
        </p:nvSpPr>
        <p:spPr>
          <a:xfrm>
            <a:off x="2860920" y="2724480"/>
            <a:ext cx="10875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Vitaly Melnik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3;p1"/>
          <p:cNvSpPr/>
          <p:nvPr/>
        </p:nvSpPr>
        <p:spPr>
          <a:xfrm>
            <a:off x="1168560" y="3115800"/>
            <a:ext cx="1700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Група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24;p1"/>
          <p:cNvSpPr/>
          <p:nvPr/>
        </p:nvSpPr>
        <p:spPr>
          <a:xfrm>
            <a:off x="2870280" y="3133440"/>
            <a:ext cx="1576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EMB_7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5;p1"/>
          <p:cNvSpPr/>
          <p:nvPr/>
        </p:nvSpPr>
        <p:spPr>
          <a:xfrm>
            <a:off x="1168560" y="3537360"/>
            <a:ext cx="1700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Курс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26;p1"/>
          <p:cNvSpPr/>
          <p:nvPr/>
        </p:nvSpPr>
        <p:spPr>
          <a:xfrm>
            <a:off x="2860920" y="3537360"/>
            <a:ext cx="20379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Embedded Development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27;p1"/>
          <p:cNvSpPr/>
          <p:nvPr/>
        </p:nvSpPr>
        <p:spPr>
          <a:xfrm>
            <a:off x="1168560" y="3958920"/>
            <a:ext cx="1700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Дата захисту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28;p1"/>
          <p:cNvSpPr/>
          <p:nvPr/>
        </p:nvSpPr>
        <p:spPr>
          <a:xfrm>
            <a:off x="2870280" y="3993120"/>
            <a:ext cx="15069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2026/9/29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29;p1"/>
          <p:cNvSpPr/>
          <p:nvPr/>
        </p:nvSpPr>
        <p:spPr>
          <a:xfrm>
            <a:off x="1168560" y="4413600"/>
            <a:ext cx="170028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GitHub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30;p1"/>
          <p:cNvSpPr/>
          <p:nvPr/>
        </p:nvSpPr>
        <p:spPr>
          <a:xfrm>
            <a:off x="2860920" y="4431240"/>
            <a:ext cx="15948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1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sng" strike="noStrike">
                <a:solidFill>
                  <a:schemeClr val="hlink"/>
                </a:solidFill>
                <a:effectLst/>
                <a:uFillTx/>
                <a:latin typeface="Nunito Sans"/>
                <a:ea typeface="Nunito Sans"/>
                <a:hlinkClick r:id="rId1"/>
              </a:rPr>
              <a:t>README.md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Гімбал з лазером (AIM)" descr="Фото гімбала AIM з лазерним модулем"/>
          <p:cNvSpPr/>
          <p:nvPr/>
        </p:nvSpPr>
        <p:spPr>
          <a:xfrm>
            <a:off x="7828560" y="812880"/>
            <a:ext cx="3437640" cy="2736360"/>
          </a:xfrm>
          <a:prstGeom prst="roundRect">
            <a:avLst>
              <a:gd name="adj" fmla="val 5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Вікно eye-app" descr="Знімок екрана застосунку eye-app"/>
          <p:cNvSpPr/>
          <p:nvPr/>
        </p:nvSpPr>
        <p:spPr>
          <a:xfrm>
            <a:off x="7862400" y="3700080"/>
            <a:ext cx="2189880" cy="1299240"/>
          </a:xfrm>
          <a:prstGeom prst="roundRect">
            <a:avLst>
              <a:gd name="adj" fmla="val 5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" name="QR відео-демо" descr="QR-код на відео-демонстрацію">
            <a:hlinkClick r:id="rId4"/>
          </p:cNvPr>
          <p:cNvPicPr/>
          <p:nvPr/>
        </p:nvPicPr>
        <p:blipFill>
          <a:blip r:embed="rId5"/>
          <a:stretch/>
        </p:blipFill>
        <p:spPr>
          <a:xfrm>
            <a:off x="10202760" y="3700080"/>
            <a:ext cx="1029240" cy="1029240"/>
          </a:xfrm>
          <a:prstGeom prst="rect">
            <a:avLst/>
          </a:prstGeom>
          <a:noFill/>
          <a:ln w="6350">
            <a:solidFill>
              <a:srgbClr val="D9D9D9"/>
            </a:solidFill>
            <a:round/>
          </a:ln>
        </p:spPr>
      </p:pic>
      <p:sp>
        <p:nvSpPr>
          <p:cNvPr id="27" name="Підпис QR"/>
          <p:cNvSpPr/>
          <p:nvPr/>
        </p:nvSpPr>
        <p:spPr>
          <a:xfrm>
            <a:off x="10202760" y="4770000"/>
            <a:ext cx="102924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00000"/>
              </a:lnSpc>
            </a:pPr>
            <a:r>
              <a:rPr lang="uk-UA" sz="1050" b="1" u="none" strike="noStrike">
                <a:solidFill>
                  <a:srgbClr val="0563C1"/>
                </a:solidFill>
                <a:effectLst/>
                <a:uFillTx/>
                <a:latin typeface="Nunito Sans"/>
                <a:ea typeface="Nunito Sans"/>
                <a:hlinkClick r:id="rId6"/>
              </a:rPr>
              <a:t>Video Demo</a:t>
            </a:r>
            <a:endParaRPr lang="uk-UA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Підпис колажу"/>
          <p:cNvSpPr/>
          <p:nvPr/>
        </p:nvSpPr>
        <p:spPr>
          <a:xfrm>
            <a:off x="7715880" y="5050080"/>
            <a:ext cx="366228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uk-UA" sz="105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гімбал AIM з лазером і вікно eye-app</a:t>
            </a:r>
            <a:endParaRPr lang="uk-UA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44;p3"/>
          <p:cNvSpPr/>
          <p:nvPr/>
        </p:nvSpPr>
        <p:spPr>
          <a:xfrm>
            <a:off x="812880" y="812880"/>
            <a:ext cx="137844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45;p3"/>
          <p:cNvSpPr/>
          <p:nvPr/>
        </p:nvSpPr>
        <p:spPr>
          <a:xfrm>
            <a:off x="952560" y="876240"/>
            <a:ext cx="11484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ПРОБЛЕМА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46;p3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Проблема: </a:t>
            </a: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контекст і </a:t>
            </a: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масштаб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" name="Google Shape;47;p3"/>
          <p:cNvGraphicFramePr/>
          <p:nvPr/>
        </p:nvGraphicFramePr>
        <p:xfrm>
          <a:off x="812880" y="1978560"/>
          <a:ext cx="10565640" cy="4158000"/>
        </p:xfrm>
        <a:graphic>
          <a:graphicData uri="http://schemas.openxmlformats.org/drawingml/2006/table">
            <a:tbl>
              <a:tblPr/>
              <a:tblGrid>
                <a:gridCol w="2324520"/>
                <a:gridCol w="8241480"/>
              </a:tblGrid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uk-UA" sz="2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Параметр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uk-UA" sz="2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Значення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uk-UA" sz="2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Завдання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Навести лазерну точку на ціль (симуляцію або інший лазер), використовуючи камеру як зворотний зв'язок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Затримка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Камера → розпізнавання → канал зв'язку займають 20–200 мс. 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Сервоприводи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Мертва зона, люфт, провисання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Безпека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Лазер не повинен вмикатися помилково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20"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Обсяг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1920" tIns="61920" rIns="61920" bIns="61920" anchor="t">
                      <a:noAutofit/>
                    </a:bodyPr>
                    <a:p>
                      <a:pPr>
                        <a:lnSpc>
                          <a:spcPct val="14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Nunito Sans"/>
                        </a:rPr>
                        <a:t>Навчальний проєкт: один канал UART, розпізнавання виконує ПК, лог пишеться на SD-картку</a:t>
                      </a:r>
                      <a:endParaRPr lang="uk-UA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1920" marR="61920" marT="61920" marB="619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47"/>
          <p:cNvSpPr/>
          <p:nvPr/>
        </p:nvSpPr>
        <p:spPr>
          <a:xfrm>
            <a:off x="812880" y="6282360"/>
            <a:ext cx="17794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README.md#about-the-project</a:t>
            </a:r>
            <a:endParaRPr lang="uk-U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54;p4"/>
          <p:cNvSpPr/>
          <p:nvPr/>
        </p:nvSpPr>
        <p:spPr>
          <a:xfrm>
            <a:off x="812880" y="812880"/>
            <a:ext cx="248184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55;p4"/>
          <p:cNvSpPr/>
          <p:nvPr/>
        </p:nvSpPr>
        <p:spPr>
          <a:xfrm>
            <a:off x="952560" y="876240"/>
            <a:ext cx="2301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56;p4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Рішення: загальна картина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" name="Picture 56" descr="data-flow.png"/>
          <p:cNvPicPr/>
          <p:nvPr/>
        </p:nvPicPr>
        <p:blipFill>
          <a:blip r:embed="rId1"/>
          <a:stretch/>
        </p:blipFill>
        <p:spPr>
          <a:xfrm>
            <a:off x="812880" y="2044800"/>
            <a:ext cx="10564920" cy="379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Box 57"/>
          <p:cNvSpPr/>
          <p:nvPr/>
        </p:nvSpPr>
        <p:spPr>
          <a:xfrm>
            <a:off x="812880" y="6282360"/>
            <a:ext cx="11746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docs/architecture.md</a:t>
            </a:r>
            <a:endParaRPr lang="uk-U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64;p5"/>
          <p:cNvSpPr/>
          <p:nvPr/>
        </p:nvSpPr>
        <p:spPr>
          <a:xfrm>
            <a:off x="812880" y="812880"/>
            <a:ext cx="248184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65;p5"/>
          <p:cNvSpPr/>
          <p:nvPr/>
        </p:nvSpPr>
        <p:spPr>
          <a:xfrm>
            <a:off x="952560" y="876240"/>
            <a:ext cx="2301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66;p5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Чому швидкість, а не позиція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Box 92"/>
          <p:cNvSpPr/>
          <p:nvPr/>
        </p:nvSpPr>
        <p:spPr>
          <a:xfrm>
            <a:off x="812880" y="6282360"/>
            <a:ext cx="51238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docs/servo-control-strategies.md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docs/pid_controller_equations_positional_vs_velocity.md</a:t>
            </a:r>
            <a:endParaRPr lang="uk-U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Rounded Rectangle 93"/>
          <p:cNvSpPr/>
          <p:nvPr/>
        </p:nvSpPr>
        <p:spPr>
          <a:xfrm>
            <a:off x="812880" y="1779840"/>
            <a:ext cx="10882080" cy="1978560"/>
          </a:xfrm>
          <a:prstGeom prst="roundRect">
            <a:avLst>
              <a:gd name="adj" fmla="val 8000"/>
            </a:avLst>
          </a:prstGeom>
          <a:solidFill>
            <a:srgbClr val="C5D6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uk-UA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" name="TextBox 94"/>
          <p:cNvSpPr/>
          <p:nvPr/>
        </p:nvSpPr>
        <p:spPr>
          <a:xfrm>
            <a:off x="1066680" y="1929960"/>
            <a:ext cx="1037412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uk-UA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PositionalPid — швидкість (за замовчуванням)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Rounded Rectangle 95"/>
          <p:cNvSpPr/>
          <p:nvPr/>
        </p:nvSpPr>
        <p:spPr>
          <a:xfrm>
            <a:off x="1066680" y="2400120"/>
            <a:ext cx="1865520" cy="43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Picture 96" descr="image.png"/>
          <p:cNvPicPr/>
          <p:nvPr/>
        </p:nvPicPr>
        <p:blipFill>
          <a:blip r:embed="rId3"/>
          <a:stretch/>
        </p:blipFill>
        <p:spPr>
          <a:xfrm>
            <a:off x="2934000" y="2554920"/>
            <a:ext cx="258480" cy="12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Rounded Rectangle 97"/>
          <p:cNvSpPr/>
          <p:nvPr/>
        </p:nvSpPr>
        <p:spPr>
          <a:xfrm>
            <a:off x="3193920" y="2400120"/>
            <a:ext cx="1865520" cy="43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" name="Picture 98" descr="image.png"/>
          <p:cNvPicPr/>
          <p:nvPr/>
        </p:nvPicPr>
        <p:blipFill>
          <a:blip r:embed="rId4"/>
          <a:stretch/>
        </p:blipFill>
        <p:spPr>
          <a:xfrm>
            <a:off x="5060880" y="2554920"/>
            <a:ext cx="258480" cy="12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Rounded Rectangle 99"/>
          <p:cNvSpPr/>
          <p:nvPr/>
        </p:nvSpPr>
        <p:spPr>
          <a:xfrm>
            <a:off x="5320800" y="2400120"/>
            <a:ext cx="1865520" cy="43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швидкість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Picture 100" descr="image.png"/>
          <p:cNvPicPr/>
          <p:nvPr/>
        </p:nvPicPr>
        <p:blipFill>
          <a:blip r:embed="rId5"/>
          <a:stretch/>
        </p:blipFill>
        <p:spPr>
          <a:xfrm>
            <a:off x="7188120" y="2554920"/>
            <a:ext cx="258480" cy="12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Rounded Rectangle 101"/>
          <p:cNvSpPr/>
          <p:nvPr/>
        </p:nvSpPr>
        <p:spPr>
          <a:xfrm>
            <a:off x="7448040" y="2400120"/>
            <a:ext cx="1865520" cy="438480"/>
          </a:xfrm>
          <a:prstGeom prst="roundRect">
            <a:avLst>
              <a:gd name="adj" fmla="val 16000"/>
            </a:avLst>
          </a:prstGeom>
          <a:solidFill>
            <a:srgbClr val="9FBED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Перед серво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Σ кожні 20мс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" name="Picture 102" descr="image.png"/>
          <p:cNvPicPr/>
          <p:nvPr/>
        </p:nvPicPr>
        <p:blipFill>
          <a:blip r:embed="rId6"/>
          <a:stretch/>
        </p:blipFill>
        <p:spPr>
          <a:xfrm>
            <a:off x="9315000" y="2554920"/>
            <a:ext cx="258480" cy="12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Rounded Rectangle 103"/>
          <p:cNvSpPr/>
          <p:nvPr/>
        </p:nvSpPr>
        <p:spPr>
          <a:xfrm>
            <a:off x="9575280" y="2400120"/>
            <a:ext cx="1865520" cy="43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сервопривода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Box 104"/>
          <p:cNvSpPr/>
          <p:nvPr/>
        </p:nvSpPr>
        <p:spPr>
          <a:xfrm>
            <a:off x="1066680" y="2990160"/>
            <a:ext cx="103741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стає швидкістю; ESP32 інтегрує її в кут щотику.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Rounded Rectangle 105"/>
          <p:cNvSpPr/>
          <p:nvPr/>
        </p:nvSpPr>
        <p:spPr>
          <a:xfrm>
            <a:off x="812880" y="4020120"/>
            <a:ext cx="10882080" cy="1978560"/>
          </a:xfrm>
          <a:prstGeom prst="roundRect">
            <a:avLst>
              <a:gd name="adj" fmla="val 8000"/>
            </a:avLst>
          </a:prstGeom>
          <a:solidFill>
            <a:srgbClr val="ECE7E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uk-UA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6" name="TextBox 106"/>
          <p:cNvSpPr/>
          <p:nvPr/>
        </p:nvSpPr>
        <p:spPr>
          <a:xfrm>
            <a:off x="1066680" y="4169880"/>
            <a:ext cx="1037412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uk-UA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VelocityEquationPid — приріст кута 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Rounded Rectangle 107"/>
          <p:cNvSpPr/>
          <p:nvPr/>
        </p:nvSpPr>
        <p:spPr>
          <a:xfrm>
            <a:off x="1066680" y="4640040"/>
            <a:ext cx="1865520" cy="43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похибка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Picture 108" descr="image.png"/>
          <p:cNvPicPr/>
          <p:nvPr/>
        </p:nvPicPr>
        <p:blipFill>
          <a:blip r:embed="rId7"/>
          <a:stretch/>
        </p:blipFill>
        <p:spPr>
          <a:xfrm>
            <a:off x="2934000" y="4794840"/>
            <a:ext cx="258480" cy="12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Rounded Rectangle 109"/>
          <p:cNvSpPr/>
          <p:nvPr/>
        </p:nvSpPr>
        <p:spPr>
          <a:xfrm>
            <a:off x="3193920" y="4640040"/>
            <a:ext cx="1865520" cy="43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PID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" name="Picture 110" descr="image.png"/>
          <p:cNvPicPr/>
          <p:nvPr/>
        </p:nvPicPr>
        <p:blipFill>
          <a:blip r:embed="rId8"/>
          <a:stretch/>
        </p:blipFill>
        <p:spPr>
          <a:xfrm>
            <a:off x="5060880" y="4794840"/>
            <a:ext cx="258480" cy="12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Rounded Rectangle 111"/>
          <p:cNvSpPr/>
          <p:nvPr/>
        </p:nvSpPr>
        <p:spPr>
          <a:xfrm>
            <a:off x="5320800" y="4640040"/>
            <a:ext cx="1865520" cy="43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приріст Δu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Picture 112" descr="image.png"/>
          <p:cNvPicPr/>
          <p:nvPr/>
        </p:nvPicPr>
        <p:blipFill>
          <a:blip r:embed="rId9"/>
          <a:stretch/>
        </p:blipFill>
        <p:spPr>
          <a:xfrm>
            <a:off x="7188120" y="4794840"/>
            <a:ext cx="258480" cy="12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Rounded Rectangle 113"/>
          <p:cNvSpPr/>
          <p:nvPr/>
        </p:nvSpPr>
        <p:spPr>
          <a:xfrm>
            <a:off x="7448040" y="4640040"/>
            <a:ext cx="1865520" cy="438480"/>
          </a:xfrm>
          <a:prstGeom prst="roundRect">
            <a:avLst>
              <a:gd name="adj" fmla="val 16000"/>
            </a:avLst>
          </a:prstGeom>
          <a:solidFill>
            <a:srgbClr val="D9CF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кут += Δu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4" name="Picture 114" descr="image.png"/>
          <p:cNvPicPr/>
          <p:nvPr/>
        </p:nvPicPr>
        <p:blipFill>
          <a:blip r:embed="rId10"/>
          <a:stretch/>
        </p:blipFill>
        <p:spPr>
          <a:xfrm>
            <a:off x="9315000" y="4794840"/>
            <a:ext cx="258480" cy="12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Rounded Rectangle 115"/>
          <p:cNvSpPr/>
          <p:nvPr/>
        </p:nvSpPr>
        <p:spPr>
          <a:xfrm>
            <a:off x="9575280" y="4640040"/>
            <a:ext cx="1865520" cy="4384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000" tIns="18000" rIns="45000" bIns="18000" anchor="ctr">
            <a:noAutofit/>
          </a:bodyPr>
          <a:p>
            <a:pPr algn="ctr">
              <a:lnSpc>
                <a:spcPct val="105000"/>
              </a:lnSpc>
            </a:pPr>
            <a:r>
              <a:rPr lang="uk-UA" sz="12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сервопривід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16"/>
          <p:cNvSpPr/>
          <p:nvPr/>
        </p:nvSpPr>
        <p:spPr>
          <a:xfrm>
            <a:off x="1066680" y="5230080"/>
            <a:ext cx="10374120" cy="5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40000"/>
              </a:lnSpc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Вихід PID — приріст кута Δu; кут += Δu, без інтегратора.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endParaRPr lang="uk-UA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102;p6"/>
          <p:cNvSpPr/>
          <p:nvPr/>
        </p:nvSpPr>
        <p:spPr>
          <a:xfrm>
            <a:off x="812880" y="812880"/>
            <a:ext cx="248184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3;p6"/>
          <p:cNvSpPr/>
          <p:nvPr/>
        </p:nvSpPr>
        <p:spPr>
          <a:xfrm>
            <a:off x="952560" y="876240"/>
            <a:ext cx="2301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4;p6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Архітектура: задачі FreeRTOS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05;p6"/>
          <p:cNvSpPr/>
          <p:nvPr/>
        </p:nvSpPr>
        <p:spPr>
          <a:xfrm>
            <a:off x="812880" y="5647680"/>
            <a:ext cx="4673160" cy="601920"/>
          </a:xfrm>
          <a:prstGeom prst="roundRect">
            <a:avLst>
              <a:gd name="adj" fmla="val 24394"/>
            </a:avLst>
          </a:prstGeom>
          <a:solidFill>
            <a:srgbClr val="FCF2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Запис на SD-картку може зависнути на 100–250 мс. </a:t>
            </a:r>
            <a:endParaRPr lang="uk-U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Це не повинно ніколи дійти до </a:t>
            </a:r>
            <a:r>
              <a:rPr lang="uk-UA" sz="13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ctrl</a:t>
            </a:r>
            <a:r>
              <a:rPr lang="uk-UA" sz="13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uk-U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06;p6"/>
          <p:cNvSpPr/>
          <p:nvPr/>
        </p:nvSpPr>
        <p:spPr>
          <a:xfrm>
            <a:off x="812880" y="5658840"/>
            <a:ext cx="5663880" cy="5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/>
            <a:endParaRPr lang="uk-UA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Picture 106" descr="image.png"/>
          <p:cNvPicPr/>
          <p:nvPr/>
        </p:nvPicPr>
        <p:blipFill>
          <a:blip r:embed="rId1"/>
          <a:stretch/>
        </p:blipFill>
        <p:spPr>
          <a:xfrm>
            <a:off x="1554120" y="1790280"/>
            <a:ext cx="9082800" cy="370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Box 107"/>
          <p:cNvSpPr/>
          <p:nvPr/>
        </p:nvSpPr>
        <p:spPr>
          <a:xfrm>
            <a:off x="812880" y="6282360"/>
            <a:ext cx="32410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docs/diagrams/freertos-tasks.md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firmware/aim/src/tasks/</a:t>
            </a:r>
            <a:endParaRPr lang="uk-U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07;p6"/>
          <p:cNvSpPr/>
          <p:nvPr/>
        </p:nvSpPr>
        <p:spPr>
          <a:xfrm>
            <a:off x="7112160" y="5647680"/>
            <a:ext cx="4266000" cy="362880"/>
          </a:xfrm>
          <a:prstGeom prst="roundRect">
            <a:avLst>
              <a:gd name="adj" fmla="val 24394"/>
            </a:avLst>
          </a:prstGeom>
          <a:solidFill>
            <a:srgbClr val="FCF2B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108;p6"/>
          <p:cNvSpPr/>
          <p:nvPr/>
        </p:nvSpPr>
        <p:spPr>
          <a:xfrm>
            <a:off x="7264440" y="5736600"/>
            <a:ext cx="3915720" cy="2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1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Watchdog: ~1с → </a:t>
            </a:r>
            <a:r>
              <a:rPr lang="uk-UA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panic-reset</a:t>
            </a:r>
            <a:r>
              <a:rPr lang="uk-UA" sz="140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, канал → NONE. </a:t>
            </a:r>
            <a:r>
              <a:rPr lang="uk-UA" sz="11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main.cpp:161</a:t>
            </a:r>
            <a:endParaRPr lang="uk-U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114;p7"/>
          <p:cNvSpPr/>
          <p:nvPr/>
        </p:nvSpPr>
        <p:spPr>
          <a:xfrm>
            <a:off x="812880" y="812880"/>
            <a:ext cx="248184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Google Shape;115;p7"/>
          <p:cNvSpPr/>
          <p:nvPr/>
        </p:nvSpPr>
        <p:spPr>
          <a:xfrm>
            <a:off x="952560" y="876240"/>
            <a:ext cx="2301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РІШЕННЯ / АРХІТЕКТУРА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16;p7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Стани системи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17;p7"/>
          <p:cNvSpPr/>
          <p:nvPr/>
        </p:nvSpPr>
        <p:spPr>
          <a:xfrm>
            <a:off x="812880" y="5349960"/>
            <a:ext cx="10882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1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Лазер дозволений лише в станах </a:t>
            </a:r>
            <a:r>
              <a:rPr lang="uk-UA" sz="11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ZONE_TOUR</a:t>
            </a:r>
            <a:r>
              <a:rPr lang="uk-UA" sz="11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 і </a:t>
            </a:r>
            <a:r>
              <a:rPr lang="uk-UA" sz="11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ARMED</a:t>
            </a:r>
            <a:r>
              <a:rPr lang="uk-UA" sz="11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.</a:t>
            </a:r>
            <a:endParaRPr lang="uk-UA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19;p7"/>
          <p:cNvSpPr/>
          <p:nvPr/>
        </p:nvSpPr>
        <p:spPr>
          <a:xfrm>
            <a:off x="812880" y="5549760"/>
            <a:ext cx="10882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1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Немає даних 300 мс → </a:t>
            </a:r>
            <a:r>
              <a:rPr lang="uk-UA" sz="11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LINK_LOST</a:t>
            </a:r>
            <a:r>
              <a:rPr lang="uk-UA" sz="11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, мотори зупиняються.</a:t>
            </a:r>
            <a:endParaRPr lang="uk-UA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0;p7"/>
          <p:cNvSpPr/>
          <p:nvPr/>
        </p:nvSpPr>
        <p:spPr>
          <a:xfrm>
            <a:off x="812880" y="5780160"/>
            <a:ext cx="1088208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150" b="0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E-stop: ISR → сповіщення задачі → </a:t>
            </a:r>
            <a:r>
              <a:rPr lang="uk-UA" sz="115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safety (кнопки не підключена)</a:t>
            </a:r>
            <a:endParaRPr lang="uk-UA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Picture 120" descr="image.png"/>
          <p:cNvPicPr/>
          <p:nvPr/>
        </p:nvPicPr>
        <p:blipFill>
          <a:blip r:embed="rId1"/>
          <a:stretch/>
        </p:blipFill>
        <p:spPr>
          <a:xfrm>
            <a:off x="812880" y="1897920"/>
            <a:ext cx="10564920" cy="3193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TextBox 121"/>
          <p:cNvSpPr/>
          <p:nvPr/>
        </p:nvSpPr>
        <p:spPr>
          <a:xfrm>
            <a:off x="812880" y="6282360"/>
            <a:ext cx="374760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"/>
              </a:rPr>
              <a:t>docs/diagrams/aim-states.md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3"/>
              </a:rPr>
              <a:t>firmware/aim/src/StateMachine.hpp</a:t>
            </a:r>
            <a:endParaRPr lang="uk-U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128;p8"/>
          <p:cNvSpPr/>
          <p:nvPr/>
        </p:nvSpPr>
        <p:spPr>
          <a:xfrm>
            <a:off x="812880" y="812880"/>
            <a:ext cx="146520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29;p8"/>
          <p:cNvSpPr/>
          <p:nvPr/>
        </p:nvSpPr>
        <p:spPr>
          <a:xfrm>
            <a:off x="952560" y="876240"/>
            <a:ext cx="125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2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30;p8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ключові рішення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7" name="Table 130"/>
          <p:cNvGraphicFramePr/>
          <p:nvPr/>
        </p:nvGraphicFramePr>
        <p:xfrm>
          <a:off x="812880" y="1691640"/>
          <a:ext cx="10564920" cy="4516200"/>
        </p:xfrm>
        <a:graphic>
          <a:graphicData uri="http://schemas.openxmlformats.org/drawingml/2006/table">
            <a:tbl>
              <a:tblPr/>
              <a:tblGrid>
                <a:gridCol w="733680"/>
                <a:gridCol w="4650480"/>
                <a:gridCol w="4031280"/>
                <a:gridCol w="1149840"/>
              </a:tblGrid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#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Чому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119988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1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Канали управління: </a:t>
                      </a: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AUTO_POSITIONAL</a:t>
                      </a: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 AUTO_VELOCITYEQUATION  / MANUAL</a:t>
                      </a: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/ </a:t>
                      </a: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NONE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Без прихованого змішування лише одний активний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"/>
                        </a:rPr>
                        <a:t>Ctrl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"/>
                        </a:rPr>
                        <a:t>AutoPositional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3"/>
                        </a:rPr>
                        <a:t>AutoVelocityEq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4"/>
                        </a:rPr>
                        <a:t>Manual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None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2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Обмеження робочої зони серво відповідно до конструкції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Gimbal.hpp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3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Вектор похибки нормалізований від [-1,1]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залежить від роздільної здатності камери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dots.py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4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Черга логів відкидає найстаріше, ніколи не блокується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Телеметрія може загубитися. Керування — ні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LogQueue.hpp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5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Обхід зони: лазер малює зону за годинниковою стрілкою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Неправильний напрямок = некоректна робота з осями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ZoneTour.hpp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6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Команди для камери в plain text форматі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Хоча можна було б теж використати </a:t>
                      </a: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Protocol.hpp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7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Розбір JSON: власний парсер замість </a:t>
                      </a: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cJSON виконує malloc на кожен розбір; проєкт забороняє купу після ініціалізації (coding.md)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LinkUart.hpp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8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NDJSON + CRC-8 для конфігурації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Рідко змінюється, критична помилка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Crc8.hpp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520">
                <a:tc>
                  <a:txBody>
                    <a:bodyPr lIns="12672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8998A9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9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Анти-windup: умовне інтегрування + обмеження інтегральної складової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Інтеграл накопичується лише коли це не заглиблює вже насичений вихід далі в упор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PositionalPid.hpp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8" name="TextBox 131"/>
          <p:cNvSpPr/>
          <p:nvPr/>
        </p:nvSpPr>
        <p:spPr>
          <a:xfrm>
            <a:off x="812880" y="6289920"/>
            <a:ext cx="1862280" cy="1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9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4"/>
              </a:rPr>
              <a:t>docs/coding.md</a:t>
            </a:r>
            <a:r>
              <a:rPr lang="uk-UA" sz="9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9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5"/>
              </a:rPr>
              <a:t>docs/interfaces.md</a:t>
            </a:r>
            <a:endParaRPr lang="uk-U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163;p9"/>
          <p:cNvSpPr/>
          <p:nvPr/>
        </p:nvSpPr>
        <p:spPr>
          <a:xfrm>
            <a:off x="812880" y="812880"/>
            <a:ext cx="146520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64;p9"/>
          <p:cNvSpPr/>
          <p:nvPr/>
        </p:nvSpPr>
        <p:spPr>
          <a:xfrm>
            <a:off x="952560" y="876240"/>
            <a:ext cx="125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2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РЕАЛІЗАЦІЯ</a:t>
            </a:r>
            <a:endParaRPr lang="uk-UA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65;p9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Реалізація: код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65"/>
          <p:cNvSpPr/>
          <p:nvPr/>
        </p:nvSpPr>
        <p:spPr>
          <a:xfrm>
            <a:off x="812880" y="1784160"/>
            <a:ext cx="53388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uk-UA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AIM — ESP32-S3 (гімбал-контролер)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66"/>
          <p:cNvSpPr/>
          <p:nvPr/>
        </p:nvSpPr>
        <p:spPr>
          <a:xfrm>
            <a:off x="6348960" y="1784160"/>
            <a:ext cx="533880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uk-UA" sz="1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Arial"/>
              </a:rPr>
              <a:t>EYE — PC (оператор і зір)</a:t>
            </a:r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4" name="Table 167"/>
          <p:cNvGraphicFramePr/>
          <p:nvPr/>
        </p:nvGraphicFramePr>
        <p:xfrm>
          <a:off x="812880" y="2098440"/>
          <a:ext cx="5339160" cy="423792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"/>
                        </a:rPr>
                        <a:t>main.cpp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входу: створює задачі, встановлює ISR E-stop, логує причину скидання.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"/>
                        </a:rPr>
                        <a:t>tasks/Ctrl.hpp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3"/>
                        </a:rPr>
                        <a:t>StateMachine.hpp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ctrl (20 мс): дренує cmd_q, крок ПІД.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керує </a:t>
                      </a: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4"/>
                        </a:rPr>
                        <a:t>Gimbal.hpp</a:t>
                      </a: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через один </a:t>
                      </a: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IInputChannel.hpp</a:t>
                      </a: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Стани: BOOT→SELFTEST→DISARMED→ARMED, ZONE_TOUR, LINK_LOST, FAULT.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tasks/Safety.hpp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safety: laserPermitted() — єдиний шлюз дозволу лазера.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tasks/LinkUart.hpp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link_uart: UART1 RX/TX, кадрування.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парсинг: </a:t>
                      </a: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Protocol.hpp</a:t>
                      </a: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tasks/Logger.hpp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Задача logger: запис на SD, єдина з правом довго блокуватись.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0"/>
                        </a:rPr>
                        <a:t>NoneChannel.hpp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1"/>
                        </a:rPr>
                        <a:t>ManualChannel.hpp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Порожній канал (гімбал стоїть) і ручне керування швидкістю з ПК, з таймаутом.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2"/>
                        </a:rPr>
                        <a:t>AutoPositional</a:t>
                      </a:r>
                      <a:br>
                        <a:rPr sz="1050"/>
                      </a:b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3"/>
                        </a:rPr>
                        <a:t>Channel.hpp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4"/>
                        </a:rPr>
                        <a:t>AutoVelocityEquation</a:t>
                      </a:r>
                      <a:br>
                        <a:rPr sz="1050"/>
                      </a:b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5"/>
                        </a:rPr>
                        <a:t>Channel.hpp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Два авто-режими наведення за похибкою EYE: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позиційний </a:t>
                      </a: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6"/>
                        </a:rPr>
                        <a:t>PositionalPid.hpp</a:t>
                      </a: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швидкість.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</a:t>
                      </a: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7"/>
                        </a:rPr>
                        <a:t>VelocityEquationPid.hpp</a:t>
                      </a: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 → дельта кута, moveTo().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5" name="Table 168"/>
          <p:cNvGraphicFramePr/>
          <p:nvPr/>
        </p:nvGraphicFramePr>
        <p:xfrm>
          <a:off x="6348960" y="2098440"/>
          <a:ext cx="5339160" cy="2788560"/>
        </p:xfrm>
        <a:graphic>
          <a:graphicData uri="http://schemas.openxmlformats.org/drawingml/2006/table">
            <a:tbl>
              <a:tblPr/>
              <a:tblGrid>
                <a:gridCol w="1849680"/>
                <a:gridCol w="3489840"/>
              </a:tblGrid>
              <a:tr h="29844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Файл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Опис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8"/>
                        </a:rPr>
                        <a:t>tracker.py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Головний цикл: захоплення кадру.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детекція: </a:t>
                      </a: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9"/>
                        </a:rPr>
                        <a:t>dots.py</a:t>
                      </a: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надсилання похибки: </a:t>
                      </a: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0"/>
                        </a:rPr>
                        <a:t>serial_link.py</a:t>
                      </a: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1"/>
                        </a:rPr>
                        <a:t>dots.py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Детекція червоної/зеленої точки (OpenCV), вектор похибки.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2"/>
                        </a:rPr>
                        <a:t>serial_link.py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Кадр E dx dy valid на UART1. Форсує dtr=False, rts=False.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→ на AIM читає </a:t>
                      </a: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3"/>
                        </a:rPr>
                        <a:t>Protocol.hpp</a:t>
                      </a: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4"/>
                        </a:rPr>
                        <a:t>recenter.py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Повертає лазер у центр зони, якщо точку не видно; викликається з </a:t>
                      </a:r>
                      <a:r>
                        <a:rPr lang="en-US" sz="110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5"/>
                        </a:rPr>
                        <a:t>tracker.py</a:t>
                      </a: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9880">
                <a:tc>
                  <a:txBody>
                    <a:bodyPr lIns="12672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6"/>
                        </a:rPr>
                        <a:t>controls.py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7"/>
                        </a:rPr>
                        <a:t>app_window.py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41760" bIns="417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Панель оператора: підсилення, канал, телеметрія, кнопка вогню.</a:t>
                      </a:r>
                      <a:endParaRPr lang="uk-UA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1760" marB="41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6" name="TextBox 169"/>
          <p:cNvSpPr/>
          <p:nvPr/>
        </p:nvSpPr>
        <p:spPr>
          <a:xfrm>
            <a:off x="812880" y="6289920"/>
            <a:ext cx="1601280" cy="13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9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8"/>
              </a:rPr>
              <a:t>firmware/aim/src/</a:t>
            </a:r>
            <a:r>
              <a:rPr lang="uk-UA" sz="9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9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29"/>
              </a:rPr>
              <a:t>eye/camera/</a:t>
            </a:r>
            <a:endParaRPr lang="uk-U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173;p10"/>
          <p:cNvSpPr/>
          <p:nvPr/>
        </p:nvSpPr>
        <p:spPr>
          <a:xfrm>
            <a:off x="812880" y="812880"/>
            <a:ext cx="146520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74;p10"/>
          <p:cNvSpPr/>
          <p:nvPr/>
        </p:nvSpPr>
        <p:spPr>
          <a:xfrm>
            <a:off x="952560" y="876240"/>
            <a:ext cx="125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75;p10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Проблеми, з якими зіткнувся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0" name="Table 175"/>
          <p:cNvGraphicFramePr/>
          <p:nvPr/>
        </p:nvGraphicFramePr>
        <p:xfrm>
          <a:off x="812880" y="1649880"/>
          <a:ext cx="10564200" cy="4357440"/>
        </p:xfrm>
        <a:graphic>
          <a:graphicData uri="http://schemas.openxmlformats.org/drawingml/2006/table">
            <a:tbl>
              <a:tblPr/>
              <a:tblGrid>
                <a:gridCol w="2849400"/>
                <a:gridCol w="2999520"/>
                <a:gridCol w="2049480"/>
                <a:gridCol w="1566360"/>
                <a:gridCol w="109980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uk-UA" sz="12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uk-UA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uk-UA" sz="12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uk-UA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uk-UA" sz="12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Рішення</a:t>
                      </a:r>
                      <a:endParaRPr lang="uk-UA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uk-UA" sz="12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uk-UA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uk-UA" sz="12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uk-UA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Авто-наведення «злітає» → LINK_LOST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Точка губиться на кілька кадрів · вектор похибки тягне гімбал за межі зони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Швидкість на краях зростає через кут до стіни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Похибку обмежено до ±1 (dots.py, Protocol.hpp), менша робоча зона 60°/30°. 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 кутами поки нічого не вирішено, потрібно вводити коефіцієнт, який залежатиме від кутів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"/>
                        </a:rPr>
                        <a:t>dots.py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"/>
                        </a:rPr>
                        <a:t>Protocol.hpp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3"/>
                        </a:rPr>
                        <a:t>Config.hpp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Неправильні кути MIN/MAX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Константи підібрані на око · переплутаний напрям обертання серво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Вручну підкалібрував, зробив ZONE_TOUR.</a:t>
                      </a:r>
                      <a:br>
                        <a:rPr sz="1050"/>
                      </a:b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Але конструкція така, що серво може проскочити пару позицій на шестерні й кути поїдуть.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4"/>
                        </a:rPr>
                        <a:t>ZoneTour.hpp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ESP32 перезавантажується при від'єднанні UART0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USB-UART міст імпульсує пін EN сигналами DTR/RTS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serial_link.py примусово ставить dtr=False, rts=False.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serial_link.py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16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Повільне наведення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Розпізнавання лазерної точки ненадійне (детектор губить точку на кілька кадрів)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Змінне освітлення збиває пороги OpenCV · точка тимчасово зникає з кадру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Підбір порогів OpenCV (tracker.py); TODO: утримання позиції, фільтр стрибків. 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зроблю жодних згладжувань чи фільтрів.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tuning.py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dots.py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Зв'язок COM/UART не відновлюється після від'єднання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 діагностовано (TODO)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TODO: причина й фікс.</a:t>
                      </a:r>
                      <a:endParaRPr lang="uk-UA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76"/>
          <p:cNvSpPr/>
          <p:nvPr/>
        </p:nvSpPr>
        <p:spPr>
          <a:xfrm>
            <a:off x="812880" y="6282360"/>
            <a:ext cx="598500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8"/>
              </a:rPr>
              <a:t>docs/protocol.md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9"/>
              </a:rPr>
              <a:t>firmware/aim/src/tasks/LinkUart.hpp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0"/>
              </a:rPr>
              <a:t>eye/camera/serial_link.py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1"/>
              </a:rPr>
              <a:t>eye/camera/tracker.py</a:t>
            </a:r>
            <a:endParaRPr lang="uk-U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200;p11"/>
          <p:cNvSpPr/>
          <p:nvPr/>
        </p:nvSpPr>
        <p:spPr>
          <a:xfrm>
            <a:off x="812880" y="812880"/>
            <a:ext cx="146520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201;p11"/>
          <p:cNvSpPr/>
          <p:nvPr/>
        </p:nvSpPr>
        <p:spPr>
          <a:xfrm>
            <a:off x="952560" y="876240"/>
            <a:ext cx="125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202;p11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Інші проблеми проєктування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5" name="Table 202"/>
          <p:cNvGraphicFramePr/>
          <p:nvPr/>
        </p:nvGraphicFramePr>
        <p:xfrm>
          <a:off x="457200" y="1726920"/>
          <a:ext cx="11429280" cy="4367160"/>
        </p:xfrm>
        <a:graphic>
          <a:graphicData uri="http://schemas.openxmlformats.org/drawingml/2006/table">
            <a:tbl>
              <a:tblPr/>
              <a:tblGrid>
                <a:gridCol w="3082320"/>
                <a:gridCol w="3245040"/>
                <a:gridCol w="2216880"/>
                <a:gridCol w="1694160"/>
                <a:gridCol w="1191240"/>
              </a:tblGrid>
              <a:tr h="25992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Проблема</a:t>
                      </a:r>
                      <a:endParaRPr lang="uk-UA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Причини</a:t>
                      </a:r>
                      <a:endParaRPr lang="uk-UA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Що зробив</a:t>
                      </a:r>
                      <a:endParaRPr lang="uk-UA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Статус</a:t>
                      </a:r>
                      <a:endParaRPr lang="uk-UA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Код</a:t>
                      </a:r>
                      <a:endParaRPr lang="uk-UA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Логи й дані ділили UART0; рядок з «F» міг випадково спричинити постріл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Спільний UART0 для логів і команд керування, без ізоляції небезпечної команди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Дані перенесено на UART1; UART0 - лише консоль, команда пострілу захищена.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1"/>
                        </a:rPr>
                        <a:t>Protocol.hpp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2"/>
                        </a:rPr>
                        <a:t>Pinout.hpp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Реле лазера вмикалося при подачі живлення (пін у стані float)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GPIO реле floats до Relay::init() · вихід вмикається раніше рівня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Рівень встановлено на виводі, додано pull-up.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3"/>
                        </a:rPr>
                        <a:t>Relay.hpp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Запис на SD-картку може зависнути на 100-250 мс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Внутрішнє wear-levelling картки під час запису блоку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Окрема задача logger з низьким пріоритетом; черга відкидає найстаріший запис.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4"/>
                        </a:rPr>
                        <a:t>Logger.hpp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5"/>
                        </a:rPr>
                        <a:t>LogQueue.hpp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Затримка камери обмежує підсилення PID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Камера й обробка кадру додають мертвий час, який обмежує підсилення PID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Менші значення 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Зависання каналу зв'язку через однопотоковий UI-застосунок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UI і серійний обмін в одному потоці; ресайз вікна блокував порт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Обмін даними з ESP перенесено у фоновий потік.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Виправлено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6"/>
                        </a:rPr>
                        <a:t>serial_link.py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088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Нелінійна залежність між позиціями на стіні та кутами серво, 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криві лінії при русі вліво вправо 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Проєкція стіни на кут гімбала нелінійна (перспектива, геометрія кардана)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Потрібно врахувати тригонометрію, але ж лазер може бути в будь-якому положенні від стіни, тому є питаннячко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Відкрито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9AA0A6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—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Лазер виходить за межі зони видимості камери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Різкий рух цілі або похибка керування виносить точку за межі поля зору камери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recenter.py: гімбал рухається P-кроками до центру, якщо точку не видно &gt;1500 мс.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7"/>
                        </a:rPr>
                        <a:t>recenter.py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600">
                <a:tc>
                  <a:txBody>
                    <a:bodyPr lIns="1267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камери знижує стабільність детекції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2672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міняє різкість/розмір точки — пороги OpenCV втрачають сигнал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414C58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Автофокус вимкнено, фіксована позиція лінзи (--focus=130); live-підбір фокусу в UI оператора.</a:t>
                      </a:r>
                      <a:endParaRPr lang="uk-UA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232323"/>
                          </a:solidFill>
                          <a:effectLst/>
                          <a:uFillTx/>
                          <a:latin typeface="Nunito Sans"/>
                          <a:ea typeface="Arial"/>
                        </a:rPr>
                        <a:t>Частково</a:t>
                      </a:r>
                      <a:endParaRPr lang="uk-UA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8"/>
                        </a:rPr>
                        <a:t>tracker.py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sng" strike="noStrike">
                          <a:solidFill>
                            <a:srgbClr val="0563C1"/>
                          </a:solidFill>
                          <a:effectLst/>
                          <a:uFillTx/>
                          <a:latin typeface="Nunito Sans"/>
                          <a:ea typeface="Arial"/>
                          <a:hlinkClick r:id="rId9"/>
                        </a:rPr>
                        <a:t>speed.py</a:t>
                      </a:r>
                      <a:endParaRPr lang="uk-UA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6480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6" name="TextBox 203"/>
          <p:cNvSpPr/>
          <p:nvPr/>
        </p:nvSpPr>
        <p:spPr>
          <a:xfrm>
            <a:off x="812880" y="6282360"/>
            <a:ext cx="698832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0"/>
              </a:rPr>
              <a:t>firmware/aim/src/parts/Laser.hpp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1"/>
              </a:rPr>
              <a:t>firmware/aim/src/tasks/Logger.hpp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2"/>
              </a:rPr>
              <a:t>eye/camera/app_window.py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3"/>
              </a:rPr>
              <a:t>eye/camera/recenter.py</a:t>
            </a:r>
            <a:endParaRPr lang="uk-U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tag;bg"/>
          <p:cNvSpPr/>
          <p:nvPr/>
        </p:nvSpPr>
        <p:spPr>
          <a:xfrm>
            <a:off x="812880" y="812880"/>
            <a:ext cx="146520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tag;txt"/>
          <p:cNvSpPr/>
          <p:nvPr/>
        </p:nvSpPr>
        <p:spPr>
          <a:xfrm>
            <a:off x="952560" y="876240"/>
            <a:ext cx="1258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РЕЗУЛЬТАТИ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title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Графіки похибки: режим і PID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Google Shape;cell-title-303"/>
          <p:cNvSpPr/>
          <p:nvPr/>
        </p:nvSpPr>
        <p:spPr>
          <a:xfrm>
            <a:off x="1949760" y="1793160"/>
            <a:ext cx="2575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uk-UA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P1/I10/D0</a:t>
            </a:r>
            <a:endParaRPr lang="uk-U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cell-img-304"/>
          <p:cNvSpPr/>
          <p:nvPr/>
        </p:nvSpPr>
        <p:spPr>
          <a:xfrm>
            <a:off x="1949760" y="2018160"/>
            <a:ext cx="2575800" cy="1519920"/>
          </a:xfrm>
          <a:prstGeom prst="roundRect">
            <a:avLst>
              <a:gd name="adj" fmla="val 4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cell-metrics-305"/>
          <p:cNvSpPr/>
          <p:nvPr/>
        </p:nvSpPr>
        <p:spPr>
          <a:xfrm>
            <a:off x="1949760" y="3574440"/>
            <a:ext cx="257580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19999"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uk-UA" sz="10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745 мс, без овершуту</a:t>
            </a:r>
            <a:endParaRPr lang="uk-UA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uk-UA" sz="10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1160 мс, овершут ~27%</a:t>
            </a:r>
            <a:endParaRPr lang="uk-UA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cell-title-306"/>
          <p:cNvSpPr/>
          <p:nvPr/>
        </p:nvSpPr>
        <p:spPr>
          <a:xfrm>
            <a:off x="4807440" y="1793160"/>
            <a:ext cx="2575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uk-UA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P1/I50/D0</a:t>
            </a:r>
            <a:endParaRPr lang="uk-U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cell-img-307"/>
          <p:cNvSpPr/>
          <p:nvPr/>
        </p:nvSpPr>
        <p:spPr>
          <a:xfrm>
            <a:off x="4807440" y="2018160"/>
            <a:ext cx="2575800" cy="1519920"/>
          </a:xfrm>
          <a:prstGeom prst="roundRect">
            <a:avLst>
              <a:gd name="adj" fmla="val 4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cell-metrics-308"/>
          <p:cNvSpPr/>
          <p:nvPr/>
        </p:nvSpPr>
        <p:spPr>
          <a:xfrm>
            <a:off x="4807440" y="3574440"/>
            <a:ext cx="257580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19999"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uk-UA" sz="10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169 мс, без овершуту</a:t>
            </a:r>
            <a:endParaRPr lang="uk-UA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uk-UA" sz="10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335 мс, овершут ~32%</a:t>
            </a:r>
            <a:endParaRPr lang="uk-UA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cell-title-309"/>
          <p:cNvSpPr/>
          <p:nvPr/>
        </p:nvSpPr>
        <p:spPr>
          <a:xfrm>
            <a:off x="7664760" y="1793160"/>
            <a:ext cx="2575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uk-UA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VELOCITYEQUATION · P1/I100/D0</a:t>
            </a:r>
            <a:endParaRPr lang="uk-U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cell-img-310"/>
          <p:cNvSpPr/>
          <p:nvPr/>
        </p:nvSpPr>
        <p:spPr>
          <a:xfrm>
            <a:off x="7664760" y="2018160"/>
            <a:ext cx="2575800" cy="1519920"/>
          </a:xfrm>
          <a:prstGeom prst="roundRect">
            <a:avLst>
              <a:gd name="adj" fmla="val 4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cell-metrics-311"/>
          <p:cNvSpPr/>
          <p:nvPr/>
        </p:nvSpPr>
        <p:spPr>
          <a:xfrm>
            <a:off x="7664760" y="3574440"/>
            <a:ext cx="257580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19999"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uk-UA" sz="10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81 мс, без овершуту</a:t>
            </a:r>
            <a:endParaRPr lang="uk-UA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uk-UA" sz="10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146 мс, овершут ~33%</a:t>
            </a:r>
            <a:endParaRPr lang="uk-UA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cell-title-312"/>
          <p:cNvSpPr/>
          <p:nvPr/>
        </p:nvSpPr>
        <p:spPr>
          <a:xfrm>
            <a:off x="1949760" y="4094640"/>
            <a:ext cx="2575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uk-UA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P40/I2 · tilt P35/I2</a:t>
            </a:r>
            <a:endParaRPr lang="uk-U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cell-img-313"/>
          <p:cNvSpPr/>
          <p:nvPr/>
        </p:nvSpPr>
        <p:spPr>
          <a:xfrm>
            <a:off x="1949760" y="4319640"/>
            <a:ext cx="2575800" cy="1519920"/>
          </a:xfrm>
          <a:prstGeom prst="roundRect">
            <a:avLst>
              <a:gd name="adj" fmla="val 4000"/>
            </a:avLst>
          </a:prstGeom>
          <a:blipFill rotWithShape="0">
            <a:blip r:embed="rId4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cell-metrics-314"/>
          <p:cNvSpPr/>
          <p:nvPr/>
        </p:nvSpPr>
        <p:spPr>
          <a:xfrm>
            <a:off x="1949760" y="5875920"/>
            <a:ext cx="257580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uk-UA" sz="9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171 мс, без овершуту</a:t>
            </a:r>
            <a:endParaRPr lang="uk-U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uk-UA" sz="9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592 мс, овершут ~27%</a:t>
            </a:r>
            <a:endParaRPr lang="uk-U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cell-title-315"/>
          <p:cNvSpPr/>
          <p:nvPr/>
        </p:nvSpPr>
        <p:spPr>
          <a:xfrm>
            <a:off x="4807440" y="4094640"/>
            <a:ext cx="2575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9999"/>
          </a:bodyPr>
          <a:p>
            <a:pPr>
              <a:lnSpc>
                <a:spcPct val="115000"/>
              </a:lnSpc>
              <a:tabLst>
                <a:tab pos="0" algn="l"/>
              </a:tabLst>
            </a:pPr>
            <a:r>
              <a:rPr lang="uk-UA" sz="11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POSITIONAL · pan P100/I10 · tilt P100/I9</a:t>
            </a:r>
            <a:endParaRPr lang="uk-U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cell-img-316"/>
          <p:cNvSpPr/>
          <p:nvPr/>
        </p:nvSpPr>
        <p:spPr>
          <a:xfrm>
            <a:off x="4807440" y="4319640"/>
            <a:ext cx="2575800" cy="1519920"/>
          </a:xfrm>
          <a:prstGeom prst="roundRect">
            <a:avLst>
              <a:gd name="adj" fmla="val 4000"/>
            </a:avLst>
          </a:prstGeom>
          <a:blipFill rotWithShape="0">
            <a:blip r:embed="rId5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60120" dir="5400000" dist="20160" rotWithShape="0">
              <a:srgbClr val="232323">
                <a:alpha val="2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cell-metrics-317"/>
          <p:cNvSpPr/>
          <p:nvPr/>
        </p:nvSpPr>
        <p:spPr>
          <a:xfrm>
            <a:off x="4807440" y="5875920"/>
            <a:ext cx="2575800" cy="2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uk-UA" sz="9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pan: 80 мс, без овершуту</a:t>
            </a:r>
            <a:endParaRPr lang="uk-U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uk-UA" sz="9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tilt: 475 мс, овершут ~29%</a:t>
            </a:r>
            <a:endParaRPr lang="uk-U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insight;bg"/>
          <p:cNvSpPr/>
          <p:nvPr/>
        </p:nvSpPr>
        <p:spPr>
          <a:xfrm>
            <a:off x="7664760" y="4094640"/>
            <a:ext cx="2575800" cy="2080080"/>
          </a:xfrm>
          <a:prstGeom prst="roundRect">
            <a:avLst>
              <a:gd name="adj" fmla="val 6000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insight;txt"/>
          <p:cNvSpPr/>
          <p:nvPr/>
        </p:nvSpPr>
        <p:spPr>
          <a:xfrm>
            <a:off x="7824600" y="4254480"/>
            <a:ext cx="2256120" cy="17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uk-UA" sz="13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Спостереження</a:t>
            </a:r>
            <a:endParaRPr lang="uk-UA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uk-UA" sz="9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Канал tilt овершутить на всіх режимах і PID (~27–33%); канал pan — практично ні (~1–4%).</a:t>
            </a:r>
            <a:endParaRPr lang="uk-U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uk-UA" sz="9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Найшвидше усталення:</a:t>
            </a:r>
            <a:r>
              <a:rPr lang="uk-UA" sz="9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 VELOCITYEQUATION P1/I100 — pan 81 мс, tilt 146 мс.</a:t>
            </a:r>
            <a:endParaRPr lang="uk-U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tabLst>
                <a:tab pos="0" algn="l"/>
              </a:tabLst>
            </a:pPr>
            <a:r>
              <a:rPr lang="uk-UA" sz="90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Найповільніше</a:t>
            </a:r>
            <a:r>
              <a:rPr lang="uk-UA" sz="90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: VELOCITYEQUATION P1/I10 — pan 745 мс, tilt 1160 мс.</a:t>
            </a:r>
            <a:endParaRPr lang="uk-UA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320"/>
          <p:cNvSpPr/>
          <p:nvPr/>
        </p:nvSpPr>
        <p:spPr>
          <a:xfrm>
            <a:off x="812880" y="6572880"/>
            <a:ext cx="4049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docs/assestment/verification/README.md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7"/>
              </a:rPr>
              <a:t>eye/camera/error_graph.py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</a:t>
            </a:r>
            <a:endParaRPr lang="uk-U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2;p14"/>
          <p:cNvSpPr/>
          <p:nvPr/>
        </p:nvSpPr>
        <p:spPr>
          <a:xfrm>
            <a:off x="812880" y="812880"/>
            <a:ext cx="170856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3;p14"/>
          <p:cNvSpPr/>
          <p:nvPr/>
        </p:nvSpPr>
        <p:spPr>
          <a:xfrm>
            <a:off x="952560" y="876240"/>
            <a:ext cx="15184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4;p14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Демонстрація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Стенд AIM на макетній платі" descr="Гімбал ESP32-S3 на макетній платі з лазером і проводкою"/>
          <p:cNvSpPr/>
          <p:nvPr/>
        </p:nvSpPr>
        <p:spPr>
          <a:xfrm>
            <a:off x="812880" y="1793160"/>
            <a:ext cx="6253200" cy="4305240"/>
          </a:xfrm>
          <a:prstGeom prst="roundRect">
            <a:avLst>
              <a:gd name="adj" fmla="val 5000"/>
            </a:avLst>
          </a:prstGeom>
          <a:blipFill rotWithShape="0">
            <a:blip r:embed="rId1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Знімок eye-app: авто-наведення" descr="Знімок екрана застосунку eye-app з панеллю телеметрії та PID-налаштувань під час авто-наведення"/>
          <p:cNvSpPr/>
          <p:nvPr/>
        </p:nvSpPr>
        <p:spPr>
          <a:xfrm>
            <a:off x="7668720" y="1793160"/>
            <a:ext cx="3407400" cy="2022120"/>
          </a:xfrm>
          <a:prstGeom prst="roundRect">
            <a:avLst>
              <a:gd name="adj" fmla="val 5000"/>
            </a:avLst>
          </a:prstGeom>
          <a:blipFill rotWithShape="0">
            <a:blip r:embed="rId2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Знімок eye-app: графік похибки" descr="Знімок екрана застосунку eye-app з debug-панеллю та графіком похибки наведення в часі"/>
          <p:cNvSpPr/>
          <p:nvPr/>
        </p:nvSpPr>
        <p:spPr>
          <a:xfrm>
            <a:off x="7664760" y="4076640"/>
            <a:ext cx="3415680" cy="2022120"/>
          </a:xfrm>
          <a:prstGeom prst="roundRect">
            <a:avLst>
              <a:gd name="adj" fmla="val 5000"/>
            </a:avLst>
          </a:prstGeom>
          <a:blipFill rotWithShape="0">
            <a:blip r:embed="rId3"/>
            <a:srcRect/>
            <a:stretch/>
          </a:blipFill>
          <a:ln w="12700">
            <a:solidFill>
              <a:srgbClr val="FFFFFF"/>
            </a:solidFill>
            <a:round/>
          </a:ln>
          <a:effectLst>
            <a:outerShdw blurRad="90000" dir="5400000" dist="29880" rotWithShape="0">
              <a:srgbClr val="232323">
                <a:alpha val="2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uk-UA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8"/>
          <p:cNvSpPr/>
          <p:nvPr/>
        </p:nvSpPr>
        <p:spPr>
          <a:xfrm>
            <a:off x="812880" y="6282360"/>
            <a:ext cx="536436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4"/>
              </a:rPr>
              <a:t>images/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5"/>
              </a:rPr>
              <a:t>esp.log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</a:t>
            </a: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6"/>
              </a:rPr>
              <a:t>tracker.log</a:t>
            </a:r>
            <a:r>
              <a:rPr lang="uk-UA" sz="1000" b="0" i="1" u="none" strike="noStrike">
                <a:solidFill>
                  <a:srgbClr val="6B6F76"/>
                </a:solidFill>
                <a:effectLst/>
                <a:uFillTx/>
                <a:latin typeface="Nunito Sans"/>
                <a:ea typeface="Arial"/>
              </a:rPr>
              <a:t> · стенд AIM (ESP32-S3) та eye-app під час наведення на ціль</a:t>
            </a:r>
            <a:endParaRPr lang="uk-U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Video Demo Button">
            <a:hlinkClick r:id="rId7"/>
          </p:cNvPr>
          <p:cNvSpPr/>
          <p:nvPr/>
        </p:nvSpPr>
        <p:spPr>
          <a:xfrm>
            <a:off x="8778960" y="772560"/>
            <a:ext cx="2599200" cy="419760"/>
          </a:xfrm>
          <a:prstGeom prst="roundRect">
            <a:avLst>
              <a:gd name="adj" fmla="val 50000"/>
            </a:avLst>
          </a:prstGeom>
          <a:solidFill>
            <a:srgbClr val="FF0000"/>
          </a:solidFill>
          <a:ln w="0">
            <a:noFill/>
          </a:ln>
          <a:effectLst>
            <a:outerShdw blurRad="50040" dir="5400000" dist="20160" rotWithShape="0">
              <a:srgbClr val="232323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uk-UA" sz="1400" b="1" u="none" strike="noStrike">
                <a:solidFill>
                  <a:srgbClr val="0563C1"/>
                </a:solidFill>
                <a:effectLst/>
                <a:uFillTx/>
                <a:latin typeface="Nunito Sans"/>
                <a:ea typeface="Nunito Sans"/>
                <a:hlinkClick r:id="rId8"/>
              </a:rPr>
              <a:t>► Video Demo</a:t>
            </a:r>
            <a:endParaRPr lang="uk-UA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6" name="Video Demo QR" descr="QR code linking to the video demo">
            <a:hlinkClick r:id="rId9"/>
          </p:cNvPr>
          <p:cNvPicPr/>
          <p:nvPr/>
        </p:nvPicPr>
        <p:blipFill>
          <a:blip r:embed="rId10"/>
          <a:stretch/>
        </p:blipFill>
        <p:spPr>
          <a:xfrm>
            <a:off x="8207640" y="742680"/>
            <a:ext cx="479160" cy="479160"/>
          </a:xfrm>
          <a:prstGeom prst="rect">
            <a:avLst/>
          </a:prstGeom>
          <a:noFill/>
          <a:ln w="6350">
            <a:solidFill>
              <a:srgbClr val="D9D9D9"/>
            </a:solidFill>
            <a:round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273;p14"/>
          <p:cNvSpPr/>
          <p:nvPr/>
        </p:nvSpPr>
        <p:spPr>
          <a:xfrm>
            <a:off x="812880" y="812880"/>
            <a:ext cx="1053000" cy="338760"/>
          </a:xfrm>
          <a:prstGeom prst="roundRect">
            <a:avLst>
              <a:gd name="adj" fmla="val 37318"/>
            </a:avLst>
          </a:prstGeom>
          <a:solidFill>
            <a:srgbClr val="DAE5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274;p14"/>
          <p:cNvSpPr/>
          <p:nvPr/>
        </p:nvSpPr>
        <p:spPr>
          <a:xfrm>
            <a:off x="952560" y="876240"/>
            <a:ext cx="8326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275;p14"/>
          <p:cNvSpPr/>
          <p:nvPr/>
        </p:nvSpPr>
        <p:spPr>
          <a:xfrm>
            <a:off x="812880" y="1280160"/>
            <a:ext cx="1088208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10000"/>
              </a:lnSpc>
              <a:tabLst>
                <a:tab pos="0" algn="l"/>
              </a:tabLst>
            </a:pPr>
            <a:r>
              <a:rPr lang="uk-UA" sz="24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Що далі</a:t>
            </a:r>
            <a:endParaRPr lang="uk-UA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281;p14"/>
          <p:cNvSpPr/>
          <p:nvPr/>
        </p:nvSpPr>
        <p:spPr>
          <a:xfrm>
            <a:off x="812880" y="2024280"/>
            <a:ext cx="5081760" cy="346176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282;p14"/>
          <p:cNvSpPr/>
          <p:nvPr/>
        </p:nvSpPr>
        <p:spPr>
          <a:xfrm>
            <a:off x="1041480" y="2252880"/>
            <a:ext cx="405000" cy="40500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283;p14"/>
          <p:cNvSpPr/>
          <p:nvPr/>
        </p:nvSpPr>
        <p:spPr>
          <a:xfrm>
            <a:off x="1187280" y="2322720"/>
            <a:ext cx="163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1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284;p14"/>
          <p:cNvSpPr/>
          <p:nvPr/>
        </p:nvSpPr>
        <p:spPr>
          <a:xfrm>
            <a:off x="1041480" y="2773440"/>
            <a:ext cx="46245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Наступне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285;p14"/>
          <p:cNvSpPr/>
          <p:nvPr/>
        </p:nvSpPr>
        <p:spPr>
          <a:xfrm>
            <a:off x="6296040" y="2024280"/>
            <a:ext cx="5081760" cy="3003840"/>
          </a:xfrm>
          <a:prstGeom prst="roundRect">
            <a:avLst>
              <a:gd name="adj" fmla="val 7113"/>
            </a:avLst>
          </a:prstGeom>
          <a:solidFill>
            <a:srgbClr val="ECE7E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286;p14"/>
          <p:cNvSpPr/>
          <p:nvPr/>
        </p:nvSpPr>
        <p:spPr>
          <a:xfrm>
            <a:off x="6524640" y="2252880"/>
            <a:ext cx="405000" cy="405000"/>
          </a:xfrm>
          <a:prstGeom prst="roundRect">
            <a:avLst>
              <a:gd name="adj" fmla="val 50000"/>
            </a:avLst>
          </a:prstGeom>
          <a:solidFill>
            <a:srgbClr val="C5D6E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ctr">
            <a:noAutofit/>
          </a:bodyPr>
          <a:p>
            <a:pPr/>
            <a:endParaRPr lang="uk-U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287;p14"/>
          <p:cNvSpPr/>
          <p:nvPr/>
        </p:nvSpPr>
        <p:spPr>
          <a:xfrm>
            <a:off x="6670800" y="2322720"/>
            <a:ext cx="16380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2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288;p14"/>
          <p:cNvSpPr/>
          <p:nvPr/>
        </p:nvSpPr>
        <p:spPr>
          <a:xfrm>
            <a:off x="6524640" y="2773440"/>
            <a:ext cx="46245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>
              <a:lnSpc>
                <a:spcPct val="140000"/>
              </a:lnSpc>
              <a:tabLst>
                <a:tab pos="0" algn="l"/>
              </a:tabLst>
            </a:pPr>
            <a:r>
              <a:rPr lang="uk-UA" sz="1600" b="1" u="none" strike="noStrike">
                <a:solidFill>
                  <a:srgbClr val="232323"/>
                </a:solidFill>
                <a:effectLst/>
                <a:uFillTx/>
                <a:latin typeface="Nunito Sans"/>
                <a:ea typeface="Nunito Sans"/>
              </a:rPr>
              <a:t>Пізніше (після ніколи)</a:t>
            </a:r>
            <a:endParaRPr lang="uk-U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289;p14"/>
          <p:cNvSpPr/>
          <p:nvPr/>
        </p:nvSpPr>
        <p:spPr>
          <a:xfrm>
            <a:off x="6524640" y="3154680"/>
            <a:ext cx="462456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YOLO</a:t>
            </a: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-детекція просто на камері, наприклад коли побачив людину чи руку — вимкнутися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Feed-forward за швидкістю цілі, не доганяти, а передбачати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OLED-меню на пульті PILOT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 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90;p14"/>
          <p:cNvSpPr/>
          <p:nvPr/>
        </p:nvSpPr>
        <p:spPr>
          <a:xfrm>
            <a:off x="1041480" y="3154680"/>
            <a:ext cx="4624560" cy="22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91440" rIns="90000" bIns="91440" anchor="t">
            <a:spAutoFit/>
          </a:bodyPr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PILOT (ESP32-C3, </a:t>
            </a:r>
            <a:r>
              <a:rPr lang="uk-UA" sz="1350" b="1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ESP-NOW</a:t>
            </a: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): джойстик, дистанційний E-stop, ручне управління зміна каналів керування.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MQTT + WiFi для телеметрії та контролю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VAULT (STM32): окремий контролер для зберігання даних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Лазер на MOSFET з ШІМ-яскравістю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Режим сну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Покращити стабільність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7520">
              <a:lnSpc>
                <a:spcPct val="100000"/>
              </a:lnSpc>
              <a:buClr>
                <a:srgbClr val="000000"/>
              </a:buClr>
              <a:buFont typeface="Arial"/>
              <a:buChar char="→"/>
            </a:pPr>
            <a:r>
              <a:rPr lang="uk-UA" sz="1350" b="0" u="none" strike="noStrike">
                <a:solidFill>
                  <a:srgbClr val="414C58"/>
                </a:solidFill>
                <a:effectLst/>
                <a:uFillTx/>
                <a:latin typeface="Nunito Sans"/>
                <a:ea typeface="Arial"/>
              </a:rPr>
              <a:t>Пофіксити нелінійність руху від кута</a:t>
            </a:r>
            <a:endParaRPr lang="uk-UA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290"/>
          <p:cNvSpPr/>
          <p:nvPr/>
        </p:nvSpPr>
        <p:spPr>
          <a:xfrm>
            <a:off x="812880" y="6282360"/>
            <a:ext cx="75276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uk-UA" sz="1000" b="0" i="1" u="sng" strike="noStrike">
                <a:solidFill>
                  <a:srgbClr val="0563C1"/>
                </a:solidFill>
                <a:effectLst/>
                <a:uFillTx/>
                <a:latin typeface="Nunito Sans"/>
                <a:ea typeface="Arial"/>
                <a:hlinkClick r:id="rId1"/>
              </a:rPr>
              <a:t>README.md</a:t>
            </a:r>
            <a:endParaRPr lang="uk-U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</TotalTime>
  <Application>LibreOffice/26.8.0.3$Windows_X86_64 LibreOffice_project/bce0998afefdbc355585ca324285661a2170ba77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  <dc:description/>
  <dc:language>en-US</dc:language>
  <cp:lastModifiedBy/>
  <dcterms:modified xsi:type="dcterms:W3CDTF">2026-09-26T12:46:56Z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