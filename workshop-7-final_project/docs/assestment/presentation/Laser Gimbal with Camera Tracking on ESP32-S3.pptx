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12192000"/>
  <p:embeddedFontLst>
    <p:embeddedFont>
      <p:font typeface="Nunito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vVzOUB7THY6t5WQKYOg91dqgP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538C2C-0403-4DD1-BF6D-4BBF76AF478C}">
  <a:tblStyle styleId="{9E538C2C-0403-4DD1-BF6D-4BBF76AF47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NunitoSans-regular.fntdata"/><Relationship Id="rId21" Type="http://schemas.openxmlformats.org/officeDocument/2006/relationships/font" Target="fonts/NunitoSans-bold.fntdata"/><Relationship Id="rId22" Type="http://schemas.openxmlformats.org/officeDocument/2006/relationships/font" Target="fonts/NunitoSans-italic.fntdata"/><Relationship Id="rId23" Type="http://schemas.openxmlformats.org/officeDocument/2006/relationships/font" Target="fonts/NunitoSans-boldItalic.fntdata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</a:t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Головна ідея: ми задаємо швидкість, а не кут, і даємо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/>
          </a:p>
        </p:txBody>
      </p:sp>
      <p:sp>
        <p:nvSpPr>
          <p:cNvPr id="61" name="Google Shape;6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/>
          </a:p>
        </p:txBody>
      </p:sp>
      <p:sp>
        <p:nvSpPr>
          <p:cNvPr id="99" name="Google Shape;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Шість невеликих рішень, які вберегли нас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/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/>
          </a:p>
        </p:txBody>
      </p:sp>
      <p:sp>
        <p:nvSpPr>
          <p:cNvPr id="160" name="Google Shape;1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реальні збої, з якими ми зіткнулися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/>
          </a:p>
        </p:txBody>
      </p:sp>
      <p:sp>
        <p:nvSpPr>
          <p:cNvPr id="170" name="Google Shape;1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прийшло з огляду проєкту, а не зі стенда — це режими відмов, які ми виявили, продумавши монтаж і протокол ще до того, як вони стали інцидентами на стенді.</a:t>
            </a:r>
            <a:endParaRPr/>
          </a:p>
        </p:txBody>
      </p:sp>
      <p:sp>
        <p:nvSpPr>
          <p:cNvPr id="197" name="Google Shape;1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Будьте відверті щодо цього — екзаменатор запитає щонайменше про одне з них. Рядки про бездротовий зв'язок і глибокий сон — це свідоме скорочення обсягу, а не недогляд; так і скажіть.</a:t>
            </a:r>
            <a:endParaRPr/>
          </a:p>
        </p:txBody>
      </p:sp>
      <p:sp>
        <p:nvSpPr>
          <p:cNvPr id="207" name="Google Shape;20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Почніть із двох чисел, які в нас справді є: крок керування 20 мс і таймаут зв'язку 300 мс. Чесно скажіть, що решта досі очікує вимірювання — не округлюйте і не вгадуйте вголос.</a:t>
            </a:r>
            <a:endParaRPr/>
          </a:p>
        </p:txBody>
      </p:sp>
      <p:sp>
        <p:nvSpPr>
          <p:cNvPr id="237" name="Google Shape;23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/>
          </a:p>
        </p:txBody>
      </p:sp>
      <p:sp>
        <p:nvSpPr>
          <p:cNvPr id="270" name="Google Shape;27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melnikvitaly/workshops/blob/main/workshop-7-final_project/README.md#final-project--laser-gimbal-with-camera-tracking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melnikvitaly/workshops/blob/main/workshop-7-final_project/README.md#about-the-projec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melnikvitaly/workshops/blob/main/workshop-7-final_project/docs/architectur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github.com/melnikvitaly/workshops/blob/main/workshop-7-final_project/docs/servo-control-strategies.md" TargetMode="External"/><Relationship Id="rId5" Type="http://schemas.openxmlformats.org/officeDocument/2006/relationships/hyperlink" Target="https://github.com/melnikvitaly/workshops/blob/main/workshop-7-final_project/docs/protocol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hyperlink" Target="https://github.com/melnikvitaly/workshops/blob/main/workshop-7-final_project/docs/diagrams/freertos-tasks.md" TargetMode="External"/><Relationship Id="rId5" Type="http://schemas.openxmlformats.org/officeDocument/2006/relationships/hyperlink" Target="https://github.com/melnikvitaly/workshops/tree/main/workshop-7-final_project/firmware/aim/src/tasks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hyperlink" Target="https://github.com/melnikvitaly/workshops/blob/main/workshop-7-final_project/docs/diagrams/aim-states.md" TargetMode="External"/><Relationship Id="rId5" Type="http://schemas.openxmlformats.org/officeDocument/2006/relationships/hyperlink" Target="https://github.com/melnikvitaly/workshops/blob/main/workshop-7-final_project/firmware/aim/src/StateMachine.h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lnikvitaly/workshops/blob/main/workshop-7-final_project/docs/coding.md" TargetMode="External"/><Relationship Id="rId4" Type="http://schemas.openxmlformats.org/officeDocument/2006/relationships/hyperlink" Target="https://github.com/melnikvitaly/workshops/blob/main/workshop-7-final_project/docs/interfaces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tracker.py" TargetMode="External"/><Relationship Id="rId4" Type="http://schemas.openxmlformats.org/officeDocument/2006/relationships/hyperlink" Target="https://github.com/melnikvitaly/workshops/blob/main/workshop-7-final_project/firmware/aim/src/main.cpp" TargetMode="External"/><Relationship Id="rId5" Type="http://schemas.openxmlformats.org/officeDocument/2006/relationships/hyperlink" Target="https://github.com/melnikvitaly/workshops/blob/main/workshop-7-final_project/firmware/aim/src/StateMachine.hpp" TargetMode="External"/><Relationship Id="rId6" Type="http://schemas.openxmlformats.org/officeDocument/2006/relationships/hyperlink" Target="https://github.com/melnikvitaly/workshops/blob/main/workshop-7-final_project/firmware/aim/src/tasks/Ctrl.hpp" TargetMode="External"/><Relationship Id="rId7" Type="http://schemas.openxmlformats.org/officeDocument/2006/relationships/hyperlink" Target="firmware/aim/src/parts/Gimbal.hpp" TargetMode="External"/><Relationship Id="rId8" Type="http://schemas.openxmlformats.org/officeDocument/2006/relationships/hyperlink" Target="https://github.com/melnikvitaly/workshops/blob/main/workshop-7-final_project/firmware/aim/src/tasks/Safety.hpp" TargetMode="External"/><Relationship Id="rId9" Type="http://schemas.openxmlformats.org/officeDocument/2006/relationships/hyperlink" Target="https://github.com/melnikvitaly/workshops/blob/main/workshop-7-final_project/firmware/aim/src/tasks/LinkUart.hpp" TargetMode="External"/><Relationship Id="rId10" Type="http://schemas.openxmlformats.org/officeDocument/2006/relationships/hyperlink" Target="firmware/aim/src/transport/Protocol.hpp" TargetMode="External"/><Relationship Id="rId11" Type="http://schemas.openxmlformats.org/officeDocument/2006/relationships/hyperlink" Target="https://github.com/melnikvitaly/workshops/blob/main/workshop-7-final_project/firmware/aim/src/tasks/Logger.hpp" TargetMode="External"/><Relationship Id="rId12" Type="http://schemas.openxmlformats.org/officeDocument/2006/relationships/hyperlink" Target="https://github.com/melnikvitaly/workshops/blob/main/workshop-7-final_project/firmware/aim/src/utils/Pid.hpp" TargetMode="External"/><Relationship Id="rId13" Type="http://schemas.openxmlformats.org/officeDocument/2006/relationships/hyperlink" Target="https://github.com/melnikvitaly/workshops/blob/main/workshop-7-final_project/firmware/aim/src/parts/AutoChannel.hpp" TargetMode="External"/><Relationship Id="rId14" Type="http://schemas.openxmlformats.org/officeDocument/2006/relationships/hyperlink" Target="https://github.com/melnikvitaly/workshops/blob/main/workshop-7-final_project/firmware/aim/src/parts/ManualChannel.hpp" TargetMode="External"/><Relationship Id="rId15" Type="http://schemas.openxmlformats.org/officeDocument/2006/relationships/hyperlink" Target="https://github.com/melnikvitaly/workshops/blob/main/workshop-7-final_project/eye/camera/tracker.py" TargetMode="External"/><Relationship Id="rId16" Type="http://schemas.openxmlformats.org/officeDocument/2006/relationships/hyperlink" Target="eye/camera/dots.py" TargetMode="External"/><Relationship Id="rId17" Type="http://schemas.openxmlformats.org/officeDocument/2006/relationships/hyperlink" Target="eye/camera/serial_link.py" TargetMode="External"/><Relationship Id="rId18" Type="http://schemas.openxmlformats.org/officeDocument/2006/relationships/hyperlink" Target="https://github.com/melnikvitaly/workshops/blob/main/workshop-7-final_project/eye/camera/dots.py" TargetMode="External"/><Relationship Id="rId19" Type="http://schemas.openxmlformats.org/officeDocument/2006/relationships/hyperlink" Target="https://github.com/melnikvitaly/workshops/blob/main/workshop-7-final_project/eye/camera/serial_link.py" TargetMode="External"/><Relationship Id="rId20" Type="http://schemas.openxmlformats.org/officeDocument/2006/relationships/hyperlink" Target="https://github.com/melnikvitaly/workshops/blob/main/workshop-7-final_project/eye/camera/recenter.py" TargetMode="External"/><Relationship Id="rId21" Type="http://schemas.openxmlformats.org/officeDocument/2006/relationships/hyperlink" Target="eye/camera/tracker.py" TargetMode="External"/><Relationship Id="rId22" Type="http://schemas.openxmlformats.org/officeDocument/2006/relationships/hyperlink" Target="https://github.com/melnikvitaly/workshops/blob/main/workshop-7-final_project/eye/camera/controls.py" TargetMode="External"/><Relationship Id="rId23" Type="http://schemas.openxmlformats.org/officeDocument/2006/relationships/hyperlink" Target="https://github.com/melnikvitaly/workshops/blob/main/workshop-7-final_project/eye/camera/app_window.py" TargetMode="External"/><Relationship Id="rId24" Type="http://schemas.openxmlformats.org/officeDocument/2006/relationships/hyperlink" Target="https://github.com/melnikvitaly/workshops/blob/main/workshop-7-final_project/eye/camera/speed.py" TargetMode="External"/><Relationship Id="rId25" Type="http://schemas.openxmlformats.org/officeDocument/2006/relationships/hyperlink" Target="https://github.com/melnikvitaly/workshops/tree/main/workshop-7-final_project/firmware/aim/src/" TargetMode="External"/><Relationship Id="rId26" Type="http://schemas.openxmlformats.org/officeDocument/2006/relationships/hyperlink" Target="https://github.com/melnikvitaly/workshops/tree/main/workshop-7-final_project/eye/camera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lnikvitaly/workshops/blob/main/workshop-7-final_project/docs/protocol.md" TargetMode="External"/><Relationship Id="rId4" Type="http://schemas.openxmlformats.org/officeDocument/2006/relationships/hyperlink" Target="https://github.com/melnikvitaly/workshops/blob/main/workshop-7-final_project/firmware/aim/src/tasks/LinkUart.hpp" TargetMode="External"/><Relationship Id="rId5" Type="http://schemas.openxmlformats.org/officeDocument/2006/relationships/hyperlink" Target="https://github.com/melnikvitaly/workshops/blob/main/workshop-7-final_project/eye/camera/serial_link.py" TargetMode="External"/><Relationship Id="rId6" Type="http://schemas.openxmlformats.org/officeDocument/2006/relationships/hyperlink" Target="https://github.com/melnikvitaly/workshops/blob/main/workshop-7-final_project/eye/camera/tracker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tasks/Logger.hpp" TargetMode="External"/><Relationship Id="rId5" Type="http://schemas.openxmlformats.org/officeDocument/2006/relationships/hyperlink" Target="https://github.com/melnikvitaly/workshops/blob/main/workshop-7-final_project/eye/camera/app_window.py" TargetMode="External"/><Relationship Id="rId6" Type="http://schemas.openxmlformats.org/officeDocument/2006/relationships/hyperlink" Target="https://github.com/melnikvitaly/workshops/blob/main/workshop-7-final_project/eye/camera/recenter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StateMachine.hpp" TargetMode="External"/><Relationship Id="rId5" Type="http://schemas.openxmlformats.org/officeDocument/2006/relationships/hyperlink" Target="https://github.com/melnikvitaly/workshops/blob/main/workshop-7-final_project/eye/camera/tracker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melnikvitaly/workshops/blob/main/workshop-7-final_project/docs/assestment/verification/README.md" TargetMode="External"/><Relationship Id="rId4" Type="http://schemas.openxmlformats.org/officeDocument/2006/relationships/hyperlink" Target="https://github.com/melnikvitaly/workshops/blob/main/workshop-7-final_project/eye/camera/error_graph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melnikvitaly/workshops/blob/main/workshop-7-final_project/README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"/>
          <p:cNvSpPr/>
          <p:nvPr/>
        </p:nvSpPr>
        <p:spPr>
          <a:xfrm>
            <a:off x="812800" y="812800"/>
            <a:ext cx="364121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Захист 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проекту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 з Embedded Development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12800" y="1203920"/>
            <a:ext cx="91567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600"/>
              <a:buFont typeface="Nunito Sans"/>
              <a:buNone/>
            </a:pPr>
            <a:r>
              <a:rPr b="1" i="0" lang="en-US" sz="3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ПК-керований лазерний гімбал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12800" y="1876321"/>
            <a:ext cx="10883392" cy="309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600"/>
              <a:buFont typeface="Nunito Sans"/>
              <a:buNone/>
            </a:pPr>
            <a:r>
              <a:rPr b="0" i="0" lang="en-US" sz="16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FreeRTOS, PID, OpenCV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12800" y="2338581"/>
            <a:ext cx="6603900" cy="2712300"/>
          </a:xfrm>
          <a:prstGeom prst="roundRect">
            <a:avLst>
              <a:gd fmla="val 561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168400" y="269418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Студент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860750" y="2724643"/>
            <a:ext cx="10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Vitaly Melnik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168400" y="311576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Група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870200" y="3133521"/>
            <a:ext cx="1577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EMB_7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168400" y="35373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Курс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860750" y="3537330"/>
            <a:ext cx="203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Embedded Development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168400" y="395892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Дата захисту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2870200" y="3993207"/>
            <a:ext cx="1508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СЬОГОДНІ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1168400" y="44135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GitHub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2860750" y="4431278"/>
            <a:ext cx="1596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 u="sng">
                <a:solidFill>
                  <a:schemeClr val="hlink"/>
                </a:solidFill>
                <a:latin typeface="Nunito Sans"/>
                <a:ea typeface="Nunito Sans"/>
                <a:cs typeface="Nunito Sans"/>
                <a:sym typeface="Nunito Sans"/>
                <a:hlinkClick r:id="rId3"/>
              </a:rPr>
              <a:t>README.md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/>
          <p:nvPr/>
        </p:nvSpPr>
        <p:spPr>
          <a:xfrm>
            <a:off x="812800" y="812800"/>
            <a:ext cx="1028656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"/>
          <p:cNvSpPr/>
          <p:nvPr/>
        </p:nvSpPr>
        <p:spPr>
          <a:xfrm>
            <a:off x="952500" y="876300"/>
            <a:ext cx="801801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0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Проблема: контекст і масштаб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7" name="Google Shape;47;p3"/>
          <p:cNvGraphicFramePr/>
          <p:nvPr/>
        </p:nvGraphicFramePr>
        <p:xfrm>
          <a:off x="812800" y="1978620"/>
          <a:ext cx="3000000" cy="3000000"/>
        </p:xfrm>
        <a:graphic>
          <a:graphicData uri="http://schemas.openxmlformats.org/drawingml/2006/table">
            <a:tbl>
              <a:tblPr firstRow="0" bandRow="0">
                <a:noFill/>
                <a:tableStyleId>{5940675A-B579-460E-94D1-54222C63F5DA}</a:tableStyleId>
              </a:tblPr>
              <a:tblGrid>
                <a:gridCol w="2324600"/>
                <a:gridCol w="8241800"/>
              </a:tblGrid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Параметр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Значення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Завдання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Навести лазерну точку на ціль, використовуючи камеру як зворотний зв'язок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Затримка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Камера → розпізнавання → канал зв'язку займають 50–250 мс. Це обмежує підсилення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Сервоприводи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Мертва зона, люфт, провисання під вагою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Безпека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Лазер не повинен вмикатися помилково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Обсяг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Навчальний проєкт: один канал UART, розпізнавання виконує ПК, </a:t>
                      </a:r>
                      <a:r>
                        <a:rPr lang="en-US" sz="1100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лог пишеться на SD-картку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README.md#about-the-project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8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Рішення: загальна картина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Picture 56" descr="data-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1984985"/>
            <a:ext cx="10566400" cy="392187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7"/>
              </a:rPr>
              <a:t>docs/architecture.md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Чому швидкість, а не позиція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12800" y="1821061"/>
            <a:ext cx="1300163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1263253" y="1935361"/>
            <a:ext cx="82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69" name="Google Shape;6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1863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2595563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3091061" y="1935361"/>
            <a:ext cx="309166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2" name="Google Shape;7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4724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/>
          <p:nvPr/>
        </p:nvSpPr>
        <p:spPr>
          <a:xfrm>
            <a:off x="4378424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791869" y="1935361"/>
            <a:ext cx="85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швидкість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7586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6161286" y="1829891"/>
            <a:ext cx="1652191" cy="424160"/>
          </a:xfrm>
          <a:prstGeom prst="roundRect">
            <a:avLst>
              <a:gd fmla="val 2095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6325493" y="1944191"/>
            <a:ext cx="1323777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підсумовується кожні 20 мс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8" name="Google Shape;7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2377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/>
          <p:nvPr/>
        </p:nvSpPr>
        <p:spPr>
          <a:xfrm>
            <a:off x="8296077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723213" y="1935361"/>
            <a:ext cx="44588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81" name="Google Shape;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85238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078938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10509647" y="1935361"/>
            <a:ext cx="84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сервопривід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12800" y="2966067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990600" y="3143867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 позиції (пряме керування)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90600" y="3468908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кутом сервопривода напряму.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Кожен шумний кадр — це різкий стрибок позиції.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197600" y="2966067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6375400" y="3143867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Команда швидкості (наш варіант)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6375400" y="3468908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швидкістю; ESP32 інтегрує її в кут щотику.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Шум усереднюється, рух плавний і обмежений за швидкістю.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812800" y="4769153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Наш випадок: камера і ціль обидві рухаються, кадр завжди шумний — саме для цього зроблена швидкісна форма.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12800" y="5085633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Результат: плавний рух сервопривода, менше перерегулювання і ривків.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docs/servo-control-strategies.md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docs/protocol.md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Архітектура: задачі FreeRTOS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12800" y="5647829"/>
            <a:ext cx="4630440" cy="364430"/>
          </a:xfrm>
          <a:prstGeom prst="roundRect">
            <a:avLst>
              <a:gd fmla="val 24394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965200" y="5736729"/>
            <a:ext cx="4455409" cy="212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Nunito Sans"/>
              <a:buNone/>
            </a:pP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Запис на SD-картку може зависнути на 100–250 мс. Це не повинно ніколи дійти до </a:t>
            </a:r>
            <a:r>
              <a:rPr b="1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ctrl</a:t>
            </a: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0" y="1800000"/>
            <a:ext cx="8196805" cy="3650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docs/diagrams/freertos-tasks.md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firmware/aim/src/tasks/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Стани системи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812800" y="535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Лазер дозволений лише в станах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ZONE_TOUR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і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ARMED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812800" y="556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laserPermitted()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вимагає виконання всіх умов: ARMED, свіжий зв'язок, watchdog OK, немає E-stop, запит променя.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12800" y="577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Немає даних 300 мс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LINK_LOST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, мотори зупиняються.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12800" y="598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E-stop: ISR → сповіщення задачі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safety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 Жодної роботи в ISR.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40000"/>
            <a:ext cx="10566400" cy="3062878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docs/diagrams/aim-states.md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firmware/aim/src/StateMachine.hpp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8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ключові рішення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1" name="Table 130"/>
          <p:cNvGraphicFramePr>
            <a:graphicFrameLocks noGrp="1"/>
          </p:cNvGraphicFramePr>
          <p:nvPr/>
        </p:nvGraphicFramePr>
        <p:xfrm>
          <a:off x="812800" y="1691580"/>
          <a:ext cx="10566400" cy="2791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34020"/>
                <a:gridCol w="4650780"/>
                <a:gridCol w="51816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#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Чому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1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введення одночасно: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AUTO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MANUAL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NONE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 прихованого змішування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Два обмеження швидкості: жорстке — у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Gimbal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, обмеження PID — нижче нього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Anti-windup бачить справжню межу (static_assert)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3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Черга логів відкидає найстаріше, ніколи не блокується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Телеметрія може загубитися. Керування — ні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4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NDJSON + CRC-8, ліміт рядка 256 байт,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NaN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відхиляється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NaN у PID зламав би інтегратор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Обхід зони: лазер малює зону за годинниковою стрілкою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Неправильний напрямок = неправильний прапорець осі, видно за 4 с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6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Розбір JSON: власний парсер замість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cJSON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cJSON виконує malloc на кожен розбір; проєкт забороняє купу після ініціалізації (coding.md)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13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docs/coding.md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docs/interfaces.md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код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12800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AIM — ESP32-S3 (гімбал-контролер)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49096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EYE — PC (оператор і зір)</a:t>
            </a:r>
          </a:p>
        </p:txBody>
      </p:sp>
      <p:graphicFrame>
        <p:nvGraphicFramePr>
          <p:cNvPr id="168" name="Table 167"/>
          <p:cNvGraphicFramePr>
            <a:graphicFrameLocks noGrp="1"/>
          </p:cNvGraphicFramePr>
          <p:nvPr/>
        </p:nvGraphicFramePr>
        <p:xfrm>
          <a:off x="812800" y="2098302"/>
          <a:ext cx="5340096" cy="341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4"/>
                        </a:rPr>
                        <a:t>main.cpp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Точка входу: створює задачі, встановлює ISR E-stop, логує причину скидання.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5"/>
                        </a:rPr>
                        <a:t>StateMachine.hpp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Стани: BOOT→SELFTEST→DISARMED→ARMED, ZONE_TOUR, LINK_LOST, FAULT.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6"/>
                        </a:rPr>
                        <a:t>tasks/Ctrl.hpp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ctrl (20 мс): дренує cmd_q, крок ПІД.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керує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7"/>
                        </a:rPr>
                        <a:t>Gimbal.hpp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8"/>
                        </a:rPr>
                        <a:t>tasks/Safety.hpp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safety: laserPermitted() — єдиний шлюз дозволу лазера.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9"/>
                        </a:rPr>
                        <a:t>tasks/LinkUart.hpp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link_uart: UART1 RX/TX, кадрування.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парсинг: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1"/>
                        </a:rPr>
                        <a:t>tasks/Logger.hpp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logger: запис на SD, єдина з правом довго блокуватись.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2"/>
                        </a:rPr>
                        <a:t>utils/Pid.hpp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Швидкісна форма PID: вихід = швидкість, інтегрується в кут щотику.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3"/>
                        </a:rPr>
                        <a:t>AutoChannel.hpp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4"/>
                        </a:rPr>
                        <a:t>ManualChannel.hpp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Авто-наведення за похибкою від EYE та ручне керування з ПК.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9" name="Table 168"/>
          <p:cNvGraphicFramePr>
            <a:graphicFrameLocks noGrp="1"/>
          </p:cNvGraphicFramePr>
          <p:nvPr/>
        </p:nvGraphicFramePr>
        <p:xfrm>
          <a:off x="6349096" y="2098302"/>
          <a:ext cx="5340096" cy="263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5"/>
                        </a:rPr>
                        <a:t>tracker.py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Головний цикл: захоплення кадру.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детекція: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6"/>
                        </a:rPr>
                        <a:t>dots.py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надсилання похибки: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7"/>
                        </a:rPr>
                        <a:t>serial_link.py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8"/>
                        </a:rPr>
                        <a:t>dots.py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Детекція червоної/чорної точки (OpenCV), вектор похибки.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9"/>
                        </a:rPr>
                        <a:t>serial_link.py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Кадр E dx dy valid на UART1. Форсує dtr=False, rts=False.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 AIM читає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0"/>
                        </a:rPr>
                        <a:t>recenter.py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Повертає лазер у центр зони, якщо точку не видно; викликається з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21"/>
                        </a:rPr>
                        <a:t>tracker.py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2"/>
                        </a:rPr>
                        <a:t>controls.py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3"/>
                        </a:rPr>
                        <a:t>app_window.py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Панель оператора: підсилення, канал, телеметрія, кнопка вогню.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4"/>
                        </a:rPr>
                        <a:t>speed.py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Live-підбір фокусу камери та швидкості наведення.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70" name="TextBox 169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25"/>
              </a:rPr>
              <a:t>firmware/aim/src/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26"/>
              </a:rPr>
              <a:t>eye/camera/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0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812800" y="1280120"/>
            <a:ext cx="10883400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Проблеми, з якими зіткнулися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6" name="Table 175"/>
          <p:cNvGraphicFramePr>
            <a:graphicFrameLocks noGrp="1"/>
          </p:cNvGraphicFramePr>
          <p:nvPr/>
        </p:nvGraphicFramePr>
        <p:xfrm>
          <a:off x="812800" y="1650000"/>
          <a:ext cx="10566400" cy="34527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Авто-наведення «злітає» → LINK_LOST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Точка губиться на кілька кадрів · вектор похибки тягне гімбал за межі зони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Похибку обмежено до ±1 (dots.py, Protocol.hpp), менша робоча зона 60°/30°.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Неправильні кути MIN/MAX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Константи підібрані на око · переплутаний напрям обертання серво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Виміряно на стенді, прапорці напряму, static_assert тримає зону в межах ходу серво.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блимає при запуску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Дані не доходять до ESP32 при зміні розміру вікна ПК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ESP32 перезавантажується при від'єднанні UART0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USB-UART міст імпульсує пін EN сигналами DTR/RTS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serial_link.py примусово ставить dtr=False, rts=False.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Повільне наведення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Розпізнавання лазерної точки ненадійне (детектор губить точку на кілька кадрів)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Змінне освітлення збиває пороги OpenCV · точка тимчасово зникає з кадру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Підбір порогів OpenCV (tracker.py); TODO: утримання позиції, фільтр стрибків.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Зв'язок COM/UART не відновлюється після від'єднання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77" name="TextBox 17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docs/protocol.md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firmware/aim/src/tasks/LinkUart.hpp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eye/camera/serial_link.py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eye/camera/tracker.py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Інші проблеми з проєктування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3" name="Table 202"/>
          <p:cNvGraphicFramePr>
            <a:graphicFrameLocks noGrp="1"/>
          </p:cNvGraphicFramePr>
          <p:nvPr/>
        </p:nvGraphicFramePr>
        <p:xfrm>
          <a:off x="812800" y="1727081"/>
          <a:ext cx="10566400" cy="4268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Що ми зробили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Логи й дані ділили UART0; рядок з «F» міг випадково спричинити постріл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Спільний UART0 для логів і команд керування, без ізоляції небезпечної команди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Дані перенесено на UART1; UART0 - лише консоль, команда пострілу захищена.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Реле лазера вмикалося при подачі живлення (пін у стані float)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GPIO реле floats до Relay::init() · вихід вмикається раніше рівня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Рівень встановлено на виводі, додано pull-up.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Запис на SD-картку може зависнути на 100-250 мс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Внутрішнє wear-levelling картки під час запису блоку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Окрема задача logger з низьким пріоритетом; черга відкидає найстаріший запис.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Затримка камери обмежує підсилення PID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Затримка камери й обробки кадру вносить мертвий час, що обмежує підсилення PID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Мертва зона й люфт сервоприводів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Механічний люфт і нечутливість хобі-сервоприводів біля нейтралі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Компенсує зворотний зв'язок з камери.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Зависання каналу зв'язку через однопотоковий UI-застосунок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UI і серійний обмін в одному потоці; ресайз вікна блокував порт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Обмін даними з ESP перенесено у фоновий потік.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Нелінійна залежність між позиціями на стіні та кутами серво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Проєкція стіни на кут гімбала нелінійна (перспектива, геометрія кардана)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виходить за межі зони видимості камери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Різкий рух цілі або похибка керування виносить точку за межі поля зору камери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recenter.py: гімбал рухається P-кроками до центру, якщо точку не видно &gt;1500 мс.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Автофокус камери знижує стабільність детекції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міняє різкість/розмір точки — пороги OpenCV втрачають сигнал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вимкнено, фіксована позиція лінзи (--focus=130); live-підбір у speed.py.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4" name="TextBox 20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firmware/aim/src/tasks/Logger.hpp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eye/camera/app_window.py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eye/camera/recenter.py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Відкриті питання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3" name="Table 212"/>
          <p:cNvGraphicFramePr>
            <a:graphicFrameLocks noGrp="1"/>
          </p:cNvGraphicFramePr>
          <p:nvPr/>
        </p:nvGraphicFramePr>
        <p:xfrm>
          <a:off x="812800" y="1742380"/>
          <a:ext cx="10566400" cy="2392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30700"/>
                <a:gridCol w="62357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Питання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Стан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Дефект реле при увімкненні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Прошивку виправлено. Апаратно: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годинника реального часу; t_wall_iso порожнє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Час вирівнюється офлайн за записом BOOT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глибокого сну; режим очікування — PARKED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ESP32-S3 не може утримувати сервоприводи через PWM у режимі сну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зв'язку (UART)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Бездротовий зв'язок — наступний етап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Детектор: лише поріг + форма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що не працює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TextBox 21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firmware/aim/src/StateMachine.hpp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eye/camera/tracker.py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812800" y="1793180"/>
            <a:ext cx="3420566" cy="1016000"/>
          </a:xfrm>
          <a:prstGeom prst="roundRect">
            <a:avLst>
              <a:gd fmla="val 10000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990600" y="19709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3"/>
          <p:cNvSpPr/>
          <p:nvPr/>
        </p:nvSpPr>
        <p:spPr>
          <a:xfrm>
            <a:off x="1104900" y="20217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990600" y="23316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 відстеження (px), усталена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812800" y="2961580"/>
            <a:ext cx="3420467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990600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3"/>
          <p:cNvSpPr/>
          <p:nvPr/>
        </p:nvSpPr>
        <p:spPr>
          <a:xfrm>
            <a:off x="1104900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990600" y="3500041"/>
            <a:ext cx="3156813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Час встановлення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4385667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4563467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3"/>
          <p:cNvSpPr/>
          <p:nvPr/>
        </p:nvSpPr>
        <p:spPr>
          <a:xfrm>
            <a:off x="4677767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4563467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Макс. затримка запису на SD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7958634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3"/>
          <p:cNvSpPr/>
          <p:nvPr/>
        </p:nvSpPr>
        <p:spPr>
          <a:xfrm>
            <a:off x="8136434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3"/>
          <p:cNvSpPr/>
          <p:nvPr/>
        </p:nvSpPr>
        <p:spPr>
          <a:xfrm>
            <a:off x="8250734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8136434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Тривалий прогін без збоїв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8128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952500" y="4578846"/>
            <a:ext cx="113307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Відео + QR-код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2123678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2225278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61722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6311900" y="4578846"/>
            <a:ext cx="2843074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Графік — похибка від часу, до/після налаштування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9161066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9262666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docs/assestment/verification/README.md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eye/camera/error_graph.py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"/>
          <p:cNvSpPr/>
          <p:nvPr/>
        </p:nvSpPr>
        <p:spPr>
          <a:xfrm>
            <a:off x="812800" y="812800"/>
            <a:ext cx="105435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952500" y="876300"/>
            <a:ext cx="83394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8128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4"/>
          <p:cNvSpPr/>
          <p:nvPr/>
        </p:nvSpPr>
        <p:spPr>
          <a:xfrm>
            <a:off x="10414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4"/>
          <p:cNvSpPr/>
          <p:nvPr/>
        </p:nvSpPr>
        <p:spPr>
          <a:xfrm>
            <a:off x="11874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10414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Наступне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62960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4"/>
          <p:cNvSpPr/>
          <p:nvPr/>
        </p:nvSpPr>
        <p:spPr>
          <a:xfrm>
            <a:off x="65246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4"/>
          <p:cNvSpPr/>
          <p:nvPr/>
        </p:nvSpPr>
        <p:spPr>
          <a:xfrm>
            <a:off x="66706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65246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Пізніше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65246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YOLO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-детекція просто на камері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NRF24L01+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 як альтернативний канал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Feed-forward за швидкістю цілі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OLED-меню на пульті PILOT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10414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PILOT (ESP32-C3): джойстик, дистанційний E-stop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MQTT конфіг-план і WiFi-телеметрія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VAULT (STM32): окремий вузол зберігання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Лазер на MOSFET з ШІМ-яскравістю</a:t>
            </a:r>
            <a:endParaRPr/>
          </a:p>
        </p:txBody>
      </p:sp>
      <p:sp>
        <p:nvSpPr>
          <p:cNvPr id="291" name="TextBox 290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</cp:coreProperties>
</file>